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line, then the one-sentence promise. Unscroll is an iPhone app a student team built at the Whitman Hackathon. Pause on the phone screen: this is the real app, running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scene before the problem. Interviews for internships and first jobs reward people who have practiced out loud. That practice is solo work that is easy to skip. And the spare minutes where it could happen usually go to the phone. This is our own experience as students, not survey data.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problem, stated once and clearly. Practice has no reward today; its payoff is months away. The feed rewards you now. So the scroll wins. Read the problem statement aloud,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Unscroll is, in one sentence: it makes practice earn the break. A short practice session feels more rewarding when it unlocks something the student already wants. Say plainly that this is a design hypothesis we want to test with students, not a measured result.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we built it. Three parts with clear boundaries. The phone app is Expo and React Native in TypeScript. It talks to a small Node server with SQLite that holds accounts, progress and the grading rules. The server calls free AI and voice services, and keys never leave it. 163 automated tests run on every push, and the launch film was itself drawn in code.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here runs on free tiers. NVIDIA grades and drives Jarvis in about two seconds. Groq turns speech into text and gives Jarvis his voice. With no key at all the app still works on rubric feedback and the phone voice.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it works for the student, in three steps. One: pick the apps that distract you. Two: a short daily interview with Jarvis, technical and behavioral, typed or spoken. Three: passing opens a 15, 30 or 60 minute break. A failed answer cannot be skipped: you read the feedback, then get a different question.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standout feature. Jarvis is a conversation, not a form. He reads the question aloud. Asking him to clarify is free. A hint costs ten evaluation points, at most three per question, and pass or fail still uses the raw grade. Behavioral answers get STAR feedback: situation, task, action, result.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evaluation tells a student where they stand in three skills: communication, talking through technical problems, and coding. Standings come only from graded answers, and a skill with no answers shows as not measured yet. The road map is five levels, Beginner to Master, and you drag it sideways.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the film here: click the picture and it plays inside the slide, with sound. It is forty seconds, drawn, scored and narrated entirely in code. The same film is on YouTube at the link shown. The three lines beside it are what the film says: why, what and how.</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straight about the line between proven and not yet proven. Proven today: it runs on an iPhone through Expo Go, 163 automated tests pass with CI green, and live AI grading and voice work on free tiers. Still to prove: real app shielding needs the signed native iPhone build, which is untested on a device; code answers are reviewed, not executed; and the free tiers are rate limited.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demo in this order on the iPhone, about three minutes. Describe the earned break as practice mode in Expo Go; do not present app shielding as working. Close on the line, then leave the links on screen for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hyperlink" Target="https://youtu.be/fKccxDHB6GI" TargetMode="External"/><Relationship Id="rId4"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3.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4.jpg"/><Relationship Id="rId6" Type="http://schemas.openxmlformats.org/officeDocument/2006/relationships/hyperlink" Target="https://youtu.be/fKccxDHB6GI"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hyperlink" Target="https://youtu.be/fKccxDHB6GI" TargetMode="External"/><Relationship Id="rId4" Type="http://schemas.openxmlformats.org/officeDocument/2006/relationships/hyperlink" Target="https://github.com/Charlesganu2004/Whitman-Hackathon"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014"/>
        </a:solidFill>
        <a:effectLst/>
      </p:bgPr>
    </p:bg>
    <p:spTree>
      <p:nvGrpSpPr>
        <p:cNvPr id="1" name=""/>
        <p:cNvGrpSpPr/>
        <p:nvPr/>
      </p:nvGrpSpPr>
      <p:grpSpPr/>
      <p:sp>
        <p:nvSpPr>
          <p:cNvPr id="2" name="Oval 1"/>
          <p:cNvSpPr/>
          <p:nvPr/>
        </p:nvSpPr>
        <p:spPr>
          <a:xfrm>
            <a:off x="6035040" y="-640079"/>
            <a:ext cx="7863840" cy="7863840"/>
          </a:xfrm>
          <a:prstGeom prst="ellipse">
            <a:avLst/>
          </a:prstGeom>
          <a:noFill/>
          <a:ln w="12700">
            <a:solidFill>
              <a:srgbClr val="3D30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040880" y="365759"/>
            <a:ext cx="5852160" cy="5852160"/>
          </a:xfrm>
          <a:prstGeom prst="ellipse">
            <a:avLst/>
          </a:prstGeom>
          <a:noFill/>
          <a:ln w="12700">
            <a:solidFill>
              <a:srgbClr val="3D30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280160" y="4389120"/>
            <a:ext cx="4754880" cy="4754880"/>
          </a:xfrm>
          <a:prstGeom prst="ellipse">
            <a:avLst/>
          </a:prstGeom>
          <a:noFill/>
          <a:ln w="12700">
            <a:solidFill>
              <a:srgbClr val="3D30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143000"/>
            <a:ext cx="6400800" cy="274320"/>
          </a:xfrm>
          <a:prstGeom prst="rect">
            <a:avLst/>
          </a:prstGeom>
          <a:noFill/>
        </p:spPr>
        <p:txBody>
          <a:bodyPr wrap="square" lIns="0" rIns="0" tIns="0" bIns="0" anchor="t">
            <a:spAutoFit/>
          </a:bodyPr>
          <a:lstStyle/>
          <a:p>
            <a:pPr algn="l"/>
            <a:r>
              <a:rPr sz="1200" b="1">
                <a:solidFill>
                  <a:srgbClr val="B9A7B3"/>
                </a:solidFill>
                <a:latin typeface="Arial"/>
              </a:rPr>
              <a:t>WHITMAN HACKATHON   ·   PRODUCT PITCH</a:t>
            </a:r>
          </a:p>
        </p:txBody>
      </p:sp>
      <p:sp>
        <p:nvSpPr>
          <p:cNvPr id="6" name="TextBox 5"/>
          <p:cNvSpPr txBox="1"/>
          <p:nvPr/>
        </p:nvSpPr>
        <p:spPr>
          <a:xfrm>
            <a:off x="822960" y="1691640"/>
            <a:ext cx="6949440" cy="1371600"/>
          </a:xfrm>
          <a:prstGeom prst="rect">
            <a:avLst/>
          </a:prstGeom>
          <a:noFill/>
        </p:spPr>
        <p:txBody>
          <a:bodyPr wrap="square" lIns="0" rIns="0" tIns="0" bIns="0" anchor="t">
            <a:spAutoFit/>
          </a:bodyPr>
          <a:lstStyle/>
          <a:p>
            <a:pPr algn="l"/>
            <a:r>
              <a:rPr sz="8800" b="1">
                <a:solidFill>
                  <a:srgbClr val="FAEFF5"/>
                </a:solidFill>
                <a:latin typeface="Arial"/>
              </a:rPr>
              <a:t>unscroll</a:t>
            </a:r>
            <a:r>
              <a:rPr sz="8800" b="1">
                <a:solidFill>
                  <a:srgbClr val="F28DBB"/>
                </a:solidFill>
                <a:latin typeface="Arial"/>
              </a:rPr>
              <a:t>.</a:t>
            </a:r>
          </a:p>
        </p:txBody>
      </p:sp>
      <p:sp>
        <p:nvSpPr>
          <p:cNvPr id="7" name="TextBox 6"/>
          <p:cNvSpPr txBox="1"/>
          <p:nvPr/>
        </p:nvSpPr>
        <p:spPr>
          <a:xfrm>
            <a:off x="822960" y="3246120"/>
            <a:ext cx="6949440" cy="640080"/>
          </a:xfrm>
          <a:prstGeom prst="rect">
            <a:avLst/>
          </a:prstGeom>
          <a:noFill/>
        </p:spPr>
        <p:txBody>
          <a:bodyPr wrap="square" lIns="0" rIns="0" tIns="0" bIns="0" anchor="t">
            <a:spAutoFit/>
          </a:bodyPr>
          <a:lstStyle/>
          <a:p>
            <a:pPr algn="l"/>
            <a:r>
              <a:rPr sz="3000" b="1">
                <a:solidFill>
                  <a:srgbClr val="FAEFF5"/>
                </a:solidFill>
                <a:latin typeface="Arial"/>
              </a:rPr>
              <a:t>Less scrolling. More becoming.</a:t>
            </a:r>
          </a:p>
        </p:txBody>
      </p:sp>
      <p:sp>
        <p:nvSpPr>
          <p:cNvPr id="8" name="TextBox 7"/>
          <p:cNvSpPr txBox="1"/>
          <p:nvPr/>
        </p:nvSpPr>
        <p:spPr>
          <a:xfrm>
            <a:off x="822960" y="4069080"/>
            <a:ext cx="6035040" cy="1097280"/>
          </a:xfrm>
          <a:prstGeom prst="rect">
            <a:avLst/>
          </a:prstGeom>
          <a:noFill/>
        </p:spPr>
        <p:txBody>
          <a:bodyPr wrap="square" lIns="0" rIns="0" tIns="0" bIns="0" anchor="t">
            <a:spAutoFit/>
          </a:bodyPr>
          <a:lstStyle/>
          <a:p>
            <a:pPr algn="l">
              <a:lnSpc>
                <a:spcPct val="115000"/>
              </a:lnSpc>
            </a:pPr>
            <a:r>
              <a:rPr sz="2000" b="0">
                <a:solidFill>
                  <a:srgbClr val="B9A7B3"/>
                </a:solidFill>
                <a:latin typeface="Arial"/>
              </a:rPr>
              <a:t>Pass a short interview with Jarvis, your AI interviewer. Earn your break.</a:t>
            </a:r>
          </a:p>
        </p:txBody>
      </p:sp>
      <p:sp>
        <p:nvSpPr>
          <p:cNvPr id="9" name="Rounded Rectangle 8">
            <a:hlinkClick r:id="rId3"/>
          </p:cNvPr>
          <p:cNvSpPr/>
          <p:nvPr/>
        </p:nvSpPr>
        <p:spPr>
          <a:xfrm>
            <a:off x="822960" y="5440680"/>
            <a:ext cx="2834640" cy="548640"/>
          </a:xfrm>
          <a:prstGeom prst="roundRect">
            <a:avLst>
              <a:gd name="adj" fmla="val 50000"/>
            </a:avLst>
          </a:prstGeom>
          <a:solidFill>
            <a:srgbClr val="F28D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a:hlinkClick r:id="rId3"/>
          </p:cNvPr>
          <p:cNvSpPr txBox="1"/>
          <p:nvPr/>
        </p:nvSpPr>
        <p:spPr>
          <a:xfrm>
            <a:off x="822960" y="5440680"/>
            <a:ext cx="2834640" cy="548640"/>
          </a:xfrm>
          <a:prstGeom prst="rect">
            <a:avLst/>
          </a:prstGeom>
          <a:noFill/>
        </p:spPr>
        <p:txBody>
          <a:bodyPr wrap="square" lIns="0" rIns="0" tIns="0" bIns="0" anchor="ctr">
            <a:spAutoFit/>
          </a:bodyPr>
          <a:lstStyle/>
          <a:p>
            <a:pPr algn="ctr"/>
            <a:r>
              <a:rPr sz="1400" b="1">
                <a:solidFill>
                  <a:srgbClr val="27121E"/>
                </a:solidFill>
                <a:latin typeface="Arial"/>
              </a:rPr>
              <a:t>Watch the 40 second film</a:t>
            </a:r>
          </a:p>
        </p:txBody>
      </p:sp>
      <p:sp>
        <p:nvSpPr>
          <p:cNvPr id="11" name="Rounded Rectangle 10"/>
          <p:cNvSpPr/>
          <p:nvPr/>
        </p:nvSpPr>
        <p:spPr>
          <a:xfrm>
            <a:off x="8531352" y="457200"/>
            <a:ext cx="2862865" cy="5943600"/>
          </a:xfrm>
          <a:prstGeom prst="roundRect">
            <a:avLst>
              <a:gd name="adj" fmla="val 9000"/>
            </a:avLst>
          </a:prstGeom>
          <a:solidFill>
            <a:srgbClr val="2B272C"/>
          </a:solidFill>
          <a:ln w="12700">
            <a:solidFill>
              <a:srgbClr val="4A44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reen-today.jpg"/>
          <p:cNvPicPr>
            <a:picLocks noChangeAspect="1"/>
          </p:cNvPicPr>
          <p:nvPr/>
        </p:nvPicPr>
        <p:blipFill>
          <a:blip r:embed="rId4"/>
          <a:stretch>
            <a:fillRect/>
          </a:stretch>
        </p:blipFill>
        <p:spPr>
          <a:xfrm>
            <a:off x="8641080" y="566928"/>
            <a:ext cx="2643539" cy="5724144"/>
          </a:xfrm>
          <a:prstGeom prst="rect">
            <a:avLst/>
          </a:prstGeom>
          <a:ln w="12700">
            <a:solidFill>
              <a:srgbClr val="111014"/>
            </a:solidFill>
          </a:ln>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11014"/>
        </a:solidFill>
        <a:effectLst/>
      </p:bgPr>
    </p:bg>
    <p:spTree>
      <p:nvGrpSpPr>
        <p:cNvPr id="1" name=""/>
        <p:cNvGrpSpPr/>
        <p:nvPr/>
      </p:nvGrpSpPr>
      <p:grpSpPr/>
      <p:sp>
        <p:nvSpPr>
          <p:cNvPr id="2" name="Oval 1"/>
          <p:cNvSpPr/>
          <p:nvPr/>
        </p:nvSpPr>
        <p:spPr>
          <a:xfrm>
            <a:off x="9052559" y="-2286000"/>
            <a:ext cx="5120640" cy="5120640"/>
          </a:xfrm>
          <a:prstGeom prst="ellipse">
            <a:avLst/>
          </a:prstGeom>
          <a:noFill/>
          <a:ln w="12700">
            <a:solidFill>
              <a:srgbClr val="3D30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48640"/>
            <a:ext cx="10881360" cy="274320"/>
          </a:xfrm>
          <a:prstGeom prst="rect">
            <a:avLst/>
          </a:prstGeom>
          <a:noFill/>
        </p:spPr>
        <p:txBody>
          <a:bodyPr wrap="square" lIns="0" rIns="0" tIns="0" bIns="0" anchor="t">
            <a:spAutoFit/>
          </a:bodyPr>
          <a:lstStyle/>
          <a:p>
            <a:pPr algn="l"/>
            <a:r>
              <a:rPr sz="1200" b="1">
                <a:solidFill>
                  <a:srgbClr val="F28DBB"/>
                </a:solidFill>
                <a:latin typeface="Arial"/>
              </a:rPr>
              <a:t>BACKGROUND</a:t>
            </a:r>
          </a:p>
        </p:txBody>
      </p:sp>
      <p:sp>
        <p:nvSpPr>
          <p:cNvPr id="4" name="TextBox 3"/>
          <p:cNvSpPr txBox="1"/>
          <p:nvPr/>
        </p:nvSpPr>
        <p:spPr>
          <a:xfrm>
            <a:off x="640080" y="868680"/>
            <a:ext cx="10881360" cy="1097280"/>
          </a:xfrm>
          <a:prstGeom prst="rect">
            <a:avLst/>
          </a:prstGeom>
          <a:noFill/>
        </p:spPr>
        <p:txBody>
          <a:bodyPr wrap="square" lIns="0" rIns="0" tIns="0" bIns="0" anchor="t">
            <a:spAutoFit/>
          </a:bodyPr>
          <a:lstStyle/>
          <a:p>
            <a:pPr algn="l">
              <a:lnSpc>
                <a:spcPct val="95000"/>
              </a:lnSpc>
            </a:pPr>
            <a:r>
              <a:rPr sz="3600" b="1">
                <a:solidFill>
                  <a:srgbClr val="FAEFF5"/>
                </a:solidFill>
                <a:latin typeface="Arial"/>
              </a:rPr>
              <a:t>Where a student's spare minutes go</a:t>
            </a:r>
          </a:p>
        </p:txBody>
      </p:sp>
      <p:sp>
        <p:nvSpPr>
          <p:cNvPr id="5" name="TextBox 4"/>
          <p:cNvSpPr txBox="1"/>
          <p:nvPr/>
        </p:nvSpPr>
        <p:spPr>
          <a:xfrm>
            <a:off x="10911535" y="6309360"/>
            <a:ext cx="640080" cy="274320"/>
          </a:xfrm>
          <a:prstGeom prst="rect">
            <a:avLst/>
          </a:prstGeom>
          <a:noFill/>
        </p:spPr>
        <p:txBody>
          <a:bodyPr wrap="square" lIns="0" rIns="0" tIns="0" bIns="0" anchor="t">
            <a:spAutoFit/>
          </a:bodyPr>
          <a:lstStyle/>
          <a:p>
            <a:pPr algn="r"/>
            <a:r>
              <a:rPr sz="1100" b="0">
                <a:solidFill>
                  <a:srgbClr val="B9A7B3"/>
                </a:solidFill>
                <a:latin typeface="Arial"/>
              </a:rPr>
              <a:t>02</a:t>
            </a:r>
          </a:p>
        </p:txBody>
      </p:sp>
      <p:sp>
        <p:nvSpPr>
          <p:cNvPr id="6" name="TextBox 5"/>
          <p:cNvSpPr txBox="1"/>
          <p:nvPr/>
        </p:nvSpPr>
        <p:spPr>
          <a:xfrm>
            <a:off x="640080" y="6309360"/>
            <a:ext cx="2743200" cy="274320"/>
          </a:xfrm>
          <a:prstGeom prst="rect">
            <a:avLst/>
          </a:prstGeom>
          <a:noFill/>
        </p:spPr>
        <p:txBody>
          <a:bodyPr wrap="square" lIns="0" rIns="0" tIns="0" bIns="0" anchor="t">
            <a:spAutoFit/>
          </a:bodyPr>
          <a:lstStyle/>
          <a:p>
            <a:pPr algn="l"/>
            <a:r>
              <a:rPr sz="1100" b="1">
                <a:solidFill>
                  <a:srgbClr val="B9A7B3"/>
                </a:solidFill>
                <a:latin typeface="Arial"/>
              </a:rPr>
              <a:t>unscroll</a:t>
            </a:r>
            <a:r>
              <a:rPr sz="1100" b="1">
                <a:solidFill>
                  <a:srgbClr val="F28DBB"/>
                </a:solidFill>
                <a:latin typeface="Arial"/>
              </a:rPr>
              <a:t>.</a:t>
            </a:r>
          </a:p>
        </p:txBody>
      </p:sp>
      <p:sp>
        <p:nvSpPr>
          <p:cNvPr id="7" name="TextBox 6"/>
          <p:cNvSpPr txBox="1"/>
          <p:nvPr/>
        </p:nvSpPr>
        <p:spPr>
          <a:xfrm>
            <a:off x="640080" y="2148840"/>
            <a:ext cx="5120640" cy="2651760"/>
          </a:xfrm>
          <a:prstGeom prst="rect">
            <a:avLst/>
          </a:prstGeom>
          <a:noFill/>
        </p:spPr>
        <p:txBody>
          <a:bodyPr wrap="square" lIns="0" rIns="0" tIns="0" bIns="0" anchor="t">
            <a:spAutoFit/>
          </a:bodyPr>
          <a:lstStyle/>
          <a:p>
            <a:pPr algn="l">
              <a:lnSpc>
                <a:spcPct val="120000"/>
              </a:lnSpc>
            </a:pPr>
            <a:r>
              <a:rPr sz="2200" b="0">
                <a:solidFill>
                  <a:srgbClr val="FAEFF5"/>
                </a:solidFill>
                <a:latin typeface="Arial"/>
              </a:rPr>
              <a:t>Internship and job interviews reward people who have practiced out loud: explaining their thinking and telling a clear story.</a:t>
            </a:r>
          </a:p>
        </p:txBody>
      </p:sp>
      <p:sp>
        <p:nvSpPr>
          <p:cNvPr id="8" name="TextBox 7"/>
          <p:cNvSpPr txBox="1"/>
          <p:nvPr/>
        </p:nvSpPr>
        <p:spPr>
          <a:xfrm>
            <a:off x="640080" y="5120640"/>
            <a:ext cx="5120640" cy="640080"/>
          </a:xfrm>
          <a:prstGeom prst="rect">
            <a:avLst/>
          </a:prstGeom>
          <a:noFill/>
        </p:spPr>
        <p:txBody>
          <a:bodyPr wrap="square" lIns="0" rIns="0" tIns="0" bIns="0" anchor="t">
            <a:spAutoFit/>
          </a:bodyPr>
          <a:lstStyle/>
          <a:p>
            <a:pPr algn="l"/>
            <a:r>
              <a:rPr sz="1400" b="0">
                <a:solidFill>
                  <a:srgbClr val="B9A7B3"/>
                </a:solidFill>
                <a:latin typeface="Arial"/>
              </a:rPr>
              <a:t>Our experience as students, not survey data.</a:t>
            </a:r>
          </a:p>
        </p:txBody>
      </p:sp>
      <p:sp>
        <p:nvSpPr>
          <p:cNvPr id="9" name="Rounded Rectangle 8"/>
          <p:cNvSpPr/>
          <p:nvPr/>
        </p:nvSpPr>
        <p:spPr>
          <a:xfrm>
            <a:off x="6309360" y="2103120"/>
            <a:ext cx="5239512" cy="1097280"/>
          </a:xfrm>
          <a:prstGeom prst="roundRect">
            <a:avLst>
              <a:gd name="adj" fmla="val 6000"/>
            </a:avLst>
          </a:prstGeom>
          <a:solidFill>
            <a:srgbClr val="1D1A20"/>
          </a:solidFill>
          <a:ln w="12700">
            <a:solidFill>
              <a:srgbClr val="3D30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0" y="2377439"/>
            <a:ext cx="548640" cy="548640"/>
          </a:xfrm>
          <a:prstGeom prst="ellipse">
            <a:avLst/>
          </a:prstGeom>
          <a:solidFill>
            <a:srgbClr val="F28DB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7121E"/>
                </a:solidFill>
                <a:latin typeface="Arial"/>
              </a:rPr>
              <a:t>1</a:t>
            </a:r>
          </a:p>
        </p:txBody>
      </p:sp>
      <p:sp>
        <p:nvSpPr>
          <p:cNvPr id="11" name="TextBox 10"/>
          <p:cNvSpPr txBox="1"/>
          <p:nvPr/>
        </p:nvSpPr>
        <p:spPr>
          <a:xfrm>
            <a:off x="7360920" y="2286000"/>
            <a:ext cx="4023360" cy="365760"/>
          </a:xfrm>
          <a:prstGeom prst="rect">
            <a:avLst/>
          </a:prstGeom>
          <a:noFill/>
        </p:spPr>
        <p:txBody>
          <a:bodyPr wrap="square" lIns="0" rIns="0" tIns="0" bIns="0" anchor="t">
            <a:spAutoFit/>
          </a:bodyPr>
          <a:lstStyle/>
          <a:p>
            <a:pPr algn="l"/>
            <a:r>
              <a:rPr sz="1800" b="1">
                <a:solidFill>
                  <a:srgbClr val="FAEFF5"/>
                </a:solidFill>
                <a:latin typeface="Arial"/>
              </a:rPr>
              <a:t>Interviews reward practice</a:t>
            </a:r>
          </a:p>
        </p:txBody>
      </p:sp>
      <p:sp>
        <p:nvSpPr>
          <p:cNvPr id="12" name="TextBox 11"/>
          <p:cNvSpPr txBox="1"/>
          <p:nvPr/>
        </p:nvSpPr>
        <p:spPr>
          <a:xfrm>
            <a:off x="7360920" y="2651760"/>
            <a:ext cx="4023360" cy="502920"/>
          </a:xfrm>
          <a:prstGeom prst="rect">
            <a:avLst/>
          </a:prstGeom>
          <a:noFill/>
        </p:spPr>
        <p:txBody>
          <a:bodyPr wrap="square" lIns="0" rIns="0" tIns="0" bIns="0" anchor="t">
            <a:spAutoFit/>
          </a:bodyPr>
          <a:lstStyle/>
          <a:p>
            <a:pPr algn="l">
              <a:lnSpc>
                <a:spcPct val="110000"/>
              </a:lnSpc>
            </a:pPr>
            <a:r>
              <a:rPr sz="1300" b="0">
                <a:solidFill>
                  <a:srgbClr val="B9A7B3"/>
                </a:solidFill>
                <a:latin typeface="Arial"/>
              </a:rPr>
              <a:t>Explaining your thinking and telling your story are skills you build by doing.</a:t>
            </a:r>
          </a:p>
        </p:txBody>
      </p:sp>
      <p:sp>
        <p:nvSpPr>
          <p:cNvPr id="13" name="Rounded Rectangle 12"/>
          <p:cNvSpPr/>
          <p:nvPr/>
        </p:nvSpPr>
        <p:spPr>
          <a:xfrm>
            <a:off x="6309360" y="3346704"/>
            <a:ext cx="5239512" cy="1097280"/>
          </a:xfrm>
          <a:prstGeom prst="roundRect">
            <a:avLst>
              <a:gd name="adj" fmla="val 6000"/>
            </a:avLst>
          </a:prstGeom>
          <a:solidFill>
            <a:srgbClr val="1D1A20"/>
          </a:solidFill>
          <a:ln w="12700">
            <a:solidFill>
              <a:srgbClr val="3D30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583680" y="3621024"/>
            <a:ext cx="548640" cy="548640"/>
          </a:xfrm>
          <a:prstGeom prst="ellipse">
            <a:avLst/>
          </a:prstGeom>
          <a:solidFill>
            <a:srgbClr val="F28DB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7121E"/>
                </a:solidFill>
                <a:latin typeface="Arial"/>
              </a:rPr>
              <a:t>2</a:t>
            </a:r>
          </a:p>
        </p:txBody>
      </p:sp>
      <p:sp>
        <p:nvSpPr>
          <p:cNvPr id="15" name="TextBox 14"/>
          <p:cNvSpPr txBox="1"/>
          <p:nvPr/>
        </p:nvSpPr>
        <p:spPr>
          <a:xfrm>
            <a:off x="7360920" y="3529584"/>
            <a:ext cx="4023360" cy="365760"/>
          </a:xfrm>
          <a:prstGeom prst="rect">
            <a:avLst/>
          </a:prstGeom>
          <a:noFill/>
        </p:spPr>
        <p:txBody>
          <a:bodyPr wrap="square" lIns="0" rIns="0" tIns="0" bIns="0" anchor="t">
            <a:spAutoFit/>
          </a:bodyPr>
          <a:lstStyle/>
          <a:p>
            <a:pPr algn="l"/>
            <a:r>
              <a:rPr sz="1800" b="1">
                <a:solidFill>
                  <a:srgbClr val="FAEFF5"/>
                </a:solidFill>
                <a:latin typeface="Arial"/>
              </a:rPr>
              <a:t>Practice is easy to skip</a:t>
            </a:r>
          </a:p>
        </p:txBody>
      </p:sp>
      <p:sp>
        <p:nvSpPr>
          <p:cNvPr id="16" name="TextBox 15"/>
          <p:cNvSpPr txBox="1"/>
          <p:nvPr/>
        </p:nvSpPr>
        <p:spPr>
          <a:xfrm>
            <a:off x="7360920" y="3895344"/>
            <a:ext cx="4023360" cy="502920"/>
          </a:xfrm>
          <a:prstGeom prst="rect">
            <a:avLst/>
          </a:prstGeom>
          <a:noFill/>
        </p:spPr>
        <p:txBody>
          <a:bodyPr wrap="square" lIns="0" rIns="0" tIns="0" bIns="0" anchor="t">
            <a:spAutoFit/>
          </a:bodyPr>
          <a:lstStyle/>
          <a:p>
            <a:pPr algn="l">
              <a:lnSpc>
                <a:spcPct val="110000"/>
              </a:lnSpc>
            </a:pPr>
            <a:r>
              <a:rPr sz="1300" b="0">
                <a:solidFill>
                  <a:srgbClr val="B9A7B3"/>
                </a:solidFill>
                <a:latin typeface="Arial"/>
              </a:rPr>
              <a:t>It is solo work, with no one checking and little feedback.</a:t>
            </a:r>
          </a:p>
        </p:txBody>
      </p:sp>
      <p:sp>
        <p:nvSpPr>
          <p:cNvPr id="17" name="Rounded Rectangle 16"/>
          <p:cNvSpPr/>
          <p:nvPr/>
        </p:nvSpPr>
        <p:spPr>
          <a:xfrm>
            <a:off x="6309360" y="4590288"/>
            <a:ext cx="5239512" cy="1097280"/>
          </a:xfrm>
          <a:prstGeom prst="roundRect">
            <a:avLst>
              <a:gd name="adj" fmla="val 6000"/>
            </a:avLst>
          </a:prstGeom>
          <a:solidFill>
            <a:srgbClr val="1D1A20"/>
          </a:solidFill>
          <a:ln w="12700">
            <a:solidFill>
              <a:srgbClr val="3D30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583680" y="4864607"/>
            <a:ext cx="548640" cy="548640"/>
          </a:xfrm>
          <a:prstGeom prst="ellipse">
            <a:avLst/>
          </a:prstGeom>
          <a:solidFill>
            <a:srgbClr val="F28DB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7121E"/>
                </a:solidFill>
                <a:latin typeface="Arial"/>
              </a:rPr>
              <a:t>3</a:t>
            </a:r>
          </a:p>
        </p:txBody>
      </p:sp>
      <p:sp>
        <p:nvSpPr>
          <p:cNvPr id="19" name="TextBox 18"/>
          <p:cNvSpPr txBox="1"/>
          <p:nvPr/>
        </p:nvSpPr>
        <p:spPr>
          <a:xfrm>
            <a:off x="7360920" y="4773168"/>
            <a:ext cx="4023360" cy="365760"/>
          </a:xfrm>
          <a:prstGeom prst="rect">
            <a:avLst/>
          </a:prstGeom>
          <a:noFill/>
        </p:spPr>
        <p:txBody>
          <a:bodyPr wrap="square" lIns="0" rIns="0" tIns="0" bIns="0" anchor="t">
            <a:spAutoFit/>
          </a:bodyPr>
          <a:lstStyle/>
          <a:p>
            <a:pPr algn="l"/>
            <a:r>
              <a:rPr sz="1800" b="1">
                <a:solidFill>
                  <a:srgbClr val="FAEFF5"/>
                </a:solidFill>
                <a:latin typeface="Arial"/>
              </a:rPr>
              <a:t>The phone fills the gaps</a:t>
            </a:r>
          </a:p>
        </p:txBody>
      </p:sp>
      <p:sp>
        <p:nvSpPr>
          <p:cNvPr id="20" name="TextBox 19"/>
          <p:cNvSpPr txBox="1"/>
          <p:nvPr/>
        </p:nvSpPr>
        <p:spPr>
          <a:xfrm>
            <a:off x="7360920" y="5138927"/>
            <a:ext cx="4023360" cy="502920"/>
          </a:xfrm>
          <a:prstGeom prst="rect">
            <a:avLst/>
          </a:prstGeom>
          <a:noFill/>
        </p:spPr>
        <p:txBody>
          <a:bodyPr wrap="square" lIns="0" rIns="0" tIns="0" bIns="0" anchor="t">
            <a:spAutoFit/>
          </a:bodyPr>
          <a:lstStyle/>
          <a:p>
            <a:pPr algn="l">
              <a:lnSpc>
                <a:spcPct val="110000"/>
              </a:lnSpc>
            </a:pPr>
            <a:r>
              <a:rPr sz="1300" b="0">
                <a:solidFill>
                  <a:srgbClr val="B9A7B3"/>
                </a:solidFill>
                <a:latin typeface="Arial"/>
              </a:rPr>
              <a:t>Spare minutes go to the feed, not to preparation.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11014"/>
        </a:solidFill>
        <a:effectLst/>
      </p:bgPr>
    </p:bg>
    <p:spTree>
      <p:nvGrpSpPr>
        <p:cNvPr id="1" name=""/>
        <p:cNvGrpSpPr/>
        <p:nvPr/>
      </p:nvGrpSpPr>
      <p:grpSpPr/>
      <p:sp>
        <p:nvSpPr>
          <p:cNvPr id="2" name="Oval 1"/>
          <p:cNvSpPr/>
          <p:nvPr/>
        </p:nvSpPr>
        <p:spPr>
          <a:xfrm>
            <a:off x="9052559" y="-2103120"/>
            <a:ext cx="4937760" cy="4937760"/>
          </a:xfrm>
          <a:prstGeom prst="ellipse">
            <a:avLst/>
          </a:prstGeom>
          <a:noFill/>
          <a:ln w="12700">
            <a:solidFill>
              <a:srgbClr val="3D30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48640"/>
            <a:ext cx="10881360" cy="274320"/>
          </a:xfrm>
          <a:prstGeom prst="rect">
            <a:avLst/>
          </a:prstGeom>
          <a:noFill/>
        </p:spPr>
        <p:txBody>
          <a:bodyPr wrap="square" lIns="0" rIns="0" tIns="0" bIns="0" anchor="t">
            <a:spAutoFit/>
          </a:bodyPr>
          <a:lstStyle/>
          <a:p>
            <a:pPr algn="l"/>
            <a:r>
              <a:rPr sz="1200" b="1">
                <a:solidFill>
                  <a:srgbClr val="F28DBB"/>
                </a:solidFill>
                <a:latin typeface="Arial"/>
              </a:rPr>
              <a:t>WHY  ·  THE PROBLEM</a:t>
            </a:r>
          </a:p>
        </p:txBody>
      </p:sp>
      <p:sp>
        <p:nvSpPr>
          <p:cNvPr id="4" name="TextBox 3"/>
          <p:cNvSpPr txBox="1"/>
          <p:nvPr/>
        </p:nvSpPr>
        <p:spPr>
          <a:xfrm>
            <a:off x="640080" y="868680"/>
            <a:ext cx="10881360" cy="1097280"/>
          </a:xfrm>
          <a:prstGeom prst="rect">
            <a:avLst/>
          </a:prstGeom>
          <a:noFill/>
        </p:spPr>
        <p:txBody>
          <a:bodyPr wrap="square" lIns="0" rIns="0" tIns="0" bIns="0" anchor="t">
            <a:spAutoFit/>
          </a:bodyPr>
          <a:lstStyle/>
          <a:p>
            <a:pPr algn="l">
              <a:lnSpc>
                <a:spcPct val="95000"/>
              </a:lnSpc>
            </a:pPr>
            <a:r>
              <a:rPr sz="3600" b="1">
                <a:solidFill>
                  <a:srgbClr val="FAEFF5"/>
                </a:solidFill>
                <a:latin typeface="Arial"/>
              </a:rPr>
              <a:t>The scroll always wins</a:t>
            </a:r>
          </a:p>
        </p:txBody>
      </p:sp>
      <p:sp>
        <p:nvSpPr>
          <p:cNvPr id="5" name="TextBox 4"/>
          <p:cNvSpPr txBox="1"/>
          <p:nvPr/>
        </p:nvSpPr>
        <p:spPr>
          <a:xfrm>
            <a:off x="10911535" y="6309360"/>
            <a:ext cx="640080" cy="274320"/>
          </a:xfrm>
          <a:prstGeom prst="rect">
            <a:avLst/>
          </a:prstGeom>
          <a:noFill/>
        </p:spPr>
        <p:txBody>
          <a:bodyPr wrap="square" lIns="0" rIns="0" tIns="0" bIns="0" anchor="t">
            <a:spAutoFit/>
          </a:bodyPr>
          <a:lstStyle/>
          <a:p>
            <a:pPr algn="r"/>
            <a:r>
              <a:rPr sz="1100" b="0">
                <a:solidFill>
                  <a:srgbClr val="B9A7B3"/>
                </a:solidFill>
                <a:latin typeface="Arial"/>
              </a:rPr>
              <a:t>03</a:t>
            </a:r>
          </a:p>
        </p:txBody>
      </p:sp>
      <p:sp>
        <p:nvSpPr>
          <p:cNvPr id="6" name="TextBox 5"/>
          <p:cNvSpPr txBox="1"/>
          <p:nvPr/>
        </p:nvSpPr>
        <p:spPr>
          <a:xfrm>
            <a:off x="640080" y="6309360"/>
            <a:ext cx="2743200" cy="274320"/>
          </a:xfrm>
          <a:prstGeom prst="rect">
            <a:avLst/>
          </a:prstGeom>
          <a:noFill/>
        </p:spPr>
        <p:txBody>
          <a:bodyPr wrap="square" lIns="0" rIns="0" tIns="0" bIns="0" anchor="t">
            <a:spAutoFit/>
          </a:bodyPr>
          <a:lstStyle/>
          <a:p>
            <a:pPr algn="l"/>
            <a:r>
              <a:rPr sz="1100" b="1">
                <a:solidFill>
                  <a:srgbClr val="B9A7B3"/>
                </a:solidFill>
                <a:latin typeface="Arial"/>
              </a:rPr>
              <a:t>unscroll</a:t>
            </a:r>
            <a:r>
              <a:rPr sz="1100" b="1">
                <a:solidFill>
                  <a:srgbClr val="F28DBB"/>
                </a:solidFill>
                <a:latin typeface="Arial"/>
              </a:rPr>
              <a:t>.</a:t>
            </a:r>
          </a:p>
        </p:txBody>
      </p:sp>
      <p:sp>
        <p:nvSpPr>
          <p:cNvPr id="7" name="Rounded Rectangle 6"/>
          <p:cNvSpPr/>
          <p:nvPr/>
        </p:nvSpPr>
        <p:spPr>
          <a:xfrm>
            <a:off x="640080" y="2103120"/>
            <a:ext cx="5943600" cy="3611880"/>
          </a:xfrm>
          <a:prstGeom prst="roundRect">
            <a:avLst>
              <a:gd name="adj" fmla="val 7000"/>
            </a:avLst>
          </a:prstGeom>
          <a:solidFill>
            <a:srgbClr val="211820"/>
          </a:solidFill>
          <a:ln w="12700">
            <a:solidFill>
              <a:srgbClr val="3D30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423160"/>
            <a:ext cx="5120640" cy="274320"/>
          </a:xfrm>
          <a:prstGeom prst="rect">
            <a:avLst/>
          </a:prstGeom>
          <a:noFill/>
        </p:spPr>
        <p:txBody>
          <a:bodyPr wrap="square" lIns="0" rIns="0" tIns="0" bIns="0" anchor="t">
            <a:spAutoFit/>
          </a:bodyPr>
          <a:lstStyle/>
          <a:p>
            <a:pPr algn="l"/>
            <a:r>
              <a:rPr sz="1200" b="1">
                <a:solidFill>
                  <a:srgbClr val="F28DBB"/>
                </a:solidFill>
                <a:latin typeface="Arial"/>
              </a:rPr>
              <a:t>PROBLEM STATEMENT</a:t>
            </a:r>
          </a:p>
        </p:txBody>
      </p:sp>
      <p:sp>
        <p:nvSpPr>
          <p:cNvPr id="9" name="TextBox 8"/>
          <p:cNvSpPr txBox="1"/>
          <p:nvPr/>
        </p:nvSpPr>
        <p:spPr>
          <a:xfrm>
            <a:off x="1051560" y="2834640"/>
            <a:ext cx="5120640" cy="2651760"/>
          </a:xfrm>
          <a:prstGeom prst="rect">
            <a:avLst/>
          </a:prstGeom>
          <a:noFill/>
        </p:spPr>
        <p:txBody>
          <a:bodyPr wrap="square" lIns="0" rIns="0" tIns="0" bIns="0" anchor="t">
            <a:spAutoFit/>
          </a:bodyPr>
          <a:lstStyle/>
          <a:p>
            <a:pPr algn="l">
              <a:lnSpc>
                <a:spcPct val="115000"/>
              </a:lnSpc>
            </a:pPr>
            <a:r>
              <a:rPr sz="2300" b="1">
                <a:solidFill>
                  <a:srgbClr val="FAEFF5"/>
                </a:solidFill>
                <a:latin typeface="Arial"/>
              </a:rPr>
              <a:t>Students who want to get better at interviews have no reason to practice today, and a feed that rewards them for not practicing.</a:t>
            </a:r>
          </a:p>
        </p:txBody>
      </p:sp>
      <p:sp>
        <p:nvSpPr>
          <p:cNvPr id="10" name="Rounded Rectangle 9"/>
          <p:cNvSpPr/>
          <p:nvPr/>
        </p:nvSpPr>
        <p:spPr>
          <a:xfrm>
            <a:off x="6949440" y="2103120"/>
            <a:ext cx="4599432" cy="1737360"/>
          </a:xfrm>
          <a:prstGeom prst="roundRect">
            <a:avLst>
              <a:gd name="adj" fmla="val 6000"/>
            </a:avLst>
          </a:prstGeom>
          <a:solidFill>
            <a:srgbClr val="1D1A20"/>
          </a:solidFill>
          <a:ln w="12700">
            <a:solidFill>
              <a:srgbClr val="3D30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60920" y="2423160"/>
            <a:ext cx="3749039" cy="457200"/>
          </a:xfrm>
          <a:prstGeom prst="rect">
            <a:avLst/>
          </a:prstGeom>
          <a:noFill/>
        </p:spPr>
        <p:txBody>
          <a:bodyPr wrap="square" lIns="0" rIns="0" tIns="0" bIns="0" anchor="t">
            <a:spAutoFit/>
          </a:bodyPr>
          <a:lstStyle/>
          <a:p>
            <a:pPr algn="l"/>
            <a:r>
              <a:rPr sz="2200" b="1">
                <a:solidFill>
                  <a:srgbClr val="FAEFF5"/>
                </a:solidFill>
                <a:latin typeface="Arial"/>
              </a:rPr>
              <a:t>Scrolling</a:t>
            </a:r>
          </a:p>
        </p:txBody>
      </p:sp>
      <p:sp>
        <p:nvSpPr>
          <p:cNvPr id="12" name="Rounded Rectangle 11"/>
          <p:cNvSpPr/>
          <p:nvPr/>
        </p:nvSpPr>
        <p:spPr>
          <a:xfrm>
            <a:off x="7360920" y="3063239"/>
            <a:ext cx="2651760" cy="457200"/>
          </a:xfrm>
          <a:prstGeom prst="roundRect">
            <a:avLst>
              <a:gd name="adj" fmla="val 50000"/>
            </a:avLst>
          </a:prstGeom>
          <a:solidFill>
            <a:srgbClr val="F28D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60920" y="3063239"/>
            <a:ext cx="2651760" cy="457200"/>
          </a:xfrm>
          <a:prstGeom prst="rect">
            <a:avLst/>
          </a:prstGeom>
          <a:noFill/>
        </p:spPr>
        <p:txBody>
          <a:bodyPr wrap="square" lIns="0" rIns="0" tIns="0" bIns="0" anchor="ctr">
            <a:spAutoFit/>
          </a:bodyPr>
          <a:lstStyle/>
          <a:p>
            <a:pPr algn="ctr"/>
            <a:r>
              <a:rPr sz="1400" b="1">
                <a:solidFill>
                  <a:srgbClr val="27121E"/>
                </a:solidFill>
                <a:latin typeface="Arial"/>
              </a:rPr>
              <a:t>Reward: now</a:t>
            </a:r>
          </a:p>
        </p:txBody>
      </p:sp>
      <p:sp>
        <p:nvSpPr>
          <p:cNvPr id="14" name="Rounded Rectangle 13"/>
          <p:cNvSpPr/>
          <p:nvPr/>
        </p:nvSpPr>
        <p:spPr>
          <a:xfrm>
            <a:off x="6949440" y="3977639"/>
            <a:ext cx="4599432" cy="1737360"/>
          </a:xfrm>
          <a:prstGeom prst="roundRect">
            <a:avLst>
              <a:gd name="adj" fmla="val 6000"/>
            </a:avLst>
          </a:prstGeom>
          <a:solidFill>
            <a:srgbClr val="1D1A20"/>
          </a:solidFill>
          <a:ln w="12700">
            <a:solidFill>
              <a:srgbClr val="3D30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60920" y="4297679"/>
            <a:ext cx="3749039" cy="457200"/>
          </a:xfrm>
          <a:prstGeom prst="rect">
            <a:avLst/>
          </a:prstGeom>
          <a:noFill/>
        </p:spPr>
        <p:txBody>
          <a:bodyPr wrap="square" lIns="0" rIns="0" tIns="0" bIns="0" anchor="t">
            <a:spAutoFit/>
          </a:bodyPr>
          <a:lstStyle/>
          <a:p>
            <a:pPr algn="l"/>
            <a:r>
              <a:rPr sz="2200" b="1">
                <a:solidFill>
                  <a:srgbClr val="FAEFF5"/>
                </a:solidFill>
                <a:latin typeface="Arial"/>
              </a:rPr>
              <a:t>Interview practice</a:t>
            </a:r>
          </a:p>
        </p:txBody>
      </p:sp>
      <p:sp>
        <p:nvSpPr>
          <p:cNvPr id="16" name="Rounded Rectangle 15"/>
          <p:cNvSpPr/>
          <p:nvPr/>
        </p:nvSpPr>
        <p:spPr>
          <a:xfrm>
            <a:off x="7360920" y="4937759"/>
            <a:ext cx="2651760" cy="457200"/>
          </a:xfrm>
          <a:prstGeom prst="roundRect">
            <a:avLst>
              <a:gd name="adj" fmla="val 50000"/>
            </a:avLst>
          </a:prstGeom>
          <a:solidFill>
            <a:srgbClr val="352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60920" y="4937759"/>
            <a:ext cx="2651760" cy="457200"/>
          </a:xfrm>
          <a:prstGeom prst="rect">
            <a:avLst/>
          </a:prstGeom>
          <a:noFill/>
        </p:spPr>
        <p:txBody>
          <a:bodyPr wrap="square" lIns="0" rIns="0" tIns="0" bIns="0" anchor="ctr">
            <a:spAutoFit/>
          </a:bodyPr>
          <a:lstStyle/>
          <a:p>
            <a:pPr algn="ctr"/>
            <a:r>
              <a:rPr sz="1400" b="1">
                <a:solidFill>
                  <a:srgbClr val="B9A7B3"/>
                </a:solidFill>
                <a:latin typeface="Arial"/>
              </a:rPr>
              <a:t>Reward: months away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11014"/>
        </a:solidFill>
        <a:effectLst/>
      </p:bgPr>
    </p:bg>
    <p:spTree>
      <p:nvGrpSpPr>
        <p:cNvPr id="1" name=""/>
        <p:cNvGrpSpPr/>
        <p:nvPr/>
      </p:nvGrpSpPr>
      <p:grpSpPr/>
      <p:sp>
        <p:nvSpPr>
          <p:cNvPr id="2" name="Oval 1"/>
          <p:cNvSpPr/>
          <p:nvPr/>
        </p:nvSpPr>
        <p:spPr>
          <a:xfrm>
            <a:off x="9052559" y="-2103120"/>
            <a:ext cx="4937760" cy="4937760"/>
          </a:xfrm>
          <a:prstGeom prst="ellipse">
            <a:avLst/>
          </a:prstGeom>
          <a:noFill/>
          <a:ln w="12700">
            <a:solidFill>
              <a:srgbClr val="3D30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48640"/>
            <a:ext cx="10881360" cy="274320"/>
          </a:xfrm>
          <a:prstGeom prst="rect">
            <a:avLst/>
          </a:prstGeom>
          <a:noFill/>
        </p:spPr>
        <p:txBody>
          <a:bodyPr wrap="square" lIns="0" rIns="0" tIns="0" bIns="0" anchor="t">
            <a:spAutoFit/>
          </a:bodyPr>
          <a:lstStyle/>
          <a:p>
            <a:pPr algn="l"/>
            <a:r>
              <a:rPr sz="1200" b="1">
                <a:solidFill>
                  <a:srgbClr val="F28DBB"/>
                </a:solidFill>
                <a:latin typeface="Arial"/>
              </a:rPr>
              <a:t>WHAT  ·  IT IS</a:t>
            </a:r>
          </a:p>
        </p:txBody>
      </p:sp>
      <p:sp>
        <p:nvSpPr>
          <p:cNvPr id="4" name="TextBox 3"/>
          <p:cNvSpPr txBox="1"/>
          <p:nvPr/>
        </p:nvSpPr>
        <p:spPr>
          <a:xfrm>
            <a:off x="640080" y="868680"/>
            <a:ext cx="10881360" cy="1097280"/>
          </a:xfrm>
          <a:prstGeom prst="rect">
            <a:avLst/>
          </a:prstGeom>
          <a:noFill/>
        </p:spPr>
        <p:txBody>
          <a:bodyPr wrap="square" lIns="0" rIns="0" tIns="0" bIns="0" anchor="t">
            <a:spAutoFit/>
          </a:bodyPr>
          <a:lstStyle/>
          <a:p>
            <a:pPr algn="l">
              <a:lnSpc>
                <a:spcPct val="95000"/>
              </a:lnSpc>
            </a:pPr>
            <a:r>
              <a:rPr sz="3600" b="1">
                <a:solidFill>
                  <a:srgbClr val="FAEFF5"/>
                </a:solidFill>
                <a:latin typeface="Arial"/>
              </a:rPr>
              <a:t>An app that makes practice earn the break</a:t>
            </a:r>
          </a:p>
        </p:txBody>
      </p:sp>
      <p:sp>
        <p:nvSpPr>
          <p:cNvPr id="5" name="TextBox 4"/>
          <p:cNvSpPr txBox="1"/>
          <p:nvPr/>
        </p:nvSpPr>
        <p:spPr>
          <a:xfrm>
            <a:off x="10911535" y="6309360"/>
            <a:ext cx="640080" cy="274320"/>
          </a:xfrm>
          <a:prstGeom prst="rect">
            <a:avLst/>
          </a:prstGeom>
          <a:noFill/>
        </p:spPr>
        <p:txBody>
          <a:bodyPr wrap="square" lIns="0" rIns="0" tIns="0" bIns="0" anchor="t">
            <a:spAutoFit/>
          </a:bodyPr>
          <a:lstStyle/>
          <a:p>
            <a:pPr algn="r"/>
            <a:r>
              <a:rPr sz="1100" b="0">
                <a:solidFill>
                  <a:srgbClr val="B9A7B3"/>
                </a:solidFill>
                <a:latin typeface="Arial"/>
              </a:rPr>
              <a:t>04</a:t>
            </a:r>
          </a:p>
        </p:txBody>
      </p:sp>
      <p:sp>
        <p:nvSpPr>
          <p:cNvPr id="6" name="TextBox 5"/>
          <p:cNvSpPr txBox="1"/>
          <p:nvPr/>
        </p:nvSpPr>
        <p:spPr>
          <a:xfrm>
            <a:off x="640080" y="6309360"/>
            <a:ext cx="2743200" cy="274320"/>
          </a:xfrm>
          <a:prstGeom prst="rect">
            <a:avLst/>
          </a:prstGeom>
          <a:noFill/>
        </p:spPr>
        <p:txBody>
          <a:bodyPr wrap="square" lIns="0" rIns="0" tIns="0" bIns="0" anchor="t">
            <a:spAutoFit/>
          </a:bodyPr>
          <a:lstStyle/>
          <a:p>
            <a:pPr algn="l"/>
            <a:r>
              <a:rPr sz="1100" b="1">
                <a:solidFill>
                  <a:srgbClr val="B9A7B3"/>
                </a:solidFill>
                <a:latin typeface="Arial"/>
              </a:rPr>
              <a:t>unscroll</a:t>
            </a:r>
            <a:r>
              <a:rPr sz="1100" b="1">
                <a:solidFill>
                  <a:srgbClr val="F28DBB"/>
                </a:solidFill>
                <a:latin typeface="Arial"/>
              </a:rPr>
              <a:t>.</a:t>
            </a:r>
          </a:p>
        </p:txBody>
      </p:sp>
      <p:sp>
        <p:nvSpPr>
          <p:cNvPr id="7" name="TextBox 6"/>
          <p:cNvSpPr txBox="1"/>
          <p:nvPr/>
        </p:nvSpPr>
        <p:spPr>
          <a:xfrm>
            <a:off x="640080" y="2148840"/>
            <a:ext cx="5669280" cy="2194560"/>
          </a:xfrm>
          <a:prstGeom prst="rect">
            <a:avLst/>
          </a:prstGeom>
          <a:noFill/>
        </p:spPr>
        <p:txBody>
          <a:bodyPr wrap="square" lIns="0" rIns="0" tIns="0" bIns="0" anchor="t">
            <a:spAutoFit/>
          </a:bodyPr>
          <a:lstStyle/>
          <a:p>
            <a:pPr algn="l">
              <a:lnSpc>
                <a:spcPct val="120000"/>
              </a:lnSpc>
            </a:pPr>
            <a:r>
              <a:rPr sz="2400" b="0">
                <a:solidFill>
                  <a:srgbClr val="FAEFF5"/>
                </a:solidFill>
                <a:latin typeface="Arial"/>
              </a:rPr>
              <a:t>Unscroll swaps the next scroll for a short interview. Pass, and the apps you chose open for a timed break.</a:t>
            </a:r>
          </a:p>
        </p:txBody>
      </p:sp>
      <p:sp>
        <p:nvSpPr>
          <p:cNvPr id="8" name="TextBox 7"/>
          <p:cNvSpPr txBox="1"/>
          <p:nvPr/>
        </p:nvSpPr>
        <p:spPr>
          <a:xfrm>
            <a:off x="640080" y="4892040"/>
            <a:ext cx="5669280" cy="822960"/>
          </a:xfrm>
          <a:prstGeom prst="rect">
            <a:avLst/>
          </a:prstGeom>
          <a:noFill/>
        </p:spPr>
        <p:txBody>
          <a:bodyPr wrap="square" lIns="0" rIns="0" tIns="0" bIns="0" anchor="t">
            <a:spAutoFit/>
          </a:bodyPr>
          <a:lstStyle/>
          <a:p>
            <a:pPr algn="l">
              <a:lnSpc>
                <a:spcPct val="115000"/>
              </a:lnSpc>
            </a:pPr>
            <a:r>
              <a:rPr sz="1400" b="0">
                <a:solidFill>
                  <a:srgbClr val="B9A7B3"/>
                </a:solidFill>
                <a:latin typeface="Arial"/>
              </a:rPr>
              <a:t>A design bet to test with students, not a result we have measured.</a:t>
            </a:r>
          </a:p>
        </p:txBody>
      </p:sp>
      <p:sp>
        <p:nvSpPr>
          <p:cNvPr id="9" name="Rounded Rectangle 8"/>
          <p:cNvSpPr/>
          <p:nvPr/>
        </p:nvSpPr>
        <p:spPr>
          <a:xfrm>
            <a:off x="6949440" y="2057400"/>
            <a:ext cx="4599432" cy="3657600"/>
          </a:xfrm>
          <a:prstGeom prst="roundRect">
            <a:avLst>
              <a:gd name="adj" fmla="val 7000"/>
            </a:avLst>
          </a:prstGeom>
          <a:solidFill>
            <a:srgbClr val="211820"/>
          </a:solidFill>
          <a:ln w="12700">
            <a:solidFill>
              <a:srgbClr val="3D30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60920" y="2560320"/>
            <a:ext cx="3749039" cy="868680"/>
          </a:xfrm>
          <a:prstGeom prst="roundRect">
            <a:avLst>
              <a:gd name="adj" fmla="val 50000"/>
            </a:avLst>
          </a:prstGeom>
          <a:solidFill>
            <a:srgbClr val="352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60920" y="2560320"/>
            <a:ext cx="3749039" cy="868680"/>
          </a:xfrm>
          <a:prstGeom prst="rect">
            <a:avLst/>
          </a:prstGeom>
          <a:noFill/>
        </p:spPr>
        <p:txBody>
          <a:bodyPr wrap="square" lIns="0" rIns="0" tIns="0" bIns="0" anchor="ctr">
            <a:spAutoFit/>
          </a:bodyPr>
          <a:lstStyle/>
          <a:p>
            <a:pPr algn="ctr"/>
            <a:r>
              <a:rPr sz="2000" b="1">
                <a:solidFill>
                  <a:srgbClr val="B9A7B3"/>
                </a:solidFill>
                <a:latin typeface="Arial"/>
              </a:rPr>
              <a:t>The next scroll</a:t>
            </a:r>
          </a:p>
        </p:txBody>
      </p:sp>
      <p:sp>
        <p:nvSpPr>
          <p:cNvPr id="12" name="TextBox 11"/>
          <p:cNvSpPr txBox="1"/>
          <p:nvPr/>
        </p:nvSpPr>
        <p:spPr>
          <a:xfrm>
            <a:off x="7360920" y="3474720"/>
            <a:ext cx="3749039" cy="502920"/>
          </a:xfrm>
          <a:prstGeom prst="rect">
            <a:avLst/>
          </a:prstGeom>
          <a:noFill/>
        </p:spPr>
        <p:txBody>
          <a:bodyPr wrap="square" lIns="0" rIns="0" tIns="0" bIns="0" anchor="ctr">
            <a:spAutoFit/>
          </a:bodyPr>
          <a:lstStyle/>
          <a:p>
            <a:pPr algn="ctr"/>
            <a:r>
              <a:rPr sz="1400" b="0">
                <a:solidFill>
                  <a:srgbClr val="B9A7B3"/>
                </a:solidFill>
                <a:latin typeface="Arial"/>
              </a:rPr>
              <a:t>becomes</a:t>
            </a:r>
          </a:p>
        </p:txBody>
      </p:sp>
      <p:sp>
        <p:nvSpPr>
          <p:cNvPr id="13" name="Rounded Rectangle 12"/>
          <p:cNvSpPr/>
          <p:nvPr/>
        </p:nvSpPr>
        <p:spPr>
          <a:xfrm>
            <a:off x="7360920" y="4023360"/>
            <a:ext cx="3749039" cy="868680"/>
          </a:xfrm>
          <a:prstGeom prst="roundRect">
            <a:avLst>
              <a:gd name="adj" fmla="val 50000"/>
            </a:avLst>
          </a:prstGeom>
          <a:solidFill>
            <a:srgbClr val="F28D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60920" y="4023360"/>
            <a:ext cx="3749039" cy="868680"/>
          </a:xfrm>
          <a:prstGeom prst="rect">
            <a:avLst/>
          </a:prstGeom>
          <a:noFill/>
        </p:spPr>
        <p:txBody>
          <a:bodyPr wrap="square" lIns="0" rIns="0" tIns="0" bIns="0" anchor="ctr">
            <a:spAutoFit/>
          </a:bodyPr>
          <a:lstStyle/>
          <a:p>
            <a:pPr algn="ctr"/>
            <a:r>
              <a:rPr sz="2000" b="1">
                <a:solidFill>
                  <a:srgbClr val="27121E"/>
                </a:solidFill>
                <a:latin typeface="Arial"/>
              </a:rPr>
              <a:t>One interview rep</a:t>
            </a:r>
          </a:p>
        </p:txBody>
      </p:sp>
      <p:sp>
        <p:nvSpPr>
          <p:cNvPr id="15" name="TextBox 14"/>
          <p:cNvSpPr txBox="1"/>
          <p:nvPr/>
        </p:nvSpPr>
        <p:spPr>
          <a:xfrm>
            <a:off x="7360920" y="4983480"/>
            <a:ext cx="3749039" cy="457200"/>
          </a:xfrm>
          <a:prstGeom prst="rect">
            <a:avLst/>
          </a:prstGeom>
          <a:noFill/>
        </p:spPr>
        <p:txBody>
          <a:bodyPr wrap="square" lIns="0" rIns="0" tIns="0" bIns="0" anchor="ctr">
            <a:spAutoFit/>
          </a:bodyPr>
          <a:lstStyle/>
          <a:p>
            <a:pPr algn="ctr"/>
            <a:r>
              <a:rPr sz="1400" b="0">
                <a:solidFill>
                  <a:srgbClr val="B9A7B3"/>
                </a:solidFill>
                <a:latin typeface="Arial"/>
              </a:rPr>
              <a:t>then a break you earned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11014"/>
        </a:solidFill>
        <a:effectLst/>
      </p:bgPr>
    </p:bg>
    <p:spTree>
      <p:nvGrpSpPr>
        <p:cNvPr id="1" name=""/>
        <p:cNvGrpSpPr/>
        <p:nvPr/>
      </p:nvGrpSpPr>
      <p:grpSpPr/>
      <p:sp>
        <p:nvSpPr>
          <p:cNvPr id="2" name="Oval 1"/>
          <p:cNvSpPr/>
          <p:nvPr/>
        </p:nvSpPr>
        <p:spPr>
          <a:xfrm>
            <a:off x="-2011679" y="4389120"/>
            <a:ext cx="4389120" cy="4389120"/>
          </a:xfrm>
          <a:prstGeom prst="ellipse">
            <a:avLst/>
          </a:prstGeom>
          <a:noFill/>
          <a:ln w="12700">
            <a:solidFill>
              <a:srgbClr val="3D30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48640"/>
            <a:ext cx="10881360" cy="274320"/>
          </a:xfrm>
          <a:prstGeom prst="rect">
            <a:avLst/>
          </a:prstGeom>
          <a:noFill/>
        </p:spPr>
        <p:txBody>
          <a:bodyPr wrap="square" lIns="0" rIns="0" tIns="0" bIns="0" anchor="t">
            <a:spAutoFit/>
          </a:bodyPr>
          <a:lstStyle/>
          <a:p>
            <a:pPr algn="l"/>
            <a:r>
              <a:rPr sz="1200" b="1">
                <a:solidFill>
                  <a:srgbClr val="F28DBB"/>
                </a:solidFill>
                <a:latin typeface="Arial"/>
              </a:rPr>
              <a:t>HOW  ·  WE BUILT IT</a:t>
            </a:r>
          </a:p>
        </p:txBody>
      </p:sp>
      <p:sp>
        <p:nvSpPr>
          <p:cNvPr id="4" name="TextBox 3"/>
          <p:cNvSpPr txBox="1"/>
          <p:nvPr/>
        </p:nvSpPr>
        <p:spPr>
          <a:xfrm>
            <a:off x="640080" y="868680"/>
            <a:ext cx="10881360" cy="1097280"/>
          </a:xfrm>
          <a:prstGeom prst="rect">
            <a:avLst/>
          </a:prstGeom>
          <a:noFill/>
        </p:spPr>
        <p:txBody>
          <a:bodyPr wrap="square" lIns="0" rIns="0" tIns="0" bIns="0" anchor="t">
            <a:spAutoFit/>
          </a:bodyPr>
          <a:lstStyle/>
          <a:p>
            <a:pPr algn="l">
              <a:lnSpc>
                <a:spcPct val="95000"/>
              </a:lnSpc>
            </a:pPr>
            <a:r>
              <a:rPr sz="3600" b="1">
                <a:solidFill>
                  <a:srgbClr val="FAEFF5"/>
                </a:solidFill>
                <a:latin typeface="Arial"/>
              </a:rPr>
              <a:t>A small system, built at the hackathon</a:t>
            </a:r>
          </a:p>
        </p:txBody>
      </p:sp>
      <p:sp>
        <p:nvSpPr>
          <p:cNvPr id="5" name="TextBox 4"/>
          <p:cNvSpPr txBox="1"/>
          <p:nvPr/>
        </p:nvSpPr>
        <p:spPr>
          <a:xfrm>
            <a:off x="10911535" y="6309360"/>
            <a:ext cx="640080" cy="274320"/>
          </a:xfrm>
          <a:prstGeom prst="rect">
            <a:avLst/>
          </a:prstGeom>
          <a:noFill/>
        </p:spPr>
        <p:txBody>
          <a:bodyPr wrap="square" lIns="0" rIns="0" tIns="0" bIns="0" anchor="t">
            <a:spAutoFit/>
          </a:bodyPr>
          <a:lstStyle/>
          <a:p>
            <a:pPr algn="r"/>
            <a:r>
              <a:rPr sz="1100" b="0">
                <a:solidFill>
                  <a:srgbClr val="B9A7B3"/>
                </a:solidFill>
                <a:latin typeface="Arial"/>
              </a:rPr>
              <a:t>05</a:t>
            </a:r>
          </a:p>
        </p:txBody>
      </p:sp>
      <p:sp>
        <p:nvSpPr>
          <p:cNvPr id="6" name="TextBox 5"/>
          <p:cNvSpPr txBox="1"/>
          <p:nvPr/>
        </p:nvSpPr>
        <p:spPr>
          <a:xfrm>
            <a:off x="640080" y="6309360"/>
            <a:ext cx="2743200" cy="274320"/>
          </a:xfrm>
          <a:prstGeom prst="rect">
            <a:avLst/>
          </a:prstGeom>
          <a:noFill/>
        </p:spPr>
        <p:txBody>
          <a:bodyPr wrap="square" lIns="0" rIns="0" tIns="0" bIns="0" anchor="t">
            <a:spAutoFit/>
          </a:bodyPr>
          <a:lstStyle/>
          <a:p>
            <a:pPr algn="l"/>
            <a:r>
              <a:rPr sz="1100" b="1">
                <a:solidFill>
                  <a:srgbClr val="B9A7B3"/>
                </a:solidFill>
                <a:latin typeface="Arial"/>
              </a:rPr>
              <a:t>unscroll</a:t>
            </a:r>
            <a:r>
              <a:rPr sz="1100" b="1">
                <a:solidFill>
                  <a:srgbClr val="F28DBB"/>
                </a:solidFill>
                <a:latin typeface="Arial"/>
              </a:rPr>
              <a:t>.</a:t>
            </a:r>
          </a:p>
        </p:txBody>
      </p:sp>
      <p:sp>
        <p:nvSpPr>
          <p:cNvPr id="7" name="Rounded Rectangle 6"/>
          <p:cNvSpPr/>
          <p:nvPr/>
        </p:nvSpPr>
        <p:spPr>
          <a:xfrm>
            <a:off x="640080" y="2103120"/>
            <a:ext cx="3429000" cy="2148840"/>
          </a:xfrm>
          <a:prstGeom prst="roundRect">
            <a:avLst>
              <a:gd name="adj" fmla="val 6000"/>
            </a:avLst>
          </a:prstGeom>
          <a:solidFill>
            <a:srgbClr val="1D1A20"/>
          </a:solidFill>
          <a:ln w="12700">
            <a:solidFill>
              <a:srgbClr val="3D30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377440"/>
            <a:ext cx="2697480" cy="274320"/>
          </a:xfrm>
          <a:prstGeom prst="rect">
            <a:avLst/>
          </a:prstGeom>
          <a:noFill/>
        </p:spPr>
        <p:txBody>
          <a:bodyPr wrap="square" lIns="0" rIns="0" tIns="0" bIns="0" anchor="t">
            <a:spAutoFit/>
          </a:bodyPr>
          <a:lstStyle/>
          <a:p>
            <a:pPr algn="l"/>
            <a:r>
              <a:rPr sz="1200" b="1">
                <a:solidFill>
                  <a:srgbClr val="F28DBB"/>
                </a:solidFill>
                <a:latin typeface="Arial"/>
              </a:rPr>
              <a:t>STUDENT APP</a:t>
            </a:r>
          </a:p>
        </p:txBody>
      </p:sp>
      <p:sp>
        <p:nvSpPr>
          <p:cNvPr id="9" name="TextBox 8"/>
          <p:cNvSpPr txBox="1"/>
          <p:nvPr/>
        </p:nvSpPr>
        <p:spPr>
          <a:xfrm>
            <a:off x="1005840" y="2743200"/>
            <a:ext cx="2697480" cy="457200"/>
          </a:xfrm>
          <a:prstGeom prst="rect">
            <a:avLst/>
          </a:prstGeom>
          <a:noFill/>
        </p:spPr>
        <p:txBody>
          <a:bodyPr wrap="square" lIns="0" rIns="0" tIns="0" bIns="0" anchor="t">
            <a:spAutoFit/>
          </a:bodyPr>
          <a:lstStyle/>
          <a:p>
            <a:pPr algn="l"/>
            <a:r>
              <a:rPr sz="2100" b="1">
                <a:solidFill>
                  <a:srgbClr val="FAEFF5"/>
                </a:solidFill>
                <a:latin typeface="Arial"/>
              </a:rPr>
              <a:t>Expo  ·  React Native</a:t>
            </a:r>
          </a:p>
        </p:txBody>
      </p:sp>
      <p:sp>
        <p:nvSpPr>
          <p:cNvPr id="10" name="TextBox 9"/>
          <p:cNvSpPr txBox="1"/>
          <p:nvPr/>
        </p:nvSpPr>
        <p:spPr>
          <a:xfrm>
            <a:off x="1005840" y="3291840"/>
            <a:ext cx="2697480" cy="731520"/>
          </a:xfrm>
          <a:prstGeom prst="rect">
            <a:avLst/>
          </a:prstGeom>
          <a:noFill/>
        </p:spPr>
        <p:txBody>
          <a:bodyPr wrap="square" lIns="0" rIns="0" tIns="0" bIns="0" anchor="t">
            <a:spAutoFit/>
          </a:bodyPr>
          <a:lstStyle/>
          <a:p>
            <a:pPr algn="l">
              <a:lnSpc>
                <a:spcPct val="110000"/>
              </a:lnSpc>
            </a:pPr>
            <a:r>
              <a:rPr sz="1400" b="0">
                <a:solidFill>
                  <a:srgbClr val="B9A7B3"/>
                </a:solidFill>
                <a:latin typeface="Arial"/>
              </a:rPr>
              <a:t>TypeScript, runs in Expo Go on iPhone</a:t>
            </a:r>
          </a:p>
        </p:txBody>
      </p:sp>
      <p:sp>
        <p:nvSpPr>
          <p:cNvPr id="11" name="TextBox 10"/>
          <p:cNvSpPr txBox="1"/>
          <p:nvPr/>
        </p:nvSpPr>
        <p:spPr>
          <a:xfrm>
            <a:off x="4069080" y="2834640"/>
            <a:ext cx="310896" cy="548640"/>
          </a:xfrm>
          <a:prstGeom prst="rect">
            <a:avLst/>
          </a:prstGeom>
          <a:noFill/>
        </p:spPr>
        <p:txBody>
          <a:bodyPr wrap="square" lIns="0" rIns="0" tIns="0" bIns="0" anchor="ctr">
            <a:spAutoFit/>
          </a:bodyPr>
          <a:lstStyle/>
          <a:p>
            <a:pPr algn="ctr"/>
            <a:r>
              <a:rPr sz="3000" b="1">
                <a:solidFill>
                  <a:srgbClr val="F28DBB"/>
                </a:solidFill>
                <a:latin typeface="Arial"/>
              </a:rPr>
              <a:t>›</a:t>
            </a:r>
          </a:p>
        </p:txBody>
      </p:sp>
      <p:sp>
        <p:nvSpPr>
          <p:cNvPr id="12" name="Rounded Rectangle 11"/>
          <p:cNvSpPr/>
          <p:nvPr/>
        </p:nvSpPr>
        <p:spPr>
          <a:xfrm>
            <a:off x="4379976" y="2103120"/>
            <a:ext cx="3429000" cy="2148840"/>
          </a:xfrm>
          <a:prstGeom prst="roundRect">
            <a:avLst>
              <a:gd name="adj" fmla="val 6000"/>
            </a:avLst>
          </a:prstGeom>
          <a:solidFill>
            <a:srgbClr val="1D1A20"/>
          </a:solidFill>
          <a:ln w="12700">
            <a:solidFill>
              <a:srgbClr val="3D30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45736" y="2377440"/>
            <a:ext cx="2697480" cy="274320"/>
          </a:xfrm>
          <a:prstGeom prst="rect">
            <a:avLst/>
          </a:prstGeom>
          <a:noFill/>
        </p:spPr>
        <p:txBody>
          <a:bodyPr wrap="square" lIns="0" rIns="0" tIns="0" bIns="0" anchor="t">
            <a:spAutoFit/>
          </a:bodyPr>
          <a:lstStyle/>
          <a:p>
            <a:pPr algn="l"/>
            <a:r>
              <a:rPr sz="1200" b="1">
                <a:solidFill>
                  <a:srgbClr val="F28DBB"/>
                </a:solidFill>
                <a:latin typeface="Arial"/>
              </a:rPr>
              <a:t>API SERVER</a:t>
            </a:r>
          </a:p>
        </p:txBody>
      </p:sp>
      <p:sp>
        <p:nvSpPr>
          <p:cNvPr id="14" name="TextBox 13"/>
          <p:cNvSpPr txBox="1"/>
          <p:nvPr/>
        </p:nvSpPr>
        <p:spPr>
          <a:xfrm>
            <a:off x="4745736" y="2743200"/>
            <a:ext cx="2697480" cy="457200"/>
          </a:xfrm>
          <a:prstGeom prst="rect">
            <a:avLst/>
          </a:prstGeom>
          <a:noFill/>
        </p:spPr>
        <p:txBody>
          <a:bodyPr wrap="square" lIns="0" rIns="0" tIns="0" bIns="0" anchor="t">
            <a:spAutoFit/>
          </a:bodyPr>
          <a:lstStyle/>
          <a:p>
            <a:pPr algn="l"/>
            <a:r>
              <a:rPr sz="2100" b="1">
                <a:solidFill>
                  <a:srgbClr val="FAEFF5"/>
                </a:solidFill>
                <a:latin typeface="Arial"/>
              </a:rPr>
              <a:t>Node 24  ·  SQLite</a:t>
            </a:r>
          </a:p>
        </p:txBody>
      </p:sp>
      <p:sp>
        <p:nvSpPr>
          <p:cNvPr id="15" name="TextBox 14"/>
          <p:cNvSpPr txBox="1"/>
          <p:nvPr/>
        </p:nvSpPr>
        <p:spPr>
          <a:xfrm>
            <a:off x="4745736" y="3291840"/>
            <a:ext cx="2697480" cy="731520"/>
          </a:xfrm>
          <a:prstGeom prst="rect">
            <a:avLst/>
          </a:prstGeom>
          <a:noFill/>
        </p:spPr>
        <p:txBody>
          <a:bodyPr wrap="square" lIns="0" rIns="0" tIns="0" bIns="0" anchor="t">
            <a:spAutoFit/>
          </a:bodyPr>
          <a:lstStyle/>
          <a:p>
            <a:pPr algn="l">
              <a:lnSpc>
                <a:spcPct val="110000"/>
              </a:lnSpc>
            </a:pPr>
            <a:r>
              <a:rPr sz="1400" b="0">
                <a:solidFill>
                  <a:srgbClr val="B9A7B3"/>
                </a:solidFill>
                <a:latin typeface="Arial"/>
              </a:rPr>
              <a:t>Accounts, progress and grading rules</a:t>
            </a:r>
          </a:p>
        </p:txBody>
      </p:sp>
      <p:sp>
        <p:nvSpPr>
          <p:cNvPr id="16" name="TextBox 15"/>
          <p:cNvSpPr txBox="1"/>
          <p:nvPr/>
        </p:nvSpPr>
        <p:spPr>
          <a:xfrm>
            <a:off x="7808975" y="2834640"/>
            <a:ext cx="310896" cy="548640"/>
          </a:xfrm>
          <a:prstGeom prst="rect">
            <a:avLst/>
          </a:prstGeom>
          <a:noFill/>
        </p:spPr>
        <p:txBody>
          <a:bodyPr wrap="square" lIns="0" rIns="0" tIns="0" bIns="0" anchor="ctr">
            <a:spAutoFit/>
          </a:bodyPr>
          <a:lstStyle/>
          <a:p>
            <a:pPr algn="ctr"/>
            <a:r>
              <a:rPr sz="3000" b="1">
                <a:solidFill>
                  <a:srgbClr val="F28DBB"/>
                </a:solidFill>
                <a:latin typeface="Arial"/>
              </a:rPr>
              <a:t>›</a:t>
            </a:r>
          </a:p>
        </p:txBody>
      </p:sp>
      <p:sp>
        <p:nvSpPr>
          <p:cNvPr id="17" name="Rounded Rectangle 16"/>
          <p:cNvSpPr/>
          <p:nvPr/>
        </p:nvSpPr>
        <p:spPr>
          <a:xfrm>
            <a:off x="8119871" y="2103120"/>
            <a:ext cx="3429000" cy="2148840"/>
          </a:xfrm>
          <a:prstGeom prst="roundRect">
            <a:avLst>
              <a:gd name="adj" fmla="val 6000"/>
            </a:avLst>
          </a:prstGeom>
          <a:solidFill>
            <a:srgbClr val="1D1A20"/>
          </a:solidFill>
          <a:ln w="12700">
            <a:solidFill>
              <a:srgbClr val="3D30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85632" y="2377440"/>
            <a:ext cx="2697480" cy="274320"/>
          </a:xfrm>
          <a:prstGeom prst="rect">
            <a:avLst/>
          </a:prstGeom>
          <a:noFill/>
        </p:spPr>
        <p:txBody>
          <a:bodyPr wrap="square" lIns="0" rIns="0" tIns="0" bIns="0" anchor="t">
            <a:spAutoFit/>
          </a:bodyPr>
          <a:lstStyle/>
          <a:p>
            <a:pPr algn="l"/>
            <a:r>
              <a:rPr sz="1200" b="1">
                <a:solidFill>
                  <a:srgbClr val="F28DBB"/>
                </a:solidFill>
                <a:latin typeface="Arial"/>
              </a:rPr>
              <a:t>AI AND VOICE</a:t>
            </a:r>
          </a:p>
        </p:txBody>
      </p:sp>
      <p:sp>
        <p:nvSpPr>
          <p:cNvPr id="19" name="TextBox 18"/>
          <p:cNvSpPr txBox="1"/>
          <p:nvPr/>
        </p:nvSpPr>
        <p:spPr>
          <a:xfrm>
            <a:off x="8485632" y="2743200"/>
            <a:ext cx="2697480" cy="457200"/>
          </a:xfrm>
          <a:prstGeom prst="rect">
            <a:avLst/>
          </a:prstGeom>
          <a:noFill/>
        </p:spPr>
        <p:txBody>
          <a:bodyPr wrap="square" lIns="0" rIns="0" tIns="0" bIns="0" anchor="t">
            <a:spAutoFit/>
          </a:bodyPr>
          <a:lstStyle/>
          <a:p>
            <a:pPr algn="l"/>
            <a:r>
              <a:rPr sz="2100" b="1">
                <a:solidFill>
                  <a:srgbClr val="FAEFF5"/>
                </a:solidFill>
                <a:latin typeface="Arial"/>
              </a:rPr>
              <a:t>NVIDIA  ·  Groq</a:t>
            </a:r>
          </a:p>
        </p:txBody>
      </p:sp>
      <p:sp>
        <p:nvSpPr>
          <p:cNvPr id="20" name="TextBox 19"/>
          <p:cNvSpPr txBox="1"/>
          <p:nvPr/>
        </p:nvSpPr>
        <p:spPr>
          <a:xfrm>
            <a:off x="8485632" y="3291840"/>
            <a:ext cx="2697480" cy="731520"/>
          </a:xfrm>
          <a:prstGeom prst="rect">
            <a:avLst/>
          </a:prstGeom>
          <a:noFill/>
        </p:spPr>
        <p:txBody>
          <a:bodyPr wrap="square" lIns="0" rIns="0" tIns="0" bIns="0" anchor="t">
            <a:spAutoFit/>
          </a:bodyPr>
          <a:lstStyle/>
          <a:p>
            <a:pPr algn="l">
              <a:lnSpc>
                <a:spcPct val="110000"/>
              </a:lnSpc>
            </a:pPr>
            <a:r>
              <a:rPr sz="1400" b="0">
                <a:solidFill>
                  <a:srgbClr val="B9A7B3"/>
                </a:solidFill>
                <a:latin typeface="Arial"/>
              </a:rPr>
              <a:t>With a rubric and phone-voice fallback</a:t>
            </a:r>
          </a:p>
        </p:txBody>
      </p:sp>
      <p:sp>
        <p:nvSpPr>
          <p:cNvPr id="21" name="Rounded Rectangle 20"/>
          <p:cNvSpPr/>
          <p:nvPr/>
        </p:nvSpPr>
        <p:spPr>
          <a:xfrm>
            <a:off x="640080" y="4800600"/>
            <a:ext cx="2596896" cy="566928"/>
          </a:xfrm>
          <a:prstGeom prst="roundRect">
            <a:avLst>
              <a:gd name="adj" fmla="val 50000"/>
            </a:avLst>
          </a:prstGeom>
          <a:solidFill>
            <a:srgbClr val="352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4800600"/>
            <a:ext cx="2596896" cy="566928"/>
          </a:xfrm>
          <a:prstGeom prst="rect">
            <a:avLst/>
          </a:prstGeom>
          <a:noFill/>
        </p:spPr>
        <p:txBody>
          <a:bodyPr wrap="square" lIns="0" rIns="0" tIns="0" bIns="0" anchor="ctr">
            <a:spAutoFit/>
          </a:bodyPr>
          <a:lstStyle/>
          <a:p>
            <a:pPr algn="ctr"/>
            <a:r>
              <a:rPr sz="1400" b="1">
                <a:solidFill>
                  <a:srgbClr val="FAEFF5"/>
                </a:solidFill>
                <a:latin typeface="Arial"/>
              </a:rPr>
              <a:t>163 automated tests</a:t>
            </a:r>
          </a:p>
        </p:txBody>
      </p:sp>
      <p:sp>
        <p:nvSpPr>
          <p:cNvPr id="23" name="Rounded Rectangle 22"/>
          <p:cNvSpPr/>
          <p:nvPr/>
        </p:nvSpPr>
        <p:spPr>
          <a:xfrm>
            <a:off x="3401568" y="4800600"/>
            <a:ext cx="2596896" cy="566928"/>
          </a:xfrm>
          <a:prstGeom prst="roundRect">
            <a:avLst>
              <a:gd name="adj" fmla="val 50000"/>
            </a:avLst>
          </a:prstGeom>
          <a:solidFill>
            <a:srgbClr val="352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01568" y="4800600"/>
            <a:ext cx="2596896" cy="566928"/>
          </a:xfrm>
          <a:prstGeom prst="rect">
            <a:avLst/>
          </a:prstGeom>
          <a:noFill/>
        </p:spPr>
        <p:txBody>
          <a:bodyPr wrap="square" lIns="0" rIns="0" tIns="0" bIns="0" anchor="ctr">
            <a:spAutoFit/>
          </a:bodyPr>
          <a:lstStyle/>
          <a:p>
            <a:pPr algn="ctr"/>
            <a:r>
              <a:rPr sz="1400" b="1">
                <a:solidFill>
                  <a:srgbClr val="FAEFF5"/>
                </a:solidFill>
                <a:latin typeface="Arial"/>
              </a:rPr>
              <a:t>CI on every push</a:t>
            </a:r>
          </a:p>
        </p:txBody>
      </p:sp>
      <p:sp>
        <p:nvSpPr>
          <p:cNvPr id="25" name="Rounded Rectangle 24"/>
          <p:cNvSpPr/>
          <p:nvPr/>
        </p:nvSpPr>
        <p:spPr>
          <a:xfrm>
            <a:off x="6163056" y="4800600"/>
            <a:ext cx="2596896" cy="566928"/>
          </a:xfrm>
          <a:prstGeom prst="roundRect">
            <a:avLst>
              <a:gd name="adj" fmla="val 50000"/>
            </a:avLst>
          </a:prstGeom>
          <a:solidFill>
            <a:srgbClr val="352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63056" y="4800600"/>
            <a:ext cx="2596896" cy="566928"/>
          </a:xfrm>
          <a:prstGeom prst="rect">
            <a:avLst/>
          </a:prstGeom>
          <a:noFill/>
        </p:spPr>
        <p:txBody>
          <a:bodyPr wrap="square" lIns="0" rIns="0" tIns="0" bIns="0" anchor="ctr">
            <a:spAutoFit/>
          </a:bodyPr>
          <a:lstStyle/>
          <a:p>
            <a:pPr algn="ctr"/>
            <a:r>
              <a:rPr sz="1400" b="1">
                <a:solidFill>
                  <a:srgbClr val="FAEFF5"/>
                </a:solidFill>
                <a:latin typeface="Arial"/>
              </a:rPr>
              <a:t>Keys stay on the server</a:t>
            </a:r>
          </a:p>
        </p:txBody>
      </p:sp>
      <p:sp>
        <p:nvSpPr>
          <p:cNvPr id="27" name="Rounded Rectangle 26"/>
          <p:cNvSpPr/>
          <p:nvPr/>
        </p:nvSpPr>
        <p:spPr>
          <a:xfrm>
            <a:off x="8924544" y="4800600"/>
            <a:ext cx="2596896" cy="566928"/>
          </a:xfrm>
          <a:prstGeom prst="roundRect">
            <a:avLst>
              <a:gd name="adj" fmla="val 50000"/>
            </a:avLst>
          </a:prstGeom>
          <a:solidFill>
            <a:srgbClr val="352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24544" y="4800600"/>
            <a:ext cx="2596896" cy="566928"/>
          </a:xfrm>
          <a:prstGeom prst="rect">
            <a:avLst/>
          </a:prstGeom>
          <a:noFill/>
        </p:spPr>
        <p:txBody>
          <a:bodyPr wrap="square" lIns="0" rIns="0" tIns="0" bIns="0" anchor="ctr">
            <a:spAutoFit/>
          </a:bodyPr>
          <a:lstStyle/>
          <a:p>
            <a:pPr algn="ctr"/>
            <a:r>
              <a:rPr sz="1400" b="1">
                <a:solidFill>
                  <a:srgbClr val="FAEFF5"/>
                </a:solidFill>
                <a:latin typeface="Arial"/>
              </a:rPr>
              <a:t>Film drawn in code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11014"/>
        </a:solidFill>
        <a:effectLst/>
      </p:bgPr>
    </p:bg>
    <p:spTree>
      <p:nvGrpSpPr>
        <p:cNvPr id="1" name=""/>
        <p:cNvGrpSpPr/>
        <p:nvPr/>
      </p:nvGrpSpPr>
      <p:grpSpPr/>
      <p:sp>
        <p:nvSpPr>
          <p:cNvPr id="2" name="TextBox 1"/>
          <p:cNvSpPr txBox="1"/>
          <p:nvPr/>
        </p:nvSpPr>
        <p:spPr>
          <a:xfrm>
            <a:off x="640080" y="548640"/>
            <a:ext cx="10881360" cy="274320"/>
          </a:xfrm>
          <a:prstGeom prst="rect">
            <a:avLst/>
          </a:prstGeom>
          <a:noFill/>
        </p:spPr>
        <p:txBody>
          <a:bodyPr wrap="square" lIns="0" rIns="0" tIns="0" bIns="0" anchor="t">
            <a:spAutoFit/>
          </a:bodyPr>
          <a:lstStyle/>
          <a:p>
            <a:pPr algn="l"/>
            <a:r>
              <a:rPr sz="1200" b="1">
                <a:solidFill>
                  <a:srgbClr val="F28DBB"/>
                </a:solidFill>
                <a:latin typeface="Arial"/>
              </a:rPr>
              <a:t>HOW  ·  WE BUILT IT</a:t>
            </a:r>
          </a:p>
        </p:txBody>
      </p:sp>
      <p:sp>
        <p:nvSpPr>
          <p:cNvPr id="3" name="TextBox 2"/>
          <p:cNvSpPr txBox="1"/>
          <p:nvPr/>
        </p:nvSpPr>
        <p:spPr>
          <a:xfrm>
            <a:off x="640080" y="868680"/>
            <a:ext cx="10881360" cy="1097280"/>
          </a:xfrm>
          <a:prstGeom prst="rect">
            <a:avLst/>
          </a:prstGeom>
          <a:noFill/>
        </p:spPr>
        <p:txBody>
          <a:bodyPr wrap="square" lIns="0" rIns="0" tIns="0" bIns="0" anchor="t">
            <a:spAutoFit/>
          </a:bodyPr>
          <a:lstStyle/>
          <a:p>
            <a:pPr algn="l">
              <a:lnSpc>
                <a:spcPct val="95000"/>
              </a:lnSpc>
            </a:pPr>
            <a:r>
              <a:rPr sz="3600" b="1">
                <a:solidFill>
                  <a:srgbClr val="FAEFF5"/>
                </a:solidFill>
                <a:latin typeface="Arial"/>
              </a:rPr>
              <a:t>AI and voice, all on free tiers</a:t>
            </a:r>
          </a:p>
        </p:txBody>
      </p:sp>
      <p:sp>
        <p:nvSpPr>
          <p:cNvPr id="4" name="TextBox 3"/>
          <p:cNvSpPr txBox="1"/>
          <p:nvPr/>
        </p:nvSpPr>
        <p:spPr>
          <a:xfrm>
            <a:off x="10911535" y="6309360"/>
            <a:ext cx="640080" cy="274320"/>
          </a:xfrm>
          <a:prstGeom prst="rect">
            <a:avLst/>
          </a:prstGeom>
          <a:noFill/>
        </p:spPr>
        <p:txBody>
          <a:bodyPr wrap="square" lIns="0" rIns="0" tIns="0" bIns="0" anchor="t">
            <a:spAutoFit/>
          </a:bodyPr>
          <a:lstStyle/>
          <a:p>
            <a:pPr algn="r"/>
            <a:r>
              <a:rPr sz="1100" b="0">
                <a:solidFill>
                  <a:srgbClr val="B9A7B3"/>
                </a:solidFill>
                <a:latin typeface="Arial"/>
              </a:rPr>
              <a:t>06</a:t>
            </a:r>
          </a:p>
        </p:txBody>
      </p:sp>
      <p:sp>
        <p:nvSpPr>
          <p:cNvPr id="5" name="TextBox 4"/>
          <p:cNvSpPr txBox="1"/>
          <p:nvPr/>
        </p:nvSpPr>
        <p:spPr>
          <a:xfrm>
            <a:off x="640080" y="6309360"/>
            <a:ext cx="2743200" cy="274320"/>
          </a:xfrm>
          <a:prstGeom prst="rect">
            <a:avLst/>
          </a:prstGeom>
          <a:noFill/>
        </p:spPr>
        <p:txBody>
          <a:bodyPr wrap="square" lIns="0" rIns="0" tIns="0" bIns="0" anchor="t">
            <a:spAutoFit/>
          </a:bodyPr>
          <a:lstStyle/>
          <a:p>
            <a:pPr algn="l"/>
            <a:r>
              <a:rPr sz="1100" b="1">
                <a:solidFill>
                  <a:srgbClr val="B9A7B3"/>
                </a:solidFill>
                <a:latin typeface="Arial"/>
              </a:rPr>
              <a:t>unscroll</a:t>
            </a:r>
            <a:r>
              <a:rPr sz="1100" b="1">
                <a:solidFill>
                  <a:srgbClr val="F28DBB"/>
                </a:solidFill>
                <a:latin typeface="Arial"/>
              </a:rPr>
              <a:t>.</a:t>
            </a:r>
          </a:p>
        </p:txBody>
      </p:sp>
      <p:sp>
        <p:nvSpPr>
          <p:cNvPr id="6" name="Rounded Rectangle 5"/>
          <p:cNvSpPr/>
          <p:nvPr/>
        </p:nvSpPr>
        <p:spPr>
          <a:xfrm>
            <a:off x="640080" y="2103120"/>
            <a:ext cx="10908792" cy="3429000"/>
          </a:xfrm>
          <a:prstGeom prst="roundRect">
            <a:avLst>
              <a:gd name="adj" fmla="val 6000"/>
            </a:avLst>
          </a:prstGeom>
          <a:solidFill>
            <a:srgbClr val="1D1A20"/>
          </a:solidFill>
          <a:ln w="12700">
            <a:solidFill>
              <a:srgbClr val="3D30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331720"/>
            <a:ext cx="3200400" cy="274320"/>
          </a:xfrm>
          <a:prstGeom prst="rect">
            <a:avLst/>
          </a:prstGeom>
          <a:noFill/>
        </p:spPr>
        <p:txBody>
          <a:bodyPr wrap="square" lIns="0" rIns="0" tIns="0" bIns="0" anchor="t">
            <a:spAutoFit/>
          </a:bodyPr>
          <a:lstStyle/>
          <a:p>
            <a:pPr algn="l"/>
            <a:r>
              <a:rPr sz="1100" b="1">
                <a:solidFill>
                  <a:srgbClr val="B9A7B3"/>
                </a:solidFill>
                <a:latin typeface="Arial"/>
              </a:rPr>
              <a:t>JOB</a:t>
            </a:r>
          </a:p>
        </p:txBody>
      </p:sp>
      <p:sp>
        <p:nvSpPr>
          <p:cNvPr id="8" name="TextBox 7"/>
          <p:cNvSpPr txBox="1"/>
          <p:nvPr/>
        </p:nvSpPr>
        <p:spPr>
          <a:xfrm>
            <a:off x="4297680" y="2331720"/>
            <a:ext cx="1600200" cy="274320"/>
          </a:xfrm>
          <a:prstGeom prst="rect">
            <a:avLst/>
          </a:prstGeom>
          <a:noFill/>
        </p:spPr>
        <p:txBody>
          <a:bodyPr wrap="square" lIns="0" rIns="0" tIns="0" bIns="0" anchor="t">
            <a:spAutoFit/>
          </a:bodyPr>
          <a:lstStyle/>
          <a:p>
            <a:pPr algn="l"/>
            <a:r>
              <a:rPr sz="1100" b="1">
                <a:solidFill>
                  <a:srgbClr val="B9A7B3"/>
                </a:solidFill>
                <a:latin typeface="Arial"/>
              </a:rPr>
              <a:t>PROVIDER</a:t>
            </a:r>
          </a:p>
        </p:txBody>
      </p:sp>
      <p:sp>
        <p:nvSpPr>
          <p:cNvPr id="9" name="TextBox 8"/>
          <p:cNvSpPr txBox="1"/>
          <p:nvPr/>
        </p:nvSpPr>
        <p:spPr>
          <a:xfrm>
            <a:off x="5989320" y="2331720"/>
            <a:ext cx="3429000" cy="274320"/>
          </a:xfrm>
          <a:prstGeom prst="rect">
            <a:avLst/>
          </a:prstGeom>
          <a:noFill/>
        </p:spPr>
        <p:txBody>
          <a:bodyPr wrap="square" lIns="0" rIns="0" tIns="0" bIns="0" anchor="t">
            <a:spAutoFit/>
          </a:bodyPr>
          <a:lstStyle/>
          <a:p>
            <a:pPr algn="l"/>
            <a:r>
              <a:rPr sz="1100" b="1">
                <a:solidFill>
                  <a:srgbClr val="B9A7B3"/>
                </a:solidFill>
                <a:latin typeface="Arial"/>
              </a:rPr>
              <a:t>MODEL</a:t>
            </a:r>
          </a:p>
        </p:txBody>
      </p:sp>
      <p:sp>
        <p:nvSpPr>
          <p:cNvPr id="10" name="TextBox 9"/>
          <p:cNvSpPr txBox="1"/>
          <p:nvPr/>
        </p:nvSpPr>
        <p:spPr>
          <a:xfrm>
            <a:off x="9555480" y="2331720"/>
            <a:ext cx="1828800" cy="274320"/>
          </a:xfrm>
          <a:prstGeom prst="rect">
            <a:avLst/>
          </a:prstGeom>
          <a:noFill/>
        </p:spPr>
        <p:txBody>
          <a:bodyPr wrap="square" lIns="0" rIns="0" tIns="0" bIns="0" anchor="t">
            <a:spAutoFit/>
          </a:bodyPr>
          <a:lstStyle/>
          <a:p>
            <a:pPr algn="l"/>
            <a:r>
              <a:rPr sz="1100" b="1">
                <a:solidFill>
                  <a:srgbClr val="B9A7B3"/>
                </a:solidFill>
                <a:latin typeface="Arial"/>
              </a:rPr>
              <a:t>MEASURED</a:t>
            </a:r>
          </a:p>
        </p:txBody>
      </p:sp>
      <p:sp>
        <p:nvSpPr>
          <p:cNvPr id="11" name="TextBox 10"/>
          <p:cNvSpPr txBox="1"/>
          <p:nvPr/>
        </p:nvSpPr>
        <p:spPr>
          <a:xfrm>
            <a:off x="960120" y="2743200"/>
            <a:ext cx="3200400" cy="457200"/>
          </a:xfrm>
          <a:prstGeom prst="rect">
            <a:avLst/>
          </a:prstGeom>
          <a:noFill/>
        </p:spPr>
        <p:txBody>
          <a:bodyPr wrap="square" lIns="0" rIns="0" tIns="0" bIns="0" anchor="ctr">
            <a:spAutoFit/>
          </a:bodyPr>
          <a:lstStyle/>
          <a:p>
            <a:pPr algn="l"/>
            <a:r>
              <a:rPr sz="1600" b="1">
                <a:solidFill>
                  <a:srgbClr val="FAEFF5"/>
                </a:solidFill>
                <a:latin typeface="Arial"/>
              </a:rPr>
              <a:t>Interviewer and grading</a:t>
            </a:r>
          </a:p>
        </p:txBody>
      </p:sp>
      <p:sp>
        <p:nvSpPr>
          <p:cNvPr id="12" name="TextBox 11"/>
          <p:cNvSpPr txBox="1"/>
          <p:nvPr/>
        </p:nvSpPr>
        <p:spPr>
          <a:xfrm>
            <a:off x="4297680" y="2743200"/>
            <a:ext cx="1600200" cy="457200"/>
          </a:xfrm>
          <a:prstGeom prst="rect">
            <a:avLst/>
          </a:prstGeom>
          <a:noFill/>
        </p:spPr>
        <p:txBody>
          <a:bodyPr wrap="square" lIns="0" rIns="0" tIns="0" bIns="0" anchor="ctr">
            <a:spAutoFit/>
          </a:bodyPr>
          <a:lstStyle/>
          <a:p>
            <a:pPr algn="l"/>
            <a:r>
              <a:rPr sz="1600" b="0">
                <a:solidFill>
                  <a:srgbClr val="B9A7B3"/>
                </a:solidFill>
                <a:latin typeface="Arial"/>
              </a:rPr>
              <a:t>NVIDIA</a:t>
            </a:r>
          </a:p>
        </p:txBody>
      </p:sp>
      <p:sp>
        <p:nvSpPr>
          <p:cNvPr id="13" name="TextBox 12"/>
          <p:cNvSpPr txBox="1"/>
          <p:nvPr/>
        </p:nvSpPr>
        <p:spPr>
          <a:xfrm>
            <a:off x="5989320" y="2743200"/>
            <a:ext cx="3429000" cy="457200"/>
          </a:xfrm>
          <a:prstGeom prst="rect">
            <a:avLst/>
          </a:prstGeom>
          <a:noFill/>
        </p:spPr>
        <p:txBody>
          <a:bodyPr wrap="square" lIns="0" rIns="0" tIns="0" bIns="0" anchor="ctr">
            <a:spAutoFit/>
          </a:bodyPr>
          <a:lstStyle/>
          <a:p>
            <a:pPr algn="l"/>
            <a:r>
              <a:rPr sz="1600" b="0">
                <a:solidFill>
                  <a:srgbClr val="B9A7B3"/>
                </a:solidFill>
                <a:latin typeface="Arial"/>
              </a:rPr>
              <a:t>nemotron-3-super-120b</a:t>
            </a:r>
          </a:p>
        </p:txBody>
      </p:sp>
      <p:sp>
        <p:nvSpPr>
          <p:cNvPr id="14" name="TextBox 13"/>
          <p:cNvSpPr txBox="1"/>
          <p:nvPr/>
        </p:nvSpPr>
        <p:spPr>
          <a:xfrm>
            <a:off x="9555480" y="2743200"/>
            <a:ext cx="1828800" cy="457200"/>
          </a:xfrm>
          <a:prstGeom prst="rect">
            <a:avLst/>
          </a:prstGeom>
          <a:noFill/>
        </p:spPr>
        <p:txBody>
          <a:bodyPr wrap="square" lIns="0" rIns="0" tIns="0" bIns="0" anchor="ctr">
            <a:spAutoFit/>
          </a:bodyPr>
          <a:lstStyle/>
          <a:p>
            <a:pPr algn="l"/>
            <a:r>
              <a:rPr sz="1600" b="0">
                <a:solidFill>
                  <a:srgbClr val="FAEFF5"/>
                </a:solidFill>
                <a:latin typeface="Arial"/>
              </a:rPr>
              <a:t>1.6 to 2.6 s</a:t>
            </a:r>
          </a:p>
        </p:txBody>
      </p:sp>
      <p:sp>
        <p:nvSpPr>
          <p:cNvPr id="15" name="TextBox 14"/>
          <p:cNvSpPr txBox="1"/>
          <p:nvPr/>
        </p:nvSpPr>
        <p:spPr>
          <a:xfrm>
            <a:off x="960120" y="3419856"/>
            <a:ext cx="3200400" cy="457200"/>
          </a:xfrm>
          <a:prstGeom prst="rect">
            <a:avLst/>
          </a:prstGeom>
          <a:noFill/>
        </p:spPr>
        <p:txBody>
          <a:bodyPr wrap="square" lIns="0" rIns="0" tIns="0" bIns="0" anchor="ctr">
            <a:spAutoFit/>
          </a:bodyPr>
          <a:lstStyle/>
          <a:p>
            <a:pPr algn="l"/>
            <a:r>
              <a:rPr sz="1600" b="1">
                <a:solidFill>
                  <a:srgbClr val="FAEFF5"/>
                </a:solidFill>
                <a:latin typeface="Arial"/>
              </a:rPr>
              <a:t>Your voice to text</a:t>
            </a:r>
          </a:p>
        </p:txBody>
      </p:sp>
      <p:sp>
        <p:nvSpPr>
          <p:cNvPr id="16" name="TextBox 15"/>
          <p:cNvSpPr txBox="1"/>
          <p:nvPr/>
        </p:nvSpPr>
        <p:spPr>
          <a:xfrm>
            <a:off x="4297680" y="3419856"/>
            <a:ext cx="1600200" cy="457200"/>
          </a:xfrm>
          <a:prstGeom prst="rect">
            <a:avLst/>
          </a:prstGeom>
          <a:noFill/>
        </p:spPr>
        <p:txBody>
          <a:bodyPr wrap="square" lIns="0" rIns="0" tIns="0" bIns="0" anchor="ctr">
            <a:spAutoFit/>
          </a:bodyPr>
          <a:lstStyle/>
          <a:p>
            <a:pPr algn="l"/>
            <a:r>
              <a:rPr sz="1600" b="0">
                <a:solidFill>
                  <a:srgbClr val="B9A7B3"/>
                </a:solidFill>
                <a:latin typeface="Arial"/>
              </a:rPr>
              <a:t>Groq</a:t>
            </a:r>
          </a:p>
        </p:txBody>
      </p:sp>
      <p:sp>
        <p:nvSpPr>
          <p:cNvPr id="17" name="TextBox 16"/>
          <p:cNvSpPr txBox="1"/>
          <p:nvPr/>
        </p:nvSpPr>
        <p:spPr>
          <a:xfrm>
            <a:off x="5989320" y="3419856"/>
            <a:ext cx="3429000" cy="457200"/>
          </a:xfrm>
          <a:prstGeom prst="rect">
            <a:avLst/>
          </a:prstGeom>
          <a:noFill/>
        </p:spPr>
        <p:txBody>
          <a:bodyPr wrap="square" lIns="0" rIns="0" tIns="0" bIns="0" anchor="ctr">
            <a:spAutoFit/>
          </a:bodyPr>
          <a:lstStyle/>
          <a:p>
            <a:pPr algn="l"/>
            <a:r>
              <a:rPr sz="1600" b="0">
                <a:solidFill>
                  <a:srgbClr val="B9A7B3"/>
                </a:solidFill>
                <a:latin typeface="Arial"/>
              </a:rPr>
              <a:t>whisper-large-v3-turbo</a:t>
            </a:r>
          </a:p>
        </p:txBody>
      </p:sp>
      <p:sp>
        <p:nvSpPr>
          <p:cNvPr id="18" name="TextBox 17"/>
          <p:cNvSpPr txBox="1"/>
          <p:nvPr/>
        </p:nvSpPr>
        <p:spPr>
          <a:xfrm>
            <a:off x="9555480" y="3419856"/>
            <a:ext cx="1828800" cy="457200"/>
          </a:xfrm>
          <a:prstGeom prst="rect">
            <a:avLst/>
          </a:prstGeom>
          <a:noFill/>
        </p:spPr>
        <p:txBody>
          <a:bodyPr wrap="square" lIns="0" rIns="0" tIns="0" bIns="0" anchor="ctr">
            <a:spAutoFit/>
          </a:bodyPr>
          <a:lstStyle/>
          <a:p>
            <a:pPr algn="l"/>
            <a:r>
              <a:rPr sz="1600" b="0">
                <a:solidFill>
                  <a:srgbClr val="FAEFF5"/>
                </a:solidFill>
                <a:latin typeface="Arial"/>
              </a:rPr>
              <a:t>about 0.5 s</a:t>
            </a:r>
          </a:p>
        </p:txBody>
      </p:sp>
      <p:sp>
        <p:nvSpPr>
          <p:cNvPr id="19" name="TextBox 18"/>
          <p:cNvSpPr txBox="1"/>
          <p:nvPr/>
        </p:nvSpPr>
        <p:spPr>
          <a:xfrm>
            <a:off x="960120" y="4096512"/>
            <a:ext cx="3200400" cy="457200"/>
          </a:xfrm>
          <a:prstGeom prst="rect">
            <a:avLst/>
          </a:prstGeom>
          <a:noFill/>
        </p:spPr>
        <p:txBody>
          <a:bodyPr wrap="square" lIns="0" rIns="0" tIns="0" bIns="0" anchor="ctr">
            <a:spAutoFit/>
          </a:bodyPr>
          <a:lstStyle/>
          <a:p>
            <a:pPr algn="l"/>
            <a:r>
              <a:rPr sz="1600" b="1">
                <a:solidFill>
                  <a:srgbClr val="FAEFF5"/>
                </a:solidFill>
                <a:latin typeface="Arial"/>
              </a:rPr>
              <a:t>Jarvis voice</a:t>
            </a:r>
          </a:p>
        </p:txBody>
      </p:sp>
      <p:sp>
        <p:nvSpPr>
          <p:cNvPr id="20" name="TextBox 19"/>
          <p:cNvSpPr txBox="1"/>
          <p:nvPr/>
        </p:nvSpPr>
        <p:spPr>
          <a:xfrm>
            <a:off x="4297680" y="4096512"/>
            <a:ext cx="1600200" cy="457200"/>
          </a:xfrm>
          <a:prstGeom prst="rect">
            <a:avLst/>
          </a:prstGeom>
          <a:noFill/>
        </p:spPr>
        <p:txBody>
          <a:bodyPr wrap="square" lIns="0" rIns="0" tIns="0" bIns="0" anchor="ctr">
            <a:spAutoFit/>
          </a:bodyPr>
          <a:lstStyle/>
          <a:p>
            <a:pPr algn="l"/>
            <a:r>
              <a:rPr sz="1600" b="0">
                <a:solidFill>
                  <a:srgbClr val="B9A7B3"/>
                </a:solidFill>
                <a:latin typeface="Arial"/>
              </a:rPr>
              <a:t>Groq</a:t>
            </a:r>
          </a:p>
        </p:txBody>
      </p:sp>
      <p:sp>
        <p:nvSpPr>
          <p:cNvPr id="21" name="TextBox 20"/>
          <p:cNvSpPr txBox="1"/>
          <p:nvPr/>
        </p:nvSpPr>
        <p:spPr>
          <a:xfrm>
            <a:off x="5989320" y="4096512"/>
            <a:ext cx="3429000" cy="457200"/>
          </a:xfrm>
          <a:prstGeom prst="rect">
            <a:avLst/>
          </a:prstGeom>
          <a:noFill/>
        </p:spPr>
        <p:txBody>
          <a:bodyPr wrap="square" lIns="0" rIns="0" tIns="0" bIns="0" anchor="ctr">
            <a:spAutoFit/>
          </a:bodyPr>
          <a:lstStyle/>
          <a:p>
            <a:pPr algn="l"/>
            <a:r>
              <a:rPr sz="1600" b="0">
                <a:solidFill>
                  <a:srgbClr val="B9A7B3"/>
                </a:solidFill>
                <a:latin typeface="Arial"/>
              </a:rPr>
              <a:t>orpheus-v1-english</a:t>
            </a:r>
          </a:p>
        </p:txBody>
      </p:sp>
      <p:sp>
        <p:nvSpPr>
          <p:cNvPr id="22" name="TextBox 21"/>
          <p:cNvSpPr txBox="1"/>
          <p:nvPr/>
        </p:nvSpPr>
        <p:spPr>
          <a:xfrm>
            <a:off x="9555480" y="4096512"/>
            <a:ext cx="1828800" cy="457200"/>
          </a:xfrm>
          <a:prstGeom prst="rect">
            <a:avLst/>
          </a:prstGeom>
          <a:noFill/>
        </p:spPr>
        <p:txBody>
          <a:bodyPr wrap="square" lIns="0" rIns="0" tIns="0" bIns="0" anchor="ctr">
            <a:spAutoFit/>
          </a:bodyPr>
          <a:lstStyle/>
          <a:p>
            <a:pPr algn="l"/>
            <a:r>
              <a:rPr sz="1600" b="0">
                <a:solidFill>
                  <a:srgbClr val="FAEFF5"/>
                </a:solidFill>
                <a:latin typeface="Arial"/>
              </a:rPr>
              <a:t>0.5 to 1.0 s</a:t>
            </a:r>
          </a:p>
        </p:txBody>
      </p:sp>
      <p:sp>
        <p:nvSpPr>
          <p:cNvPr id="23" name="TextBox 22"/>
          <p:cNvSpPr txBox="1"/>
          <p:nvPr/>
        </p:nvSpPr>
        <p:spPr>
          <a:xfrm>
            <a:off x="960120" y="4773168"/>
            <a:ext cx="3200400" cy="457200"/>
          </a:xfrm>
          <a:prstGeom prst="rect">
            <a:avLst/>
          </a:prstGeom>
          <a:noFill/>
        </p:spPr>
        <p:txBody>
          <a:bodyPr wrap="square" lIns="0" rIns="0" tIns="0" bIns="0" anchor="ctr">
            <a:spAutoFit/>
          </a:bodyPr>
          <a:lstStyle/>
          <a:p>
            <a:pPr algn="l"/>
            <a:r>
              <a:rPr sz="1600" b="1">
                <a:solidFill>
                  <a:srgbClr val="FAEFF5"/>
                </a:solidFill>
                <a:latin typeface="Arial"/>
              </a:rPr>
              <a:t>No key at all</a:t>
            </a:r>
          </a:p>
        </p:txBody>
      </p:sp>
      <p:sp>
        <p:nvSpPr>
          <p:cNvPr id="24" name="TextBox 23"/>
          <p:cNvSpPr txBox="1"/>
          <p:nvPr/>
        </p:nvSpPr>
        <p:spPr>
          <a:xfrm>
            <a:off x="4297680" y="4773168"/>
            <a:ext cx="1600200" cy="457200"/>
          </a:xfrm>
          <a:prstGeom prst="rect">
            <a:avLst/>
          </a:prstGeom>
          <a:noFill/>
        </p:spPr>
        <p:txBody>
          <a:bodyPr wrap="square" lIns="0" rIns="0" tIns="0" bIns="0" anchor="ctr">
            <a:spAutoFit/>
          </a:bodyPr>
          <a:lstStyle/>
          <a:p>
            <a:pPr algn="l"/>
            <a:r>
              <a:rPr sz="1600" b="0">
                <a:solidFill>
                  <a:srgbClr val="B9A7B3"/>
                </a:solidFill>
                <a:latin typeface="Arial"/>
              </a:rPr>
              <a:t>On device</a:t>
            </a:r>
          </a:p>
        </p:txBody>
      </p:sp>
      <p:sp>
        <p:nvSpPr>
          <p:cNvPr id="25" name="TextBox 24"/>
          <p:cNvSpPr txBox="1"/>
          <p:nvPr/>
        </p:nvSpPr>
        <p:spPr>
          <a:xfrm>
            <a:off x="5989320" y="4773168"/>
            <a:ext cx="3429000" cy="457200"/>
          </a:xfrm>
          <a:prstGeom prst="rect">
            <a:avLst/>
          </a:prstGeom>
          <a:noFill/>
        </p:spPr>
        <p:txBody>
          <a:bodyPr wrap="square" lIns="0" rIns="0" tIns="0" bIns="0" anchor="ctr">
            <a:spAutoFit/>
          </a:bodyPr>
          <a:lstStyle/>
          <a:p>
            <a:pPr algn="l"/>
            <a:r>
              <a:rPr sz="1600" b="0">
                <a:solidFill>
                  <a:srgbClr val="B9A7B3"/>
                </a:solidFill>
                <a:latin typeface="Arial"/>
              </a:rPr>
              <a:t>Rubric feedback, phone voice</a:t>
            </a:r>
          </a:p>
        </p:txBody>
      </p:sp>
      <p:sp>
        <p:nvSpPr>
          <p:cNvPr id="26" name="TextBox 25"/>
          <p:cNvSpPr txBox="1"/>
          <p:nvPr/>
        </p:nvSpPr>
        <p:spPr>
          <a:xfrm>
            <a:off x="9555480" y="4773168"/>
            <a:ext cx="1828800" cy="457200"/>
          </a:xfrm>
          <a:prstGeom prst="rect">
            <a:avLst/>
          </a:prstGeom>
          <a:noFill/>
        </p:spPr>
        <p:txBody>
          <a:bodyPr wrap="square" lIns="0" rIns="0" tIns="0" bIns="0" anchor="ctr">
            <a:spAutoFit/>
          </a:bodyPr>
          <a:lstStyle/>
          <a:p>
            <a:pPr algn="l"/>
            <a:r>
              <a:rPr sz="1600" b="0">
                <a:solidFill>
                  <a:srgbClr val="FAEFF5"/>
                </a:solidFill>
                <a:latin typeface="Arial"/>
              </a:rPr>
              <a:t>Still works</a:t>
            </a:r>
          </a:p>
        </p:txBody>
      </p:sp>
      <p:sp>
        <p:nvSpPr>
          <p:cNvPr id="27" name="TextBox 26"/>
          <p:cNvSpPr txBox="1"/>
          <p:nvPr/>
        </p:nvSpPr>
        <p:spPr>
          <a:xfrm>
            <a:off x="640080" y="5715000"/>
            <a:ext cx="10881360" cy="365760"/>
          </a:xfrm>
          <a:prstGeom prst="rect">
            <a:avLst/>
          </a:prstGeom>
          <a:noFill/>
        </p:spPr>
        <p:txBody>
          <a:bodyPr wrap="square" lIns="0" rIns="0" tIns="0" bIns="0" anchor="t">
            <a:spAutoFit/>
          </a:bodyPr>
          <a:lstStyle/>
          <a:p>
            <a:pPr algn="l"/>
            <a:r>
              <a:rPr sz="1300" b="0">
                <a:solidFill>
                  <a:srgbClr val="B9A7B3"/>
                </a:solidFill>
                <a:latin typeface="Arial"/>
              </a:rPr>
              <a:t>Measured on our development machine on the day of the hackathon.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11014"/>
        </a:solidFill>
        <a:effectLst/>
      </p:bgPr>
    </p:bg>
    <p:spTree>
      <p:nvGrpSpPr>
        <p:cNvPr id="1" name=""/>
        <p:cNvGrpSpPr/>
        <p:nvPr/>
      </p:nvGrpSpPr>
      <p:grpSpPr/>
      <p:sp>
        <p:nvSpPr>
          <p:cNvPr id="2" name="TextBox 1"/>
          <p:cNvSpPr txBox="1"/>
          <p:nvPr/>
        </p:nvSpPr>
        <p:spPr>
          <a:xfrm>
            <a:off x="640080" y="548640"/>
            <a:ext cx="10881360" cy="274320"/>
          </a:xfrm>
          <a:prstGeom prst="rect">
            <a:avLst/>
          </a:prstGeom>
          <a:noFill/>
        </p:spPr>
        <p:txBody>
          <a:bodyPr wrap="square" lIns="0" rIns="0" tIns="0" bIns="0" anchor="t">
            <a:spAutoFit/>
          </a:bodyPr>
          <a:lstStyle/>
          <a:p>
            <a:pPr algn="l"/>
            <a:r>
              <a:rPr sz="1200" b="1">
                <a:solidFill>
                  <a:srgbClr val="F28DBB"/>
                </a:solidFill>
                <a:latin typeface="Arial"/>
              </a:rPr>
              <a:t>HOW  ·  IT WORKS</a:t>
            </a:r>
          </a:p>
        </p:txBody>
      </p:sp>
      <p:sp>
        <p:nvSpPr>
          <p:cNvPr id="3" name="TextBox 2"/>
          <p:cNvSpPr txBox="1"/>
          <p:nvPr/>
        </p:nvSpPr>
        <p:spPr>
          <a:xfrm>
            <a:off x="640080" y="868680"/>
            <a:ext cx="10881360" cy="1097280"/>
          </a:xfrm>
          <a:prstGeom prst="rect">
            <a:avLst/>
          </a:prstGeom>
          <a:noFill/>
        </p:spPr>
        <p:txBody>
          <a:bodyPr wrap="square" lIns="0" rIns="0" tIns="0" bIns="0" anchor="t">
            <a:spAutoFit/>
          </a:bodyPr>
          <a:lstStyle/>
          <a:p>
            <a:pPr algn="l">
              <a:lnSpc>
                <a:spcPct val="95000"/>
              </a:lnSpc>
            </a:pPr>
            <a:r>
              <a:rPr sz="3600" b="1">
                <a:solidFill>
                  <a:srgbClr val="FAEFF5"/>
                </a:solidFill>
                <a:latin typeface="Arial"/>
              </a:rPr>
              <a:t>Three steps, repeated daily</a:t>
            </a:r>
          </a:p>
        </p:txBody>
      </p:sp>
      <p:sp>
        <p:nvSpPr>
          <p:cNvPr id="4" name="TextBox 3"/>
          <p:cNvSpPr txBox="1"/>
          <p:nvPr/>
        </p:nvSpPr>
        <p:spPr>
          <a:xfrm>
            <a:off x="10911535" y="6309360"/>
            <a:ext cx="640080" cy="274320"/>
          </a:xfrm>
          <a:prstGeom prst="rect">
            <a:avLst/>
          </a:prstGeom>
          <a:noFill/>
        </p:spPr>
        <p:txBody>
          <a:bodyPr wrap="square" lIns="0" rIns="0" tIns="0" bIns="0" anchor="t">
            <a:spAutoFit/>
          </a:bodyPr>
          <a:lstStyle/>
          <a:p>
            <a:pPr algn="r"/>
            <a:r>
              <a:rPr sz="1100" b="0">
                <a:solidFill>
                  <a:srgbClr val="B9A7B3"/>
                </a:solidFill>
                <a:latin typeface="Arial"/>
              </a:rPr>
              <a:t>07</a:t>
            </a:r>
          </a:p>
        </p:txBody>
      </p:sp>
      <p:sp>
        <p:nvSpPr>
          <p:cNvPr id="5" name="TextBox 4"/>
          <p:cNvSpPr txBox="1"/>
          <p:nvPr/>
        </p:nvSpPr>
        <p:spPr>
          <a:xfrm>
            <a:off x="640080" y="6309360"/>
            <a:ext cx="2743200" cy="274320"/>
          </a:xfrm>
          <a:prstGeom prst="rect">
            <a:avLst/>
          </a:prstGeom>
          <a:noFill/>
        </p:spPr>
        <p:txBody>
          <a:bodyPr wrap="square" lIns="0" rIns="0" tIns="0" bIns="0" anchor="t">
            <a:spAutoFit/>
          </a:bodyPr>
          <a:lstStyle/>
          <a:p>
            <a:pPr algn="l"/>
            <a:r>
              <a:rPr sz="1100" b="1">
                <a:solidFill>
                  <a:srgbClr val="B9A7B3"/>
                </a:solidFill>
                <a:latin typeface="Arial"/>
              </a:rPr>
              <a:t>unscroll</a:t>
            </a:r>
            <a:r>
              <a:rPr sz="1100" b="1">
                <a:solidFill>
                  <a:srgbClr val="F28DBB"/>
                </a:solidFill>
                <a:latin typeface="Arial"/>
              </a:rPr>
              <a:t>.</a:t>
            </a:r>
          </a:p>
        </p:txBody>
      </p:sp>
      <p:sp>
        <p:nvSpPr>
          <p:cNvPr id="6" name="Rounded Rectangle 5"/>
          <p:cNvSpPr/>
          <p:nvPr/>
        </p:nvSpPr>
        <p:spPr>
          <a:xfrm>
            <a:off x="640080" y="2240280"/>
            <a:ext cx="3429000" cy="3520440"/>
          </a:xfrm>
          <a:prstGeom prst="roundRect">
            <a:avLst>
              <a:gd name="adj" fmla="val 6000"/>
            </a:avLst>
          </a:prstGeom>
          <a:solidFill>
            <a:srgbClr val="1D1A20"/>
          </a:solidFill>
          <a:ln w="12700">
            <a:solidFill>
              <a:srgbClr val="3D30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05840" y="2606040"/>
            <a:ext cx="658368" cy="658368"/>
          </a:xfrm>
          <a:prstGeom prst="ellipse">
            <a:avLst/>
          </a:prstGeom>
          <a:solidFill>
            <a:srgbClr val="F28DB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7121E"/>
                </a:solidFill>
                <a:latin typeface="Arial"/>
              </a:rPr>
              <a:t>1</a:t>
            </a:r>
          </a:p>
        </p:txBody>
      </p:sp>
      <p:sp>
        <p:nvSpPr>
          <p:cNvPr id="8" name="TextBox 7"/>
          <p:cNvSpPr txBox="1"/>
          <p:nvPr/>
        </p:nvSpPr>
        <p:spPr>
          <a:xfrm>
            <a:off x="1005840" y="3520440"/>
            <a:ext cx="2697480" cy="868680"/>
          </a:xfrm>
          <a:prstGeom prst="rect">
            <a:avLst/>
          </a:prstGeom>
          <a:noFill/>
        </p:spPr>
        <p:txBody>
          <a:bodyPr wrap="square" lIns="0" rIns="0" tIns="0" bIns="0" anchor="t">
            <a:spAutoFit/>
          </a:bodyPr>
          <a:lstStyle/>
          <a:p>
            <a:pPr algn="l">
              <a:lnSpc>
                <a:spcPct val="100000"/>
              </a:lnSpc>
            </a:pPr>
            <a:r>
              <a:rPr sz="2200" b="1">
                <a:solidFill>
                  <a:srgbClr val="FAEFF5"/>
                </a:solidFill>
                <a:latin typeface="Arial"/>
              </a:rPr>
              <a:t>Pick your distractions</a:t>
            </a:r>
          </a:p>
        </p:txBody>
      </p:sp>
      <p:sp>
        <p:nvSpPr>
          <p:cNvPr id="9" name="TextBox 8"/>
          <p:cNvSpPr txBox="1"/>
          <p:nvPr/>
        </p:nvSpPr>
        <p:spPr>
          <a:xfrm>
            <a:off x="1005840" y="4434840"/>
            <a:ext cx="2697480" cy="1188720"/>
          </a:xfrm>
          <a:prstGeom prst="rect">
            <a:avLst/>
          </a:prstGeom>
          <a:noFill/>
        </p:spPr>
        <p:txBody>
          <a:bodyPr wrap="square" lIns="0" rIns="0" tIns="0" bIns="0" anchor="t">
            <a:spAutoFit/>
          </a:bodyPr>
          <a:lstStyle/>
          <a:p>
            <a:pPr algn="l">
              <a:lnSpc>
                <a:spcPct val="115000"/>
              </a:lnSpc>
            </a:pPr>
            <a:r>
              <a:rPr sz="1500" b="0">
                <a:solidFill>
                  <a:srgbClr val="B9A7B3"/>
                </a:solidFill>
                <a:latin typeface="Arial"/>
              </a:rPr>
              <a:t>Choose the apps that pull you in, plus your major, goals and target companies.</a:t>
            </a:r>
          </a:p>
        </p:txBody>
      </p:sp>
      <p:sp>
        <p:nvSpPr>
          <p:cNvPr id="10" name="Rounded Rectangle 9"/>
          <p:cNvSpPr/>
          <p:nvPr/>
        </p:nvSpPr>
        <p:spPr>
          <a:xfrm>
            <a:off x="4379976" y="2240280"/>
            <a:ext cx="3429000" cy="3520440"/>
          </a:xfrm>
          <a:prstGeom prst="roundRect">
            <a:avLst>
              <a:gd name="adj" fmla="val 6000"/>
            </a:avLst>
          </a:prstGeom>
          <a:solidFill>
            <a:srgbClr val="1D1A20"/>
          </a:solidFill>
          <a:ln w="12700">
            <a:solidFill>
              <a:srgbClr val="3D30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745736" y="2606040"/>
            <a:ext cx="658368" cy="658368"/>
          </a:xfrm>
          <a:prstGeom prst="ellipse">
            <a:avLst/>
          </a:prstGeom>
          <a:solidFill>
            <a:srgbClr val="F28DB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7121E"/>
                </a:solidFill>
                <a:latin typeface="Arial"/>
              </a:rPr>
              <a:t>2</a:t>
            </a:r>
          </a:p>
        </p:txBody>
      </p:sp>
      <p:sp>
        <p:nvSpPr>
          <p:cNvPr id="12" name="TextBox 11"/>
          <p:cNvSpPr txBox="1"/>
          <p:nvPr/>
        </p:nvSpPr>
        <p:spPr>
          <a:xfrm>
            <a:off x="4745736" y="3520440"/>
            <a:ext cx="2697480" cy="868680"/>
          </a:xfrm>
          <a:prstGeom prst="rect">
            <a:avLst/>
          </a:prstGeom>
          <a:noFill/>
        </p:spPr>
        <p:txBody>
          <a:bodyPr wrap="square" lIns="0" rIns="0" tIns="0" bIns="0" anchor="t">
            <a:spAutoFit/>
          </a:bodyPr>
          <a:lstStyle/>
          <a:p>
            <a:pPr algn="l">
              <a:lnSpc>
                <a:spcPct val="100000"/>
              </a:lnSpc>
            </a:pPr>
            <a:r>
              <a:rPr sz="2200" b="1">
                <a:solidFill>
                  <a:srgbClr val="FAEFF5"/>
                </a:solidFill>
                <a:latin typeface="Arial"/>
              </a:rPr>
              <a:t>Pass an interview with Jarvis</a:t>
            </a:r>
          </a:p>
        </p:txBody>
      </p:sp>
      <p:sp>
        <p:nvSpPr>
          <p:cNvPr id="13" name="TextBox 12"/>
          <p:cNvSpPr txBox="1"/>
          <p:nvPr/>
        </p:nvSpPr>
        <p:spPr>
          <a:xfrm>
            <a:off x="4745736" y="4434840"/>
            <a:ext cx="2697480" cy="1188720"/>
          </a:xfrm>
          <a:prstGeom prst="rect">
            <a:avLst/>
          </a:prstGeom>
          <a:noFill/>
        </p:spPr>
        <p:txBody>
          <a:bodyPr wrap="square" lIns="0" rIns="0" tIns="0" bIns="0" anchor="t">
            <a:spAutoFit/>
          </a:bodyPr>
          <a:lstStyle/>
          <a:p>
            <a:pPr algn="l">
              <a:lnSpc>
                <a:spcPct val="115000"/>
              </a:lnSpc>
            </a:pPr>
            <a:r>
              <a:rPr sz="1500" b="0">
                <a:solidFill>
                  <a:srgbClr val="B9A7B3"/>
                </a:solidFill>
                <a:latin typeface="Arial"/>
              </a:rPr>
              <a:t>A short daily set of technical and behavioral questions. Answer by voice or by typing.</a:t>
            </a:r>
          </a:p>
        </p:txBody>
      </p:sp>
      <p:sp>
        <p:nvSpPr>
          <p:cNvPr id="14" name="Rounded Rectangle 13"/>
          <p:cNvSpPr/>
          <p:nvPr/>
        </p:nvSpPr>
        <p:spPr>
          <a:xfrm>
            <a:off x="8119871" y="2240280"/>
            <a:ext cx="3429000" cy="3520440"/>
          </a:xfrm>
          <a:prstGeom prst="roundRect">
            <a:avLst>
              <a:gd name="adj" fmla="val 6000"/>
            </a:avLst>
          </a:prstGeom>
          <a:solidFill>
            <a:srgbClr val="1D1A20"/>
          </a:solidFill>
          <a:ln w="12700">
            <a:solidFill>
              <a:srgbClr val="3D30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85632" y="2606040"/>
            <a:ext cx="658368" cy="658368"/>
          </a:xfrm>
          <a:prstGeom prst="ellipse">
            <a:avLst/>
          </a:prstGeom>
          <a:solidFill>
            <a:srgbClr val="F28DB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7121E"/>
                </a:solidFill>
                <a:latin typeface="Arial"/>
              </a:rPr>
              <a:t>3</a:t>
            </a:r>
          </a:p>
        </p:txBody>
      </p:sp>
      <p:sp>
        <p:nvSpPr>
          <p:cNvPr id="16" name="TextBox 15"/>
          <p:cNvSpPr txBox="1"/>
          <p:nvPr/>
        </p:nvSpPr>
        <p:spPr>
          <a:xfrm>
            <a:off x="8485632" y="3520440"/>
            <a:ext cx="2697480" cy="868680"/>
          </a:xfrm>
          <a:prstGeom prst="rect">
            <a:avLst/>
          </a:prstGeom>
          <a:noFill/>
        </p:spPr>
        <p:txBody>
          <a:bodyPr wrap="square" lIns="0" rIns="0" tIns="0" bIns="0" anchor="t">
            <a:spAutoFit/>
          </a:bodyPr>
          <a:lstStyle/>
          <a:p>
            <a:pPr algn="l">
              <a:lnSpc>
                <a:spcPct val="100000"/>
              </a:lnSpc>
            </a:pPr>
            <a:r>
              <a:rPr sz="2200" b="1">
                <a:solidFill>
                  <a:srgbClr val="FAEFF5"/>
                </a:solidFill>
                <a:latin typeface="Arial"/>
              </a:rPr>
              <a:t>Earn your break</a:t>
            </a:r>
          </a:p>
        </p:txBody>
      </p:sp>
      <p:sp>
        <p:nvSpPr>
          <p:cNvPr id="17" name="TextBox 16"/>
          <p:cNvSpPr txBox="1"/>
          <p:nvPr/>
        </p:nvSpPr>
        <p:spPr>
          <a:xfrm>
            <a:off x="8485632" y="4434840"/>
            <a:ext cx="2697480" cy="1188720"/>
          </a:xfrm>
          <a:prstGeom prst="rect">
            <a:avLst/>
          </a:prstGeom>
          <a:noFill/>
        </p:spPr>
        <p:txBody>
          <a:bodyPr wrap="square" lIns="0" rIns="0" tIns="0" bIns="0" anchor="t">
            <a:spAutoFit/>
          </a:bodyPr>
          <a:lstStyle/>
          <a:p>
            <a:pPr algn="l">
              <a:lnSpc>
                <a:spcPct val="115000"/>
              </a:lnSpc>
            </a:pPr>
            <a:r>
              <a:rPr sz="1500" b="0">
                <a:solidFill>
                  <a:srgbClr val="B9A7B3"/>
                </a:solidFill>
                <a:latin typeface="Arial"/>
              </a:rPr>
              <a:t>Pass to open a 15, 30 or 60 minute break. A missed answer returns as a different question.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11014"/>
        </a:solidFill>
        <a:effectLst/>
      </p:bgPr>
    </p:bg>
    <p:spTree>
      <p:nvGrpSpPr>
        <p:cNvPr id="1" name=""/>
        <p:cNvGrpSpPr/>
        <p:nvPr/>
      </p:nvGrpSpPr>
      <p:grpSpPr/>
      <p:sp>
        <p:nvSpPr>
          <p:cNvPr id="2" name="Oval 1"/>
          <p:cNvSpPr/>
          <p:nvPr/>
        </p:nvSpPr>
        <p:spPr>
          <a:xfrm>
            <a:off x="9692640" y="4206240"/>
            <a:ext cx="4206240" cy="4206240"/>
          </a:xfrm>
          <a:prstGeom prst="ellipse">
            <a:avLst/>
          </a:prstGeom>
          <a:noFill/>
          <a:ln w="12700">
            <a:solidFill>
              <a:srgbClr val="3D30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57200"/>
            <a:ext cx="2862865" cy="5943600"/>
          </a:xfrm>
          <a:prstGeom prst="roundRect">
            <a:avLst>
              <a:gd name="adj" fmla="val 9000"/>
            </a:avLst>
          </a:prstGeom>
          <a:solidFill>
            <a:srgbClr val="2B272C"/>
          </a:solidFill>
          <a:ln w="12700">
            <a:solidFill>
              <a:srgbClr val="4A44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creen-jarvis.jpg"/>
          <p:cNvPicPr>
            <a:picLocks noChangeAspect="1"/>
          </p:cNvPicPr>
          <p:nvPr/>
        </p:nvPicPr>
        <p:blipFill>
          <a:blip r:embed="rId3"/>
          <a:stretch>
            <a:fillRect/>
          </a:stretch>
        </p:blipFill>
        <p:spPr>
          <a:xfrm>
            <a:off x="841248" y="566928"/>
            <a:ext cx="2645889" cy="5724144"/>
          </a:xfrm>
          <a:prstGeom prst="rect">
            <a:avLst/>
          </a:prstGeom>
          <a:ln w="12700">
            <a:solidFill>
              <a:srgbClr val="111014"/>
            </a:solidFill>
          </a:ln>
        </p:spPr>
      </p:pic>
      <p:sp>
        <p:nvSpPr>
          <p:cNvPr id="5" name="TextBox 4"/>
          <p:cNvSpPr txBox="1"/>
          <p:nvPr/>
        </p:nvSpPr>
        <p:spPr>
          <a:xfrm>
            <a:off x="4343400" y="548640"/>
            <a:ext cx="7132320" cy="274320"/>
          </a:xfrm>
          <a:prstGeom prst="rect">
            <a:avLst/>
          </a:prstGeom>
          <a:noFill/>
        </p:spPr>
        <p:txBody>
          <a:bodyPr wrap="square" lIns="0" rIns="0" tIns="0" bIns="0" anchor="t">
            <a:spAutoFit/>
          </a:bodyPr>
          <a:lstStyle/>
          <a:p>
            <a:pPr algn="l"/>
            <a:r>
              <a:rPr sz="1200" b="1">
                <a:solidFill>
                  <a:srgbClr val="F28DBB"/>
                </a:solidFill>
                <a:latin typeface="Arial"/>
              </a:rPr>
              <a:t>HOW  ·  IT WORKS</a:t>
            </a:r>
          </a:p>
        </p:txBody>
      </p:sp>
      <p:sp>
        <p:nvSpPr>
          <p:cNvPr id="6" name="TextBox 5"/>
          <p:cNvSpPr txBox="1"/>
          <p:nvPr/>
        </p:nvSpPr>
        <p:spPr>
          <a:xfrm>
            <a:off x="4343400" y="868680"/>
            <a:ext cx="7223760" cy="1371600"/>
          </a:xfrm>
          <a:prstGeom prst="rect">
            <a:avLst/>
          </a:prstGeom>
          <a:noFill/>
        </p:spPr>
        <p:txBody>
          <a:bodyPr wrap="square" lIns="0" rIns="0" tIns="0" bIns="0" anchor="t">
            <a:spAutoFit/>
          </a:bodyPr>
          <a:lstStyle/>
          <a:p>
            <a:pPr algn="l">
              <a:lnSpc>
                <a:spcPct val="95000"/>
              </a:lnSpc>
            </a:pPr>
            <a:r>
              <a:rPr sz="3600" b="1">
                <a:solidFill>
                  <a:srgbClr val="FAEFF5"/>
                </a:solidFill>
                <a:latin typeface="Arial"/>
              </a:rPr>
              <a:t>Meet Jarvis,</a:t>
            </a:r>
          </a:p>
          <a:p>
            <a:pPr algn="l">
              <a:lnSpc>
                <a:spcPct val="95000"/>
              </a:lnSpc>
            </a:pPr>
            <a:r>
              <a:rPr sz="3600" b="1">
                <a:solidFill>
                  <a:srgbClr val="FAEFF5"/>
                </a:solidFill>
                <a:latin typeface="Arial"/>
              </a:rPr>
              <a:t>your AI interviewer</a:t>
            </a:r>
          </a:p>
        </p:txBody>
      </p:sp>
      <p:sp>
        <p:nvSpPr>
          <p:cNvPr id="7" name="Oval 6"/>
          <p:cNvSpPr/>
          <p:nvPr/>
        </p:nvSpPr>
        <p:spPr>
          <a:xfrm>
            <a:off x="4343400" y="2587752"/>
            <a:ext cx="310896" cy="310896"/>
          </a:xfrm>
          <a:prstGeom prst="ellipse">
            <a:avLst/>
          </a:prstGeom>
          <a:solidFill>
            <a:srgbClr val="F28D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92040" y="2514600"/>
            <a:ext cx="6583680" cy="365760"/>
          </a:xfrm>
          <a:prstGeom prst="rect">
            <a:avLst/>
          </a:prstGeom>
          <a:noFill/>
        </p:spPr>
        <p:txBody>
          <a:bodyPr wrap="square" lIns="0" rIns="0" tIns="0" bIns="0" anchor="t">
            <a:spAutoFit/>
          </a:bodyPr>
          <a:lstStyle/>
          <a:p>
            <a:pPr algn="l"/>
            <a:r>
              <a:rPr sz="1900" b="1">
                <a:solidFill>
                  <a:srgbClr val="FAEFF5"/>
                </a:solidFill>
                <a:latin typeface="Arial"/>
              </a:rPr>
              <a:t>He asks, then listens</a:t>
            </a:r>
          </a:p>
        </p:txBody>
      </p:sp>
      <p:sp>
        <p:nvSpPr>
          <p:cNvPr id="9" name="TextBox 8"/>
          <p:cNvSpPr txBox="1"/>
          <p:nvPr/>
        </p:nvSpPr>
        <p:spPr>
          <a:xfrm>
            <a:off x="4892040" y="2898648"/>
            <a:ext cx="6583680" cy="411480"/>
          </a:xfrm>
          <a:prstGeom prst="rect">
            <a:avLst/>
          </a:prstGeom>
          <a:noFill/>
        </p:spPr>
        <p:txBody>
          <a:bodyPr wrap="square" lIns="0" rIns="0" tIns="0" bIns="0" anchor="t">
            <a:spAutoFit/>
          </a:bodyPr>
          <a:lstStyle/>
          <a:p>
            <a:pPr algn="l"/>
            <a:r>
              <a:rPr sz="1400" b="0">
                <a:solidFill>
                  <a:srgbClr val="B9A7B3"/>
                </a:solidFill>
                <a:latin typeface="Arial"/>
              </a:rPr>
              <a:t>Answer out loud or type it. He reads each question to you.</a:t>
            </a:r>
          </a:p>
        </p:txBody>
      </p:sp>
      <p:sp>
        <p:nvSpPr>
          <p:cNvPr id="10" name="Oval 9"/>
          <p:cNvSpPr/>
          <p:nvPr/>
        </p:nvSpPr>
        <p:spPr>
          <a:xfrm>
            <a:off x="4343400" y="3502152"/>
            <a:ext cx="310896" cy="310896"/>
          </a:xfrm>
          <a:prstGeom prst="ellipse">
            <a:avLst/>
          </a:prstGeom>
          <a:solidFill>
            <a:srgbClr val="F28D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92040" y="3429000"/>
            <a:ext cx="6583680" cy="365760"/>
          </a:xfrm>
          <a:prstGeom prst="rect">
            <a:avLst/>
          </a:prstGeom>
          <a:noFill/>
        </p:spPr>
        <p:txBody>
          <a:bodyPr wrap="square" lIns="0" rIns="0" tIns="0" bIns="0" anchor="t">
            <a:spAutoFit/>
          </a:bodyPr>
          <a:lstStyle/>
          <a:p>
            <a:pPr algn="l"/>
            <a:r>
              <a:rPr sz="1900" b="1">
                <a:solidFill>
                  <a:srgbClr val="FAEFF5"/>
                </a:solidFill>
                <a:latin typeface="Arial"/>
              </a:rPr>
              <a:t>Clarifying questions are free</a:t>
            </a:r>
          </a:p>
        </p:txBody>
      </p:sp>
      <p:sp>
        <p:nvSpPr>
          <p:cNvPr id="12" name="TextBox 11"/>
          <p:cNvSpPr txBox="1"/>
          <p:nvPr/>
        </p:nvSpPr>
        <p:spPr>
          <a:xfrm>
            <a:off x="4892040" y="3813048"/>
            <a:ext cx="6583680" cy="411480"/>
          </a:xfrm>
          <a:prstGeom prst="rect">
            <a:avLst/>
          </a:prstGeom>
          <a:noFill/>
        </p:spPr>
        <p:txBody>
          <a:bodyPr wrap="square" lIns="0" rIns="0" tIns="0" bIns="0" anchor="t">
            <a:spAutoFit/>
          </a:bodyPr>
          <a:lstStyle/>
          <a:p>
            <a:pPr algn="l"/>
            <a:r>
              <a:rPr sz="1400" b="0">
                <a:solidFill>
                  <a:srgbClr val="B9A7B3"/>
                </a:solidFill>
                <a:latin typeface="Arial"/>
              </a:rPr>
              <a:t>Ask what he means before you answer. It is never graded.</a:t>
            </a:r>
          </a:p>
        </p:txBody>
      </p:sp>
      <p:sp>
        <p:nvSpPr>
          <p:cNvPr id="13" name="Oval 12"/>
          <p:cNvSpPr/>
          <p:nvPr/>
        </p:nvSpPr>
        <p:spPr>
          <a:xfrm>
            <a:off x="4343400" y="4416552"/>
            <a:ext cx="310896" cy="310896"/>
          </a:xfrm>
          <a:prstGeom prst="ellipse">
            <a:avLst/>
          </a:prstGeom>
          <a:solidFill>
            <a:srgbClr val="F28D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92040" y="4343400"/>
            <a:ext cx="6583680" cy="365760"/>
          </a:xfrm>
          <a:prstGeom prst="rect">
            <a:avLst/>
          </a:prstGeom>
          <a:noFill/>
        </p:spPr>
        <p:txBody>
          <a:bodyPr wrap="square" lIns="0" rIns="0" tIns="0" bIns="0" anchor="t">
            <a:spAutoFit/>
          </a:bodyPr>
          <a:lstStyle/>
          <a:p>
            <a:pPr algn="l"/>
            <a:r>
              <a:rPr sz="1900" b="1">
                <a:solidFill>
                  <a:srgbClr val="FAEFF5"/>
                </a:solidFill>
                <a:latin typeface="Arial"/>
              </a:rPr>
              <a:t>Hints cost evaluation points</a:t>
            </a:r>
          </a:p>
        </p:txBody>
      </p:sp>
      <p:sp>
        <p:nvSpPr>
          <p:cNvPr id="15" name="TextBox 14"/>
          <p:cNvSpPr txBox="1"/>
          <p:nvPr/>
        </p:nvSpPr>
        <p:spPr>
          <a:xfrm>
            <a:off x="4892040" y="4727448"/>
            <a:ext cx="6583680" cy="411480"/>
          </a:xfrm>
          <a:prstGeom prst="rect">
            <a:avLst/>
          </a:prstGeom>
          <a:noFill/>
        </p:spPr>
        <p:txBody>
          <a:bodyPr wrap="square" lIns="0" rIns="0" tIns="0" bIns="0" anchor="t">
            <a:spAutoFit/>
          </a:bodyPr>
          <a:lstStyle/>
          <a:p>
            <a:pPr algn="l"/>
            <a:r>
              <a:rPr sz="1400" b="0">
                <a:solidFill>
                  <a:srgbClr val="B9A7B3"/>
                </a:solidFill>
                <a:latin typeface="Arial"/>
              </a:rPr>
              <a:t>Ten points each, three per question. Pass or fail uses the raw grade.</a:t>
            </a:r>
          </a:p>
        </p:txBody>
      </p:sp>
      <p:sp>
        <p:nvSpPr>
          <p:cNvPr id="16" name="Oval 15"/>
          <p:cNvSpPr/>
          <p:nvPr/>
        </p:nvSpPr>
        <p:spPr>
          <a:xfrm>
            <a:off x="4343400" y="5330952"/>
            <a:ext cx="310896" cy="310896"/>
          </a:xfrm>
          <a:prstGeom prst="ellipse">
            <a:avLst/>
          </a:prstGeom>
          <a:solidFill>
            <a:srgbClr val="F28D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92040" y="5257800"/>
            <a:ext cx="6583680" cy="365760"/>
          </a:xfrm>
          <a:prstGeom prst="rect">
            <a:avLst/>
          </a:prstGeom>
          <a:noFill/>
        </p:spPr>
        <p:txBody>
          <a:bodyPr wrap="square" lIns="0" rIns="0" tIns="0" bIns="0" anchor="t">
            <a:spAutoFit/>
          </a:bodyPr>
          <a:lstStyle/>
          <a:p>
            <a:pPr algn="l"/>
            <a:r>
              <a:rPr sz="1900" b="1">
                <a:solidFill>
                  <a:srgbClr val="FAEFF5"/>
                </a:solidFill>
                <a:latin typeface="Arial"/>
              </a:rPr>
              <a:t>Feedback on what you said</a:t>
            </a:r>
          </a:p>
        </p:txBody>
      </p:sp>
      <p:sp>
        <p:nvSpPr>
          <p:cNvPr id="18" name="TextBox 17"/>
          <p:cNvSpPr txBox="1"/>
          <p:nvPr/>
        </p:nvSpPr>
        <p:spPr>
          <a:xfrm>
            <a:off x="4892040" y="5641848"/>
            <a:ext cx="6583680" cy="411480"/>
          </a:xfrm>
          <a:prstGeom prst="rect">
            <a:avLst/>
          </a:prstGeom>
          <a:noFill/>
        </p:spPr>
        <p:txBody>
          <a:bodyPr wrap="square" lIns="0" rIns="0" tIns="0" bIns="0" anchor="t">
            <a:spAutoFit/>
          </a:bodyPr>
          <a:lstStyle/>
          <a:p>
            <a:pPr algn="l"/>
            <a:r>
              <a:rPr sz="1400" b="0">
                <a:solidFill>
                  <a:srgbClr val="B9A7B3"/>
                </a:solidFill>
                <a:latin typeface="Arial"/>
              </a:rPr>
              <a:t>Behavioral answers get STAR feedback, line by line.</a:t>
            </a:r>
          </a:p>
        </p:txBody>
      </p:sp>
      <p:sp>
        <p:nvSpPr>
          <p:cNvPr id="19" name="TextBox 18"/>
          <p:cNvSpPr txBox="1"/>
          <p:nvPr/>
        </p:nvSpPr>
        <p:spPr>
          <a:xfrm>
            <a:off x="10911535" y="6309360"/>
            <a:ext cx="640080" cy="274320"/>
          </a:xfrm>
          <a:prstGeom prst="rect">
            <a:avLst/>
          </a:prstGeom>
          <a:noFill/>
        </p:spPr>
        <p:txBody>
          <a:bodyPr wrap="square" lIns="0" rIns="0" tIns="0" bIns="0" anchor="t">
            <a:spAutoFit/>
          </a:bodyPr>
          <a:lstStyle/>
          <a:p>
            <a:pPr algn="r"/>
            <a:r>
              <a:rPr sz="1100" b="0">
                <a:solidFill>
                  <a:srgbClr val="B9A7B3"/>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014"/>
        </a:solidFill>
        <a:effectLst/>
      </p:bgPr>
    </p:bg>
    <p:spTree>
      <p:nvGrpSpPr>
        <p:cNvPr id="1" name=""/>
        <p:cNvGrpSpPr/>
        <p:nvPr/>
      </p:nvGrpSpPr>
      <p:grpSpPr/>
      <p:sp>
        <p:nvSpPr>
          <p:cNvPr id="2" name="TextBox 1"/>
          <p:cNvSpPr txBox="1"/>
          <p:nvPr/>
        </p:nvSpPr>
        <p:spPr>
          <a:xfrm>
            <a:off x="640080" y="548640"/>
            <a:ext cx="7498079" cy="274320"/>
          </a:xfrm>
          <a:prstGeom prst="rect">
            <a:avLst/>
          </a:prstGeom>
          <a:noFill/>
        </p:spPr>
        <p:txBody>
          <a:bodyPr wrap="square" lIns="0" rIns="0" tIns="0" bIns="0" anchor="t">
            <a:spAutoFit/>
          </a:bodyPr>
          <a:lstStyle/>
          <a:p>
            <a:pPr algn="l"/>
            <a:r>
              <a:rPr sz="1200" b="1">
                <a:solidFill>
                  <a:srgbClr val="F28DBB"/>
                </a:solidFill>
                <a:latin typeface="Arial"/>
              </a:rPr>
              <a:t>HOW  ·  IT WORKS</a:t>
            </a:r>
          </a:p>
        </p:txBody>
      </p:sp>
      <p:sp>
        <p:nvSpPr>
          <p:cNvPr id="3" name="TextBox 2"/>
          <p:cNvSpPr txBox="1"/>
          <p:nvPr/>
        </p:nvSpPr>
        <p:spPr>
          <a:xfrm>
            <a:off x="640080" y="868680"/>
            <a:ext cx="7498079" cy="1097280"/>
          </a:xfrm>
          <a:prstGeom prst="rect">
            <a:avLst/>
          </a:prstGeom>
          <a:noFill/>
        </p:spPr>
        <p:txBody>
          <a:bodyPr wrap="square" lIns="0" rIns="0" tIns="0" bIns="0" anchor="t">
            <a:spAutoFit/>
          </a:bodyPr>
          <a:lstStyle/>
          <a:p>
            <a:pPr algn="l">
              <a:lnSpc>
                <a:spcPct val="95000"/>
              </a:lnSpc>
            </a:pPr>
            <a:r>
              <a:rPr sz="3600" b="1">
                <a:solidFill>
                  <a:srgbClr val="FAEFF5"/>
                </a:solidFill>
                <a:latin typeface="Arial"/>
              </a:rPr>
              <a:t>Know where you stand</a:t>
            </a:r>
          </a:p>
        </p:txBody>
      </p:sp>
      <p:sp>
        <p:nvSpPr>
          <p:cNvPr id="4" name="TextBox 3"/>
          <p:cNvSpPr txBox="1"/>
          <p:nvPr/>
        </p:nvSpPr>
        <p:spPr>
          <a:xfrm>
            <a:off x="10911535" y="6309360"/>
            <a:ext cx="640080" cy="274320"/>
          </a:xfrm>
          <a:prstGeom prst="rect">
            <a:avLst/>
          </a:prstGeom>
          <a:noFill/>
        </p:spPr>
        <p:txBody>
          <a:bodyPr wrap="square" lIns="0" rIns="0" tIns="0" bIns="0" anchor="t">
            <a:spAutoFit/>
          </a:bodyPr>
          <a:lstStyle/>
          <a:p>
            <a:pPr algn="r"/>
            <a:r>
              <a:rPr sz="1100" b="0">
                <a:solidFill>
                  <a:srgbClr val="B9A7B3"/>
                </a:solidFill>
                <a:latin typeface="Arial"/>
              </a:rPr>
              <a:t>09</a:t>
            </a:r>
          </a:p>
        </p:txBody>
      </p:sp>
      <p:sp>
        <p:nvSpPr>
          <p:cNvPr id="5" name="TextBox 4"/>
          <p:cNvSpPr txBox="1"/>
          <p:nvPr/>
        </p:nvSpPr>
        <p:spPr>
          <a:xfrm>
            <a:off x="640080" y="6309360"/>
            <a:ext cx="2743200" cy="274320"/>
          </a:xfrm>
          <a:prstGeom prst="rect">
            <a:avLst/>
          </a:prstGeom>
          <a:noFill/>
        </p:spPr>
        <p:txBody>
          <a:bodyPr wrap="square" lIns="0" rIns="0" tIns="0" bIns="0" anchor="t">
            <a:spAutoFit/>
          </a:bodyPr>
          <a:lstStyle/>
          <a:p>
            <a:pPr algn="l"/>
            <a:r>
              <a:rPr sz="1100" b="1">
                <a:solidFill>
                  <a:srgbClr val="B9A7B3"/>
                </a:solidFill>
                <a:latin typeface="Arial"/>
              </a:rPr>
              <a:t>unscroll</a:t>
            </a:r>
            <a:r>
              <a:rPr sz="1100" b="1">
                <a:solidFill>
                  <a:srgbClr val="F28DBB"/>
                </a:solidFill>
                <a:latin typeface="Arial"/>
              </a:rPr>
              <a:t>.</a:t>
            </a:r>
          </a:p>
        </p:txBody>
      </p:sp>
      <p:sp>
        <p:nvSpPr>
          <p:cNvPr id="6" name="TextBox 5"/>
          <p:cNvSpPr txBox="1"/>
          <p:nvPr/>
        </p:nvSpPr>
        <p:spPr>
          <a:xfrm>
            <a:off x="640080" y="2057400"/>
            <a:ext cx="7223760" cy="822960"/>
          </a:xfrm>
          <a:prstGeom prst="rect">
            <a:avLst/>
          </a:prstGeom>
          <a:noFill/>
        </p:spPr>
        <p:txBody>
          <a:bodyPr wrap="square" lIns="0" rIns="0" tIns="0" bIns="0" anchor="t">
            <a:spAutoFit/>
          </a:bodyPr>
          <a:lstStyle/>
          <a:p>
            <a:pPr algn="l">
              <a:lnSpc>
                <a:spcPct val="115000"/>
              </a:lnSpc>
            </a:pPr>
            <a:r>
              <a:rPr sz="1800" b="0">
                <a:solidFill>
                  <a:srgbClr val="B9A7B3"/>
                </a:solidFill>
                <a:latin typeface="Arial"/>
              </a:rPr>
              <a:t>Three skill standings from your graded answers, and a road map of five levels you can drag.</a:t>
            </a:r>
          </a:p>
        </p:txBody>
      </p:sp>
      <p:sp>
        <p:nvSpPr>
          <p:cNvPr id="7" name="Rounded Rectangle 6"/>
          <p:cNvSpPr/>
          <p:nvPr/>
        </p:nvSpPr>
        <p:spPr>
          <a:xfrm>
            <a:off x="640080" y="3154680"/>
            <a:ext cx="7223760" cy="2743200"/>
          </a:xfrm>
          <a:prstGeom prst="roundRect">
            <a:avLst>
              <a:gd name="adj" fmla="val 6000"/>
            </a:avLst>
          </a:prstGeom>
          <a:solidFill>
            <a:srgbClr val="1D1A20"/>
          </a:solidFill>
          <a:ln w="12700">
            <a:solidFill>
              <a:srgbClr val="3D30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3310128"/>
            <a:ext cx="1280160" cy="274320"/>
          </a:xfrm>
          <a:prstGeom prst="rect">
            <a:avLst/>
          </a:prstGeom>
          <a:noFill/>
        </p:spPr>
        <p:txBody>
          <a:bodyPr wrap="square" lIns="0" rIns="0" tIns="0" bIns="0" anchor="t">
            <a:spAutoFit/>
          </a:bodyPr>
          <a:lstStyle/>
          <a:p>
            <a:pPr algn="r"/>
            <a:r>
              <a:rPr sz="1000" b="1">
                <a:solidFill>
                  <a:srgbClr val="B9A7B3"/>
                </a:solidFill>
                <a:latin typeface="Arial"/>
              </a:rPr>
              <a:t>ILLUSTRATION</a:t>
            </a:r>
          </a:p>
        </p:txBody>
      </p:sp>
      <p:sp>
        <p:nvSpPr>
          <p:cNvPr id="9" name="TextBox 8"/>
          <p:cNvSpPr txBox="1"/>
          <p:nvPr/>
        </p:nvSpPr>
        <p:spPr>
          <a:xfrm>
            <a:off x="960120" y="3611880"/>
            <a:ext cx="4572000" cy="347472"/>
          </a:xfrm>
          <a:prstGeom prst="rect">
            <a:avLst/>
          </a:prstGeom>
          <a:noFill/>
        </p:spPr>
        <p:txBody>
          <a:bodyPr wrap="square" lIns="0" rIns="0" tIns="0" bIns="0" anchor="t">
            <a:spAutoFit/>
          </a:bodyPr>
          <a:lstStyle/>
          <a:p>
            <a:pPr algn="l"/>
            <a:r>
              <a:rPr sz="1700" b="1">
                <a:solidFill>
                  <a:srgbClr val="FAEFF5"/>
                </a:solidFill>
                <a:latin typeface="Arial"/>
              </a:rPr>
              <a:t>Communication</a:t>
            </a:r>
          </a:p>
        </p:txBody>
      </p:sp>
      <p:sp>
        <p:nvSpPr>
          <p:cNvPr id="10" name="Rounded Rectangle 9"/>
          <p:cNvSpPr/>
          <p:nvPr/>
        </p:nvSpPr>
        <p:spPr>
          <a:xfrm>
            <a:off x="960120" y="3995928"/>
            <a:ext cx="6583680" cy="146304"/>
          </a:xfrm>
          <a:prstGeom prst="roundRect">
            <a:avLst>
              <a:gd name="adj" fmla="val 50000"/>
            </a:avLst>
          </a:prstGeom>
          <a:solidFill>
            <a:srgbClr val="352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60120" y="3995928"/>
            <a:ext cx="4740249" cy="146304"/>
          </a:xfrm>
          <a:prstGeom prst="roundRect">
            <a:avLst>
              <a:gd name="adj" fmla="val 50000"/>
            </a:avLst>
          </a:prstGeom>
          <a:solidFill>
            <a:srgbClr val="F28D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325112"/>
            <a:ext cx="4572000" cy="347472"/>
          </a:xfrm>
          <a:prstGeom prst="rect">
            <a:avLst/>
          </a:prstGeom>
          <a:noFill/>
        </p:spPr>
        <p:txBody>
          <a:bodyPr wrap="square" lIns="0" rIns="0" tIns="0" bIns="0" anchor="t">
            <a:spAutoFit/>
          </a:bodyPr>
          <a:lstStyle/>
          <a:p>
            <a:pPr algn="l"/>
            <a:r>
              <a:rPr sz="1700" b="1">
                <a:solidFill>
                  <a:srgbClr val="FAEFF5"/>
                </a:solidFill>
                <a:latin typeface="Arial"/>
              </a:rPr>
              <a:t>Technical discussion</a:t>
            </a:r>
          </a:p>
        </p:txBody>
      </p:sp>
      <p:sp>
        <p:nvSpPr>
          <p:cNvPr id="13" name="Rounded Rectangle 12"/>
          <p:cNvSpPr/>
          <p:nvPr/>
        </p:nvSpPr>
        <p:spPr>
          <a:xfrm>
            <a:off x="960120" y="4709160"/>
            <a:ext cx="6583680" cy="146304"/>
          </a:xfrm>
          <a:prstGeom prst="roundRect">
            <a:avLst>
              <a:gd name="adj" fmla="val 50000"/>
            </a:avLst>
          </a:prstGeom>
          <a:solidFill>
            <a:srgbClr val="352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60120" y="4709160"/>
            <a:ext cx="3686860" cy="146304"/>
          </a:xfrm>
          <a:prstGeom prst="roundRect">
            <a:avLst>
              <a:gd name="adj" fmla="val 50000"/>
            </a:avLst>
          </a:prstGeom>
          <a:solidFill>
            <a:srgbClr val="F28D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5038344"/>
            <a:ext cx="4572000" cy="347472"/>
          </a:xfrm>
          <a:prstGeom prst="rect">
            <a:avLst/>
          </a:prstGeom>
          <a:noFill/>
        </p:spPr>
        <p:txBody>
          <a:bodyPr wrap="square" lIns="0" rIns="0" tIns="0" bIns="0" anchor="t">
            <a:spAutoFit/>
          </a:bodyPr>
          <a:lstStyle/>
          <a:p>
            <a:pPr algn="l"/>
            <a:r>
              <a:rPr sz="1700" b="1">
                <a:solidFill>
                  <a:srgbClr val="FAEFF5"/>
                </a:solidFill>
                <a:latin typeface="Arial"/>
              </a:rPr>
              <a:t>Coding</a:t>
            </a:r>
          </a:p>
        </p:txBody>
      </p:sp>
      <p:sp>
        <p:nvSpPr>
          <p:cNvPr id="16" name="Rounded Rectangle 15"/>
          <p:cNvSpPr/>
          <p:nvPr/>
        </p:nvSpPr>
        <p:spPr>
          <a:xfrm>
            <a:off x="960120" y="5422392"/>
            <a:ext cx="6583680" cy="146304"/>
          </a:xfrm>
          <a:prstGeom prst="roundRect">
            <a:avLst>
              <a:gd name="adj" fmla="val 50000"/>
            </a:avLst>
          </a:prstGeom>
          <a:solidFill>
            <a:srgbClr val="352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60120" y="5422392"/>
            <a:ext cx="2238451" cy="146304"/>
          </a:xfrm>
          <a:prstGeom prst="roundRect">
            <a:avLst>
              <a:gd name="adj" fmla="val 50000"/>
            </a:avLst>
          </a:prstGeom>
          <a:solidFill>
            <a:srgbClr val="F28D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668512" y="457200"/>
            <a:ext cx="2862865" cy="5943600"/>
          </a:xfrm>
          <a:prstGeom prst="roundRect">
            <a:avLst>
              <a:gd name="adj" fmla="val 9000"/>
            </a:avLst>
          </a:prstGeom>
          <a:solidFill>
            <a:srgbClr val="2B272C"/>
          </a:solidFill>
          <a:ln w="12700">
            <a:solidFill>
              <a:srgbClr val="4A44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screen-roadmap.jpg"/>
          <p:cNvPicPr>
            <a:picLocks noChangeAspect="1"/>
          </p:cNvPicPr>
          <p:nvPr/>
        </p:nvPicPr>
        <p:blipFill>
          <a:blip r:embed="rId3"/>
          <a:stretch>
            <a:fillRect/>
          </a:stretch>
        </p:blipFill>
        <p:spPr>
          <a:xfrm>
            <a:off x="8778240" y="566928"/>
            <a:ext cx="2644625" cy="5724144"/>
          </a:xfrm>
          <a:prstGeom prst="rect">
            <a:avLst/>
          </a:prstGeom>
          <a:ln w="12700">
            <a:solidFill>
              <a:srgbClr val="111014"/>
            </a:solidFill>
          </a:ln>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11014"/>
        </a:solidFill>
        <a:effectLst/>
      </p:bgPr>
    </p:bg>
    <p:spTree>
      <p:nvGrpSpPr>
        <p:cNvPr id="1" name=""/>
        <p:cNvGrpSpPr/>
        <p:nvPr/>
      </p:nvGrpSpPr>
      <p:grpSpPr/>
      <p:sp>
        <p:nvSpPr>
          <p:cNvPr id="2" name="TextBox 1"/>
          <p:cNvSpPr txBox="1"/>
          <p:nvPr/>
        </p:nvSpPr>
        <p:spPr>
          <a:xfrm>
            <a:off x="640080" y="548640"/>
            <a:ext cx="10881360" cy="274320"/>
          </a:xfrm>
          <a:prstGeom prst="rect">
            <a:avLst/>
          </a:prstGeom>
          <a:noFill/>
        </p:spPr>
        <p:txBody>
          <a:bodyPr wrap="square" lIns="0" rIns="0" tIns="0" bIns="0" anchor="t">
            <a:spAutoFit/>
          </a:bodyPr>
          <a:lstStyle/>
          <a:p>
            <a:pPr algn="l"/>
            <a:r>
              <a:rPr sz="1200" b="1">
                <a:solidFill>
                  <a:srgbClr val="F28DBB"/>
                </a:solidFill>
                <a:latin typeface="Arial"/>
              </a:rPr>
              <a:t>THE FILM</a:t>
            </a:r>
          </a:p>
        </p:txBody>
      </p:sp>
      <p:sp>
        <p:nvSpPr>
          <p:cNvPr id="3" name="TextBox 2"/>
          <p:cNvSpPr txBox="1"/>
          <p:nvPr/>
        </p:nvSpPr>
        <p:spPr>
          <a:xfrm>
            <a:off x="640080" y="868680"/>
            <a:ext cx="10881360" cy="1097280"/>
          </a:xfrm>
          <a:prstGeom prst="rect">
            <a:avLst/>
          </a:prstGeom>
          <a:noFill/>
        </p:spPr>
        <p:txBody>
          <a:bodyPr wrap="square" lIns="0" rIns="0" tIns="0" bIns="0" anchor="t">
            <a:spAutoFit/>
          </a:bodyPr>
          <a:lstStyle/>
          <a:p>
            <a:pPr algn="l">
              <a:lnSpc>
                <a:spcPct val="95000"/>
              </a:lnSpc>
            </a:pPr>
            <a:r>
              <a:rPr sz="3600" b="1">
                <a:solidFill>
                  <a:srgbClr val="FAEFF5"/>
                </a:solidFill>
                <a:latin typeface="Arial"/>
              </a:rPr>
              <a:t>Why, what and how in forty seconds</a:t>
            </a:r>
          </a:p>
        </p:txBody>
      </p:sp>
      <p:sp>
        <p:nvSpPr>
          <p:cNvPr id="4" name="TextBox 3"/>
          <p:cNvSpPr txBox="1"/>
          <p:nvPr/>
        </p:nvSpPr>
        <p:spPr>
          <a:xfrm>
            <a:off x="10911535" y="6309360"/>
            <a:ext cx="640080" cy="274320"/>
          </a:xfrm>
          <a:prstGeom prst="rect">
            <a:avLst/>
          </a:prstGeom>
          <a:noFill/>
        </p:spPr>
        <p:txBody>
          <a:bodyPr wrap="square" lIns="0" rIns="0" tIns="0" bIns="0" anchor="t">
            <a:spAutoFit/>
          </a:bodyPr>
          <a:lstStyle/>
          <a:p>
            <a:pPr algn="r"/>
            <a:r>
              <a:rPr sz="1100" b="0">
                <a:solidFill>
                  <a:srgbClr val="B9A7B3"/>
                </a:solidFill>
                <a:latin typeface="Arial"/>
              </a:rPr>
              <a:t>10</a:t>
            </a:r>
          </a:p>
        </p:txBody>
      </p:sp>
      <p:sp>
        <p:nvSpPr>
          <p:cNvPr id="5" name="TextBox 4"/>
          <p:cNvSpPr txBox="1"/>
          <p:nvPr/>
        </p:nvSpPr>
        <p:spPr>
          <a:xfrm>
            <a:off x="640080" y="6309360"/>
            <a:ext cx="2743200" cy="274320"/>
          </a:xfrm>
          <a:prstGeom prst="rect">
            <a:avLst/>
          </a:prstGeom>
          <a:noFill/>
        </p:spPr>
        <p:txBody>
          <a:bodyPr wrap="square" lIns="0" rIns="0" tIns="0" bIns="0" anchor="t">
            <a:spAutoFit/>
          </a:bodyPr>
          <a:lstStyle/>
          <a:p>
            <a:pPr algn="l"/>
            <a:r>
              <a:rPr sz="1100" b="1">
                <a:solidFill>
                  <a:srgbClr val="B9A7B3"/>
                </a:solidFill>
                <a:latin typeface="Arial"/>
              </a:rPr>
              <a:t>unscroll</a:t>
            </a:r>
            <a:r>
              <a:rPr sz="1100" b="1">
                <a:solidFill>
                  <a:srgbClr val="F28DBB"/>
                </a:solidFill>
                <a:latin typeface="Arial"/>
              </a:rPr>
              <a:t>.</a:t>
            </a:r>
          </a:p>
        </p:txBody>
      </p:sp>
      <p:pic>
        <p:nvPicPr>
          <p:cNvPr id="6" name="unscroll-ad.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640080" y="2103120"/>
            <a:ext cx="6217920" cy="3497580"/>
          </a:xfrm>
          <a:prstGeom prst="rect">
            <a:avLst/>
          </a:prstGeom>
        </p:spPr>
      </p:pic>
      <p:sp>
        <p:nvSpPr>
          <p:cNvPr id="7" name="TextBox 6"/>
          <p:cNvSpPr txBox="1"/>
          <p:nvPr/>
        </p:nvSpPr>
        <p:spPr>
          <a:xfrm>
            <a:off x="640080" y="5687568"/>
            <a:ext cx="3291840" cy="457200"/>
          </a:xfrm>
          <a:prstGeom prst="rect">
            <a:avLst/>
          </a:prstGeom>
          <a:noFill/>
        </p:spPr>
        <p:txBody>
          <a:bodyPr wrap="square" lIns="0" rIns="0" tIns="0" bIns="0" anchor="ctr">
            <a:spAutoFit/>
          </a:bodyPr>
          <a:lstStyle/>
          <a:p>
            <a:pPr algn="l"/>
            <a:r>
              <a:rPr sz="1300" b="0">
                <a:solidFill>
                  <a:srgbClr val="B9A7B3"/>
                </a:solidFill>
                <a:latin typeface="Arial"/>
              </a:rPr>
              <a:t>Click the picture to play it here</a:t>
            </a:r>
          </a:p>
        </p:txBody>
      </p:sp>
      <p:sp>
        <p:nvSpPr>
          <p:cNvPr id="8" name="Rounded Rectangle 7">
            <a:hlinkClick r:id="rId6"/>
          </p:cNvPr>
          <p:cNvSpPr/>
          <p:nvPr/>
        </p:nvSpPr>
        <p:spPr>
          <a:xfrm>
            <a:off x="4023360" y="5687568"/>
            <a:ext cx="2834640" cy="457200"/>
          </a:xfrm>
          <a:prstGeom prst="roundRect">
            <a:avLst>
              <a:gd name="adj" fmla="val 50000"/>
            </a:avLst>
          </a:prstGeom>
          <a:solidFill>
            <a:srgbClr val="F28D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a:hlinkClick r:id="rId6"/>
          </p:cNvPr>
          <p:cNvSpPr txBox="1"/>
          <p:nvPr/>
        </p:nvSpPr>
        <p:spPr>
          <a:xfrm>
            <a:off x="4023360" y="5687568"/>
            <a:ext cx="2834640" cy="457200"/>
          </a:xfrm>
          <a:prstGeom prst="rect">
            <a:avLst/>
          </a:prstGeom>
          <a:noFill/>
        </p:spPr>
        <p:txBody>
          <a:bodyPr wrap="square" lIns="0" rIns="0" tIns="0" bIns="0" anchor="ctr">
            <a:spAutoFit/>
          </a:bodyPr>
          <a:lstStyle/>
          <a:p>
            <a:pPr algn="ctr"/>
            <a:r>
              <a:rPr sz="1400" b="1">
                <a:solidFill>
                  <a:srgbClr val="27121E"/>
                </a:solidFill>
                <a:latin typeface="Arial"/>
              </a:rPr>
              <a:t>Also on YouTube</a:t>
            </a:r>
          </a:p>
        </p:txBody>
      </p:sp>
      <p:sp>
        <p:nvSpPr>
          <p:cNvPr id="10" name="Rounded Rectangle 9"/>
          <p:cNvSpPr/>
          <p:nvPr/>
        </p:nvSpPr>
        <p:spPr>
          <a:xfrm>
            <a:off x="7315200" y="2103120"/>
            <a:ext cx="4233672" cy="1097280"/>
          </a:xfrm>
          <a:prstGeom prst="roundRect">
            <a:avLst>
              <a:gd name="adj" fmla="val 6000"/>
            </a:avLst>
          </a:prstGeom>
          <a:solidFill>
            <a:srgbClr val="1D1A20"/>
          </a:solidFill>
          <a:ln w="12700">
            <a:solidFill>
              <a:srgbClr val="3D30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0" y="2249424"/>
            <a:ext cx="3657600" cy="274320"/>
          </a:xfrm>
          <a:prstGeom prst="rect">
            <a:avLst/>
          </a:prstGeom>
          <a:noFill/>
        </p:spPr>
        <p:txBody>
          <a:bodyPr wrap="square" lIns="0" rIns="0" tIns="0" bIns="0" anchor="t">
            <a:spAutoFit/>
          </a:bodyPr>
          <a:lstStyle/>
          <a:p>
            <a:pPr algn="l"/>
            <a:r>
              <a:rPr sz="1200" b="1">
                <a:solidFill>
                  <a:srgbClr val="F28DBB"/>
                </a:solidFill>
                <a:latin typeface="Arial"/>
              </a:rPr>
              <a:t>WHY</a:t>
            </a:r>
          </a:p>
        </p:txBody>
      </p:sp>
      <p:sp>
        <p:nvSpPr>
          <p:cNvPr id="12" name="TextBox 11"/>
          <p:cNvSpPr txBox="1"/>
          <p:nvPr/>
        </p:nvSpPr>
        <p:spPr>
          <a:xfrm>
            <a:off x="7589520" y="2542032"/>
            <a:ext cx="3703320" cy="594360"/>
          </a:xfrm>
          <a:prstGeom prst="rect">
            <a:avLst/>
          </a:prstGeom>
          <a:noFill/>
        </p:spPr>
        <p:txBody>
          <a:bodyPr wrap="square" lIns="0" rIns="0" tIns="0" bIns="0" anchor="t">
            <a:spAutoFit/>
          </a:bodyPr>
          <a:lstStyle/>
          <a:p>
            <a:pPr algn="l">
              <a:lnSpc>
                <a:spcPct val="110000"/>
              </a:lnSpc>
            </a:pPr>
            <a:r>
              <a:rPr sz="1500" b="0">
                <a:solidFill>
                  <a:srgbClr val="FAEFF5"/>
                </a:solidFill>
                <a:latin typeface="Arial"/>
              </a:rPr>
              <a:t>It always starts with one more scroll.</a:t>
            </a:r>
          </a:p>
        </p:txBody>
      </p:sp>
      <p:sp>
        <p:nvSpPr>
          <p:cNvPr id="13" name="Rounded Rectangle 12"/>
          <p:cNvSpPr/>
          <p:nvPr/>
        </p:nvSpPr>
        <p:spPr>
          <a:xfrm>
            <a:off x="7315200" y="3300984"/>
            <a:ext cx="4233672" cy="1097280"/>
          </a:xfrm>
          <a:prstGeom prst="roundRect">
            <a:avLst>
              <a:gd name="adj" fmla="val 6000"/>
            </a:avLst>
          </a:prstGeom>
          <a:solidFill>
            <a:srgbClr val="1D1A20"/>
          </a:solidFill>
          <a:ln w="12700">
            <a:solidFill>
              <a:srgbClr val="3D30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0" y="3447288"/>
            <a:ext cx="3657600" cy="274320"/>
          </a:xfrm>
          <a:prstGeom prst="rect">
            <a:avLst/>
          </a:prstGeom>
          <a:noFill/>
        </p:spPr>
        <p:txBody>
          <a:bodyPr wrap="square" lIns="0" rIns="0" tIns="0" bIns="0" anchor="t">
            <a:spAutoFit/>
          </a:bodyPr>
          <a:lstStyle/>
          <a:p>
            <a:pPr algn="l"/>
            <a:r>
              <a:rPr sz="1200" b="1">
                <a:solidFill>
                  <a:srgbClr val="F28DBB"/>
                </a:solidFill>
                <a:latin typeface="Arial"/>
              </a:rPr>
              <a:t>WHAT</a:t>
            </a:r>
          </a:p>
        </p:txBody>
      </p:sp>
      <p:sp>
        <p:nvSpPr>
          <p:cNvPr id="15" name="TextBox 14"/>
          <p:cNvSpPr txBox="1"/>
          <p:nvPr/>
        </p:nvSpPr>
        <p:spPr>
          <a:xfrm>
            <a:off x="7589520" y="3739896"/>
            <a:ext cx="3703320" cy="594360"/>
          </a:xfrm>
          <a:prstGeom prst="rect">
            <a:avLst/>
          </a:prstGeom>
          <a:noFill/>
        </p:spPr>
        <p:txBody>
          <a:bodyPr wrap="square" lIns="0" rIns="0" tIns="0" bIns="0" anchor="t">
            <a:spAutoFit/>
          </a:bodyPr>
          <a:lstStyle/>
          <a:p>
            <a:pPr algn="l">
              <a:lnSpc>
                <a:spcPct val="110000"/>
              </a:lnSpc>
            </a:pPr>
            <a:r>
              <a:rPr sz="1500" b="0">
                <a:solidFill>
                  <a:srgbClr val="FAEFF5"/>
                </a:solidFill>
                <a:latin typeface="Arial"/>
              </a:rPr>
              <a:t>Your apps stay locked until you pass today's interview.</a:t>
            </a:r>
          </a:p>
        </p:txBody>
      </p:sp>
      <p:sp>
        <p:nvSpPr>
          <p:cNvPr id="16" name="Rounded Rectangle 15"/>
          <p:cNvSpPr/>
          <p:nvPr/>
        </p:nvSpPr>
        <p:spPr>
          <a:xfrm>
            <a:off x="7315200" y="4498848"/>
            <a:ext cx="4233672" cy="1097280"/>
          </a:xfrm>
          <a:prstGeom prst="roundRect">
            <a:avLst>
              <a:gd name="adj" fmla="val 6000"/>
            </a:avLst>
          </a:prstGeom>
          <a:solidFill>
            <a:srgbClr val="1D1A20"/>
          </a:solidFill>
          <a:ln w="12700">
            <a:solidFill>
              <a:srgbClr val="3D30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0" y="4645152"/>
            <a:ext cx="3657600" cy="274320"/>
          </a:xfrm>
          <a:prstGeom prst="rect">
            <a:avLst/>
          </a:prstGeom>
          <a:noFill/>
        </p:spPr>
        <p:txBody>
          <a:bodyPr wrap="square" lIns="0" rIns="0" tIns="0" bIns="0" anchor="t">
            <a:spAutoFit/>
          </a:bodyPr>
          <a:lstStyle/>
          <a:p>
            <a:pPr algn="l"/>
            <a:r>
              <a:rPr sz="1200" b="1">
                <a:solidFill>
                  <a:srgbClr val="F28DBB"/>
                </a:solidFill>
                <a:latin typeface="Arial"/>
              </a:rPr>
              <a:t>HOW</a:t>
            </a:r>
          </a:p>
        </p:txBody>
      </p:sp>
      <p:sp>
        <p:nvSpPr>
          <p:cNvPr id="18" name="TextBox 17"/>
          <p:cNvSpPr txBox="1"/>
          <p:nvPr/>
        </p:nvSpPr>
        <p:spPr>
          <a:xfrm>
            <a:off x="7589520" y="4937760"/>
            <a:ext cx="3703320" cy="594360"/>
          </a:xfrm>
          <a:prstGeom prst="rect">
            <a:avLst/>
          </a:prstGeom>
          <a:noFill/>
        </p:spPr>
        <p:txBody>
          <a:bodyPr wrap="square" lIns="0" rIns="0" tIns="0" bIns="0" anchor="t">
            <a:spAutoFit/>
          </a:bodyPr>
          <a:lstStyle/>
          <a:p>
            <a:pPr algn="l">
              <a:lnSpc>
                <a:spcPct val="110000"/>
              </a:lnSpc>
            </a:pPr>
            <a:r>
              <a:rPr sz="1500" b="0">
                <a:solidFill>
                  <a:srgbClr val="FAEFF5"/>
                </a:solidFill>
                <a:latin typeface="Arial"/>
              </a:rPr>
              <a:t>Pick your apps, pass with Jarvis, earn your break.</a:t>
            </a:r>
          </a:p>
        </p:txBody>
      </p:sp>
      <p:sp>
        <p:nvSpPr>
          <p:cNvPr id="19" name="TextBox 18">
            <a:hlinkClick r:id="rId6"/>
          </p:cNvPr>
          <p:cNvSpPr txBox="1"/>
          <p:nvPr/>
        </p:nvSpPr>
        <p:spPr>
          <a:xfrm>
            <a:off x="7315200" y="5760720"/>
            <a:ext cx="4233672" cy="320040"/>
          </a:xfrm>
          <a:prstGeom prst="rect">
            <a:avLst/>
          </a:prstGeom>
          <a:noFill/>
        </p:spPr>
        <p:txBody>
          <a:bodyPr wrap="square" lIns="0" rIns="0" tIns="0" bIns="0" anchor="t">
            <a:spAutoFit/>
          </a:bodyPr>
          <a:lstStyle/>
          <a:p>
            <a:pPr algn="l"/>
            <a:r>
              <a:rPr sz="1300" b="0">
                <a:solidFill>
                  <a:srgbClr val="B9A7B3"/>
                </a:solidFill>
                <a:latin typeface="Arial"/>
              </a:rPr>
              <a:t>youtu.be/fKccxDHB6GI</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11014"/>
        </a:solidFill>
        <a:effectLst/>
      </p:bgPr>
    </p:bg>
    <p:spTree>
      <p:nvGrpSpPr>
        <p:cNvPr id="1" name=""/>
        <p:cNvGrpSpPr/>
        <p:nvPr/>
      </p:nvGrpSpPr>
      <p:grpSpPr/>
      <p:sp>
        <p:nvSpPr>
          <p:cNvPr id="2" name="TextBox 1"/>
          <p:cNvSpPr txBox="1"/>
          <p:nvPr/>
        </p:nvSpPr>
        <p:spPr>
          <a:xfrm>
            <a:off x="640080" y="548640"/>
            <a:ext cx="10881360" cy="274320"/>
          </a:xfrm>
          <a:prstGeom prst="rect">
            <a:avLst/>
          </a:prstGeom>
          <a:noFill/>
        </p:spPr>
        <p:txBody>
          <a:bodyPr wrap="square" lIns="0" rIns="0" tIns="0" bIns="0" anchor="t">
            <a:spAutoFit/>
          </a:bodyPr>
          <a:lstStyle/>
          <a:p>
            <a:pPr algn="l"/>
            <a:r>
              <a:rPr sz="1200" b="1">
                <a:solidFill>
                  <a:srgbClr val="F28DBB"/>
                </a:solidFill>
                <a:latin typeface="Arial"/>
              </a:rPr>
              <a:t>HONEST STATUS</a:t>
            </a:r>
          </a:p>
        </p:txBody>
      </p:sp>
      <p:sp>
        <p:nvSpPr>
          <p:cNvPr id="3" name="TextBox 2"/>
          <p:cNvSpPr txBox="1"/>
          <p:nvPr/>
        </p:nvSpPr>
        <p:spPr>
          <a:xfrm>
            <a:off x="640080" y="868680"/>
            <a:ext cx="10881360" cy="1097280"/>
          </a:xfrm>
          <a:prstGeom prst="rect">
            <a:avLst/>
          </a:prstGeom>
          <a:noFill/>
        </p:spPr>
        <p:txBody>
          <a:bodyPr wrap="square" lIns="0" rIns="0" tIns="0" bIns="0" anchor="t">
            <a:spAutoFit/>
          </a:bodyPr>
          <a:lstStyle/>
          <a:p>
            <a:pPr algn="l">
              <a:lnSpc>
                <a:spcPct val="95000"/>
              </a:lnSpc>
            </a:pPr>
            <a:r>
              <a:rPr sz="3600" b="1">
                <a:solidFill>
                  <a:srgbClr val="FAEFF5"/>
                </a:solidFill>
                <a:latin typeface="Arial"/>
              </a:rPr>
              <a:t>What is proven, and what is next</a:t>
            </a:r>
          </a:p>
        </p:txBody>
      </p:sp>
      <p:sp>
        <p:nvSpPr>
          <p:cNvPr id="4" name="TextBox 3"/>
          <p:cNvSpPr txBox="1"/>
          <p:nvPr/>
        </p:nvSpPr>
        <p:spPr>
          <a:xfrm>
            <a:off x="10911535" y="6309360"/>
            <a:ext cx="640080" cy="274320"/>
          </a:xfrm>
          <a:prstGeom prst="rect">
            <a:avLst/>
          </a:prstGeom>
          <a:noFill/>
        </p:spPr>
        <p:txBody>
          <a:bodyPr wrap="square" lIns="0" rIns="0" tIns="0" bIns="0" anchor="t">
            <a:spAutoFit/>
          </a:bodyPr>
          <a:lstStyle/>
          <a:p>
            <a:pPr algn="r"/>
            <a:r>
              <a:rPr sz="1100" b="0">
                <a:solidFill>
                  <a:srgbClr val="B9A7B3"/>
                </a:solidFill>
                <a:latin typeface="Arial"/>
              </a:rPr>
              <a:t>11</a:t>
            </a:r>
          </a:p>
        </p:txBody>
      </p:sp>
      <p:sp>
        <p:nvSpPr>
          <p:cNvPr id="5" name="TextBox 4"/>
          <p:cNvSpPr txBox="1"/>
          <p:nvPr/>
        </p:nvSpPr>
        <p:spPr>
          <a:xfrm>
            <a:off x="640080" y="6309360"/>
            <a:ext cx="2743200" cy="274320"/>
          </a:xfrm>
          <a:prstGeom prst="rect">
            <a:avLst/>
          </a:prstGeom>
          <a:noFill/>
        </p:spPr>
        <p:txBody>
          <a:bodyPr wrap="square" lIns="0" rIns="0" tIns="0" bIns="0" anchor="t">
            <a:spAutoFit/>
          </a:bodyPr>
          <a:lstStyle/>
          <a:p>
            <a:pPr algn="l"/>
            <a:r>
              <a:rPr sz="1100" b="1">
                <a:solidFill>
                  <a:srgbClr val="B9A7B3"/>
                </a:solidFill>
                <a:latin typeface="Arial"/>
              </a:rPr>
              <a:t>unscroll</a:t>
            </a:r>
            <a:r>
              <a:rPr sz="1100" b="1">
                <a:solidFill>
                  <a:srgbClr val="F28DBB"/>
                </a:solidFill>
                <a:latin typeface="Arial"/>
              </a:rPr>
              <a:t>.</a:t>
            </a:r>
          </a:p>
        </p:txBody>
      </p:sp>
      <p:sp>
        <p:nvSpPr>
          <p:cNvPr id="6" name="Rounded Rectangle 5"/>
          <p:cNvSpPr/>
          <p:nvPr/>
        </p:nvSpPr>
        <p:spPr>
          <a:xfrm>
            <a:off x="640080" y="2103120"/>
            <a:ext cx="5303520" cy="3657600"/>
          </a:xfrm>
          <a:prstGeom prst="roundRect">
            <a:avLst>
              <a:gd name="adj" fmla="val 6000"/>
            </a:avLst>
          </a:prstGeom>
          <a:solidFill>
            <a:srgbClr val="1D1A20"/>
          </a:solidFill>
          <a:ln w="12700">
            <a:solidFill>
              <a:srgbClr val="3D30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377440"/>
            <a:ext cx="4480560" cy="457200"/>
          </a:xfrm>
          <a:prstGeom prst="rect">
            <a:avLst/>
          </a:prstGeom>
          <a:noFill/>
        </p:spPr>
        <p:txBody>
          <a:bodyPr wrap="square" lIns="0" rIns="0" tIns="0" bIns="0" anchor="t">
            <a:spAutoFit/>
          </a:bodyPr>
          <a:lstStyle/>
          <a:p>
            <a:pPr algn="l"/>
            <a:r>
              <a:rPr sz="2200" b="1">
                <a:solidFill>
                  <a:srgbClr val="FAEFF5"/>
                </a:solidFill>
                <a:latin typeface="Arial"/>
              </a:rPr>
              <a:t>Proven today</a:t>
            </a:r>
          </a:p>
        </p:txBody>
      </p:sp>
      <p:sp>
        <p:nvSpPr>
          <p:cNvPr id="8" name="Oval 7"/>
          <p:cNvSpPr/>
          <p:nvPr/>
        </p:nvSpPr>
        <p:spPr>
          <a:xfrm>
            <a:off x="1051560" y="3200400"/>
            <a:ext cx="219456" cy="219456"/>
          </a:xfrm>
          <a:prstGeom prst="ellipse">
            <a:avLst/>
          </a:prstGeom>
          <a:solidFill>
            <a:srgbClr val="F28D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08760" y="3108960"/>
            <a:ext cx="4114800" cy="685800"/>
          </a:xfrm>
          <a:prstGeom prst="rect">
            <a:avLst/>
          </a:prstGeom>
          <a:noFill/>
        </p:spPr>
        <p:txBody>
          <a:bodyPr wrap="square" lIns="0" rIns="0" tIns="0" bIns="0" anchor="t">
            <a:spAutoFit/>
          </a:bodyPr>
          <a:lstStyle/>
          <a:p>
            <a:pPr algn="l">
              <a:lnSpc>
                <a:spcPct val="110000"/>
              </a:lnSpc>
            </a:pPr>
            <a:r>
              <a:rPr sz="1700" b="0">
                <a:solidFill>
                  <a:srgbClr val="FAEFF5"/>
                </a:solidFill>
                <a:latin typeface="Arial"/>
              </a:rPr>
              <a:t>Runs on an iPhone through Expo Go</a:t>
            </a:r>
          </a:p>
        </p:txBody>
      </p:sp>
      <p:sp>
        <p:nvSpPr>
          <p:cNvPr id="10" name="Oval 9"/>
          <p:cNvSpPr/>
          <p:nvPr/>
        </p:nvSpPr>
        <p:spPr>
          <a:xfrm>
            <a:off x="1051560" y="4023359"/>
            <a:ext cx="219456" cy="219456"/>
          </a:xfrm>
          <a:prstGeom prst="ellipse">
            <a:avLst/>
          </a:prstGeom>
          <a:solidFill>
            <a:srgbClr val="F28D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508760" y="3931920"/>
            <a:ext cx="4114800" cy="685800"/>
          </a:xfrm>
          <a:prstGeom prst="rect">
            <a:avLst/>
          </a:prstGeom>
          <a:noFill/>
        </p:spPr>
        <p:txBody>
          <a:bodyPr wrap="square" lIns="0" rIns="0" tIns="0" bIns="0" anchor="t">
            <a:spAutoFit/>
          </a:bodyPr>
          <a:lstStyle/>
          <a:p>
            <a:pPr algn="l">
              <a:lnSpc>
                <a:spcPct val="110000"/>
              </a:lnSpc>
            </a:pPr>
            <a:r>
              <a:rPr sz="1700" b="0">
                <a:solidFill>
                  <a:srgbClr val="FAEFF5"/>
                </a:solidFill>
                <a:latin typeface="Arial"/>
              </a:rPr>
              <a:t>163 automated tests pass, CI green</a:t>
            </a:r>
          </a:p>
        </p:txBody>
      </p:sp>
      <p:sp>
        <p:nvSpPr>
          <p:cNvPr id="12" name="Oval 11"/>
          <p:cNvSpPr/>
          <p:nvPr/>
        </p:nvSpPr>
        <p:spPr>
          <a:xfrm>
            <a:off x="1051560" y="4846320"/>
            <a:ext cx="219456" cy="219456"/>
          </a:xfrm>
          <a:prstGeom prst="ellipse">
            <a:avLst/>
          </a:prstGeom>
          <a:solidFill>
            <a:srgbClr val="F28D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08760" y="4754880"/>
            <a:ext cx="4114800" cy="685800"/>
          </a:xfrm>
          <a:prstGeom prst="rect">
            <a:avLst/>
          </a:prstGeom>
          <a:noFill/>
        </p:spPr>
        <p:txBody>
          <a:bodyPr wrap="square" lIns="0" rIns="0" tIns="0" bIns="0" anchor="t">
            <a:spAutoFit/>
          </a:bodyPr>
          <a:lstStyle/>
          <a:p>
            <a:pPr algn="l">
              <a:lnSpc>
                <a:spcPct val="110000"/>
              </a:lnSpc>
            </a:pPr>
            <a:r>
              <a:rPr sz="1700" b="0">
                <a:solidFill>
                  <a:srgbClr val="FAEFF5"/>
                </a:solidFill>
                <a:latin typeface="Arial"/>
              </a:rPr>
              <a:t>Live AI grading and voice on free tiers</a:t>
            </a:r>
          </a:p>
        </p:txBody>
      </p:sp>
      <p:sp>
        <p:nvSpPr>
          <p:cNvPr id="14" name="Rounded Rectangle 13"/>
          <p:cNvSpPr/>
          <p:nvPr/>
        </p:nvSpPr>
        <p:spPr>
          <a:xfrm>
            <a:off x="6245352" y="2103120"/>
            <a:ext cx="5303520" cy="3657600"/>
          </a:xfrm>
          <a:prstGeom prst="roundRect">
            <a:avLst>
              <a:gd name="adj" fmla="val 6000"/>
            </a:avLst>
          </a:prstGeom>
          <a:solidFill>
            <a:srgbClr val="1D1A20"/>
          </a:solidFill>
          <a:ln w="12700">
            <a:solidFill>
              <a:srgbClr val="3D30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56832" y="2377440"/>
            <a:ext cx="4480560" cy="457200"/>
          </a:xfrm>
          <a:prstGeom prst="rect">
            <a:avLst/>
          </a:prstGeom>
          <a:noFill/>
        </p:spPr>
        <p:txBody>
          <a:bodyPr wrap="square" lIns="0" rIns="0" tIns="0" bIns="0" anchor="t">
            <a:spAutoFit/>
          </a:bodyPr>
          <a:lstStyle/>
          <a:p>
            <a:pPr algn="l"/>
            <a:r>
              <a:rPr sz="2200" b="1">
                <a:solidFill>
                  <a:srgbClr val="FAEFF5"/>
                </a:solidFill>
                <a:latin typeface="Arial"/>
              </a:rPr>
              <a:t>Still to prove</a:t>
            </a:r>
          </a:p>
        </p:txBody>
      </p:sp>
      <p:sp>
        <p:nvSpPr>
          <p:cNvPr id="16" name="Oval 15"/>
          <p:cNvSpPr/>
          <p:nvPr/>
        </p:nvSpPr>
        <p:spPr>
          <a:xfrm>
            <a:off x="6656832" y="3200400"/>
            <a:ext cx="219456" cy="219456"/>
          </a:xfrm>
          <a:prstGeom prst="ellipse">
            <a:avLst/>
          </a:prstGeom>
          <a:solidFill>
            <a:srgbClr val="B9A7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14032" y="3108960"/>
            <a:ext cx="4114800" cy="685800"/>
          </a:xfrm>
          <a:prstGeom prst="rect">
            <a:avLst/>
          </a:prstGeom>
          <a:noFill/>
        </p:spPr>
        <p:txBody>
          <a:bodyPr wrap="square" lIns="0" rIns="0" tIns="0" bIns="0" anchor="t">
            <a:spAutoFit/>
          </a:bodyPr>
          <a:lstStyle/>
          <a:p>
            <a:pPr algn="l">
              <a:lnSpc>
                <a:spcPct val="110000"/>
              </a:lnSpc>
            </a:pPr>
            <a:r>
              <a:rPr sz="1700" b="0">
                <a:solidFill>
                  <a:srgbClr val="FAEFF5"/>
                </a:solidFill>
                <a:latin typeface="Arial"/>
              </a:rPr>
              <a:t>App shielding needs the signed native build</a:t>
            </a:r>
          </a:p>
        </p:txBody>
      </p:sp>
      <p:sp>
        <p:nvSpPr>
          <p:cNvPr id="18" name="Oval 17"/>
          <p:cNvSpPr/>
          <p:nvPr/>
        </p:nvSpPr>
        <p:spPr>
          <a:xfrm>
            <a:off x="6656832" y="4023359"/>
            <a:ext cx="219456" cy="219456"/>
          </a:xfrm>
          <a:prstGeom prst="ellipse">
            <a:avLst/>
          </a:prstGeom>
          <a:solidFill>
            <a:srgbClr val="B9A7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14032" y="3931920"/>
            <a:ext cx="4114800" cy="685800"/>
          </a:xfrm>
          <a:prstGeom prst="rect">
            <a:avLst/>
          </a:prstGeom>
          <a:noFill/>
        </p:spPr>
        <p:txBody>
          <a:bodyPr wrap="square" lIns="0" rIns="0" tIns="0" bIns="0" anchor="t">
            <a:spAutoFit/>
          </a:bodyPr>
          <a:lstStyle/>
          <a:p>
            <a:pPr algn="l">
              <a:lnSpc>
                <a:spcPct val="110000"/>
              </a:lnSpc>
            </a:pPr>
            <a:r>
              <a:rPr sz="1700" b="0">
                <a:solidFill>
                  <a:srgbClr val="FAEFF5"/>
                </a:solidFill>
                <a:latin typeface="Arial"/>
              </a:rPr>
              <a:t>Code answers are reviewed, not executed</a:t>
            </a:r>
          </a:p>
        </p:txBody>
      </p:sp>
      <p:sp>
        <p:nvSpPr>
          <p:cNvPr id="20" name="Oval 19"/>
          <p:cNvSpPr/>
          <p:nvPr/>
        </p:nvSpPr>
        <p:spPr>
          <a:xfrm>
            <a:off x="6656832" y="4846320"/>
            <a:ext cx="219456" cy="219456"/>
          </a:xfrm>
          <a:prstGeom prst="ellipse">
            <a:avLst/>
          </a:prstGeom>
          <a:solidFill>
            <a:srgbClr val="B9A7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114032" y="4754880"/>
            <a:ext cx="4114800" cy="685800"/>
          </a:xfrm>
          <a:prstGeom prst="rect">
            <a:avLst/>
          </a:prstGeom>
          <a:noFill/>
        </p:spPr>
        <p:txBody>
          <a:bodyPr wrap="square" lIns="0" rIns="0" tIns="0" bIns="0" anchor="t">
            <a:spAutoFit/>
          </a:bodyPr>
          <a:lstStyle/>
          <a:p>
            <a:pPr algn="l">
              <a:lnSpc>
                <a:spcPct val="110000"/>
              </a:lnSpc>
            </a:pPr>
            <a:r>
              <a:rPr sz="1700" b="0">
                <a:solidFill>
                  <a:srgbClr val="FAEFF5"/>
                </a:solidFill>
                <a:latin typeface="Arial"/>
              </a:rPr>
              <a:t>Free tiers are rate limited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11014"/>
        </a:solidFill>
        <a:effectLst/>
      </p:bgPr>
    </p:bg>
    <p:spTree>
      <p:nvGrpSpPr>
        <p:cNvPr id="1" name=""/>
        <p:cNvGrpSpPr/>
        <p:nvPr/>
      </p:nvGrpSpPr>
      <p:grpSpPr/>
      <p:sp>
        <p:nvSpPr>
          <p:cNvPr id="2" name="Oval 1"/>
          <p:cNvSpPr/>
          <p:nvPr/>
        </p:nvSpPr>
        <p:spPr>
          <a:xfrm>
            <a:off x="6035040" y="182879"/>
            <a:ext cx="6766560" cy="6766560"/>
          </a:xfrm>
          <a:prstGeom prst="ellipse">
            <a:avLst/>
          </a:prstGeom>
          <a:noFill/>
          <a:ln w="12700">
            <a:solidFill>
              <a:srgbClr val="3D30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48640"/>
            <a:ext cx="5760720" cy="274320"/>
          </a:xfrm>
          <a:prstGeom prst="rect">
            <a:avLst/>
          </a:prstGeom>
          <a:noFill/>
        </p:spPr>
        <p:txBody>
          <a:bodyPr wrap="square" lIns="0" rIns="0" tIns="0" bIns="0" anchor="t">
            <a:spAutoFit/>
          </a:bodyPr>
          <a:lstStyle/>
          <a:p>
            <a:pPr algn="l"/>
            <a:r>
              <a:rPr sz="1200" b="1">
                <a:solidFill>
                  <a:srgbClr val="F28DBB"/>
                </a:solidFill>
                <a:latin typeface="Arial"/>
              </a:rPr>
              <a:t>LIVE DEMO</a:t>
            </a:r>
          </a:p>
        </p:txBody>
      </p:sp>
      <p:sp>
        <p:nvSpPr>
          <p:cNvPr id="4" name="TextBox 3"/>
          <p:cNvSpPr txBox="1"/>
          <p:nvPr/>
        </p:nvSpPr>
        <p:spPr>
          <a:xfrm>
            <a:off x="640080" y="868680"/>
            <a:ext cx="5760720" cy="1097280"/>
          </a:xfrm>
          <a:prstGeom prst="rect">
            <a:avLst/>
          </a:prstGeom>
          <a:noFill/>
        </p:spPr>
        <p:txBody>
          <a:bodyPr wrap="square" lIns="0" rIns="0" tIns="0" bIns="0" anchor="t">
            <a:spAutoFit/>
          </a:bodyPr>
          <a:lstStyle/>
          <a:p>
            <a:pPr algn="l">
              <a:lnSpc>
                <a:spcPct val="95000"/>
              </a:lnSpc>
            </a:pPr>
            <a:r>
              <a:rPr sz="3600" b="1">
                <a:solidFill>
                  <a:srgbClr val="FAEFF5"/>
                </a:solidFill>
                <a:latin typeface="Arial"/>
              </a:rPr>
              <a:t>One complete rep</a:t>
            </a:r>
          </a:p>
        </p:txBody>
      </p:sp>
      <p:sp>
        <p:nvSpPr>
          <p:cNvPr id="5" name="TextBox 4"/>
          <p:cNvSpPr txBox="1"/>
          <p:nvPr/>
        </p:nvSpPr>
        <p:spPr>
          <a:xfrm>
            <a:off x="10911535" y="6309360"/>
            <a:ext cx="640080" cy="274320"/>
          </a:xfrm>
          <a:prstGeom prst="rect">
            <a:avLst/>
          </a:prstGeom>
          <a:noFill/>
        </p:spPr>
        <p:txBody>
          <a:bodyPr wrap="square" lIns="0" rIns="0" tIns="0" bIns="0" anchor="t">
            <a:spAutoFit/>
          </a:bodyPr>
          <a:lstStyle/>
          <a:p>
            <a:pPr algn="r"/>
            <a:r>
              <a:rPr sz="1100" b="0">
                <a:solidFill>
                  <a:srgbClr val="B9A7B3"/>
                </a:solidFill>
                <a:latin typeface="Arial"/>
              </a:rPr>
              <a:t>12</a:t>
            </a:r>
          </a:p>
        </p:txBody>
      </p:sp>
      <p:sp>
        <p:nvSpPr>
          <p:cNvPr id="6" name="TextBox 5"/>
          <p:cNvSpPr txBox="1"/>
          <p:nvPr/>
        </p:nvSpPr>
        <p:spPr>
          <a:xfrm>
            <a:off x="640080" y="6309360"/>
            <a:ext cx="2743200" cy="274320"/>
          </a:xfrm>
          <a:prstGeom prst="rect">
            <a:avLst/>
          </a:prstGeom>
          <a:noFill/>
        </p:spPr>
        <p:txBody>
          <a:bodyPr wrap="square" lIns="0" rIns="0" tIns="0" bIns="0" anchor="t">
            <a:spAutoFit/>
          </a:bodyPr>
          <a:lstStyle/>
          <a:p>
            <a:pPr algn="l"/>
            <a:r>
              <a:rPr sz="1100" b="1">
                <a:solidFill>
                  <a:srgbClr val="B9A7B3"/>
                </a:solidFill>
                <a:latin typeface="Arial"/>
              </a:rPr>
              <a:t>unscroll</a:t>
            </a:r>
            <a:r>
              <a:rPr sz="1100" b="1">
                <a:solidFill>
                  <a:srgbClr val="F28DBB"/>
                </a:solidFill>
                <a:latin typeface="Arial"/>
              </a:rPr>
              <a:t>.</a:t>
            </a:r>
          </a:p>
        </p:txBody>
      </p:sp>
      <p:sp>
        <p:nvSpPr>
          <p:cNvPr id="7" name="Oval 6"/>
          <p:cNvSpPr/>
          <p:nvPr/>
        </p:nvSpPr>
        <p:spPr>
          <a:xfrm>
            <a:off x="640080" y="2148840"/>
            <a:ext cx="457200" cy="457200"/>
          </a:xfrm>
          <a:prstGeom prst="ellipse">
            <a:avLst/>
          </a:prstGeom>
          <a:solidFill>
            <a:srgbClr val="F28DB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7121E"/>
                </a:solidFill>
                <a:latin typeface="Arial"/>
              </a:rPr>
              <a:t>1</a:t>
            </a:r>
          </a:p>
        </p:txBody>
      </p:sp>
      <p:sp>
        <p:nvSpPr>
          <p:cNvPr id="8" name="TextBox 7"/>
          <p:cNvSpPr txBox="1"/>
          <p:nvPr/>
        </p:nvSpPr>
        <p:spPr>
          <a:xfrm>
            <a:off x="1325880" y="2148840"/>
            <a:ext cx="5120640" cy="457200"/>
          </a:xfrm>
          <a:prstGeom prst="rect">
            <a:avLst/>
          </a:prstGeom>
          <a:noFill/>
        </p:spPr>
        <p:txBody>
          <a:bodyPr wrap="square" lIns="0" rIns="0" tIns="0" bIns="0" anchor="ctr">
            <a:spAutoFit/>
          </a:bodyPr>
          <a:lstStyle/>
          <a:p>
            <a:pPr algn="l"/>
            <a:r>
              <a:rPr sz="1700" b="0">
                <a:solidFill>
                  <a:srgbClr val="FAEFF5"/>
                </a:solidFill>
                <a:latin typeface="Arial"/>
              </a:rPr>
              <a:t>Create an account on the iPhone</a:t>
            </a:r>
          </a:p>
        </p:txBody>
      </p:sp>
      <p:sp>
        <p:nvSpPr>
          <p:cNvPr id="9" name="Oval 8"/>
          <p:cNvSpPr/>
          <p:nvPr/>
        </p:nvSpPr>
        <p:spPr>
          <a:xfrm>
            <a:off x="640080" y="2862072"/>
            <a:ext cx="457200" cy="457200"/>
          </a:xfrm>
          <a:prstGeom prst="ellipse">
            <a:avLst/>
          </a:prstGeom>
          <a:solidFill>
            <a:srgbClr val="F28DB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7121E"/>
                </a:solidFill>
                <a:latin typeface="Arial"/>
              </a:rPr>
              <a:t>2</a:t>
            </a:r>
          </a:p>
        </p:txBody>
      </p:sp>
      <p:sp>
        <p:nvSpPr>
          <p:cNvPr id="10" name="TextBox 9"/>
          <p:cNvSpPr txBox="1"/>
          <p:nvPr/>
        </p:nvSpPr>
        <p:spPr>
          <a:xfrm>
            <a:off x="1325880" y="2862072"/>
            <a:ext cx="5120640" cy="457200"/>
          </a:xfrm>
          <a:prstGeom prst="rect">
            <a:avLst/>
          </a:prstGeom>
          <a:noFill/>
        </p:spPr>
        <p:txBody>
          <a:bodyPr wrap="square" lIns="0" rIns="0" tIns="0" bIns="0" anchor="ctr">
            <a:spAutoFit/>
          </a:bodyPr>
          <a:lstStyle/>
          <a:p>
            <a:pPr algn="l"/>
            <a:r>
              <a:rPr sz="1700" b="0">
                <a:solidFill>
                  <a:srgbClr val="FAEFF5"/>
                </a:solidFill>
                <a:latin typeface="Arial"/>
              </a:rPr>
              <a:t>Jarvis asks. Ask him one free clarifying question</a:t>
            </a:r>
          </a:p>
        </p:txBody>
      </p:sp>
      <p:sp>
        <p:nvSpPr>
          <p:cNvPr id="11" name="Oval 10"/>
          <p:cNvSpPr/>
          <p:nvPr/>
        </p:nvSpPr>
        <p:spPr>
          <a:xfrm>
            <a:off x="640080" y="3575304"/>
            <a:ext cx="457200" cy="457200"/>
          </a:xfrm>
          <a:prstGeom prst="ellipse">
            <a:avLst/>
          </a:prstGeom>
          <a:solidFill>
            <a:srgbClr val="F28DB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7121E"/>
                </a:solidFill>
                <a:latin typeface="Arial"/>
              </a:rPr>
              <a:t>3</a:t>
            </a:r>
          </a:p>
        </p:txBody>
      </p:sp>
      <p:sp>
        <p:nvSpPr>
          <p:cNvPr id="12" name="TextBox 11"/>
          <p:cNvSpPr txBox="1"/>
          <p:nvPr/>
        </p:nvSpPr>
        <p:spPr>
          <a:xfrm>
            <a:off x="1325880" y="3575304"/>
            <a:ext cx="5120640" cy="457200"/>
          </a:xfrm>
          <a:prstGeom prst="rect">
            <a:avLst/>
          </a:prstGeom>
          <a:noFill/>
        </p:spPr>
        <p:txBody>
          <a:bodyPr wrap="square" lIns="0" rIns="0" tIns="0" bIns="0" anchor="ctr">
            <a:spAutoFit/>
          </a:bodyPr>
          <a:lstStyle/>
          <a:p>
            <a:pPr algn="l"/>
            <a:r>
              <a:rPr sz="1700" b="0">
                <a:solidFill>
                  <a:srgbClr val="FAEFF5"/>
                </a:solidFill>
                <a:latin typeface="Arial"/>
              </a:rPr>
              <a:t>Take one hint, then answer by voice or typing</a:t>
            </a:r>
          </a:p>
        </p:txBody>
      </p:sp>
      <p:sp>
        <p:nvSpPr>
          <p:cNvPr id="13" name="Oval 12"/>
          <p:cNvSpPr/>
          <p:nvPr/>
        </p:nvSpPr>
        <p:spPr>
          <a:xfrm>
            <a:off x="640080" y="4288536"/>
            <a:ext cx="457200" cy="457200"/>
          </a:xfrm>
          <a:prstGeom prst="ellipse">
            <a:avLst/>
          </a:prstGeom>
          <a:solidFill>
            <a:srgbClr val="F28DB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7121E"/>
                </a:solidFill>
                <a:latin typeface="Arial"/>
              </a:rPr>
              <a:t>4</a:t>
            </a:r>
          </a:p>
        </p:txBody>
      </p:sp>
      <p:sp>
        <p:nvSpPr>
          <p:cNvPr id="14" name="TextBox 13"/>
          <p:cNvSpPr txBox="1"/>
          <p:nvPr/>
        </p:nvSpPr>
        <p:spPr>
          <a:xfrm>
            <a:off x="1325880" y="4288536"/>
            <a:ext cx="5120640" cy="457200"/>
          </a:xfrm>
          <a:prstGeom prst="rect">
            <a:avLst/>
          </a:prstGeom>
          <a:noFill/>
        </p:spPr>
        <p:txBody>
          <a:bodyPr wrap="square" lIns="0" rIns="0" tIns="0" bIns="0" anchor="ctr">
            <a:spAutoFit/>
          </a:bodyPr>
          <a:lstStyle/>
          <a:p>
            <a:pPr algn="l"/>
            <a:r>
              <a:rPr sz="1700" b="0">
                <a:solidFill>
                  <a:srgbClr val="FAEFF5"/>
                </a:solidFill>
                <a:latin typeface="Arial"/>
              </a:rPr>
              <a:t>Read the feedback and the STAR lines</a:t>
            </a:r>
          </a:p>
        </p:txBody>
      </p:sp>
      <p:sp>
        <p:nvSpPr>
          <p:cNvPr id="15" name="Oval 14"/>
          <p:cNvSpPr/>
          <p:nvPr/>
        </p:nvSpPr>
        <p:spPr>
          <a:xfrm>
            <a:off x="640080" y="5001768"/>
            <a:ext cx="457200" cy="457200"/>
          </a:xfrm>
          <a:prstGeom prst="ellipse">
            <a:avLst/>
          </a:prstGeom>
          <a:solidFill>
            <a:srgbClr val="F28DB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7121E"/>
                </a:solidFill>
                <a:latin typeface="Arial"/>
              </a:rPr>
              <a:t>5</a:t>
            </a:r>
          </a:p>
        </p:txBody>
      </p:sp>
      <p:sp>
        <p:nvSpPr>
          <p:cNvPr id="16" name="TextBox 15"/>
          <p:cNvSpPr txBox="1"/>
          <p:nvPr/>
        </p:nvSpPr>
        <p:spPr>
          <a:xfrm>
            <a:off x="1325880" y="5001768"/>
            <a:ext cx="5120640" cy="457200"/>
          </a:xfrm>
          <a:prstGeom prst="rect">
            <a:avLst/>
          </a:prstGeom>
          <a:noFill/>
        </p:spPr>
        <p:txBody>
          <a:bodyPr wrap="square" lIns="0" rIns="0" tIns="0" bIns="0" anchor="ctr">
            <a:spAutoFit/>
          </a:bodyPr>
          <a:lstStyle/>
          <a:p>
            <a:pPr algn="l"/>
            <a:r>
              <a:rPr sz="1700" b="0">
                <a:solidFill>
                  <a:srgbClr val="FAEFF5"/>
                </a:solidFill>
                <a:latin typeface="Arial"/>
              </a:rPr>
              <a:t>See the recap, the standings and the earned break</a:t>
            </a:r>
          </a:p>
        </p:txBody>
      </p:sp>
      <p:sp>
        <p:nvSpPr>
          <p:cNvPr id="17" name="Rounded Rectangle 16"/>
          <p:cNvSpPr/>
          <p:nvPr/>
        </p:nvSpPr>
        <p:spPr>
          <a:xfrm>
            <a:off x="6949440" y="914400"/>
            <a:ext cx="4599432" cy="4846320"/>
          </a:xfrm>
          <a:prstGeom prst="roundRect">
            <a:avLst>
              <a:gd name="adj" fmla="val 7000"/>
            </a:avLst>
          </a:prstGeom>
          <a:solidFill>
            <a:srgbClr val="211820"/>
          </a:solidFill>
          <a:ln w="12700">
            <a:solidFill>
              <a:srgbClr val="3D30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60920" y="1371600"/>
            <a:ext cx="3749039" cy="2103120"/>
          </a:xfrm>
          <a:prstGeom prst="rect">
            <a:avLst/>
          </a:prstGeom>
          <a:noFill/>
        </p:spPr>
        <p:txBody>
          <a:bodyPr wrap="square" lIns="0" rIns="0" tIns="0" bIns="0" anchor="t">
            <a:spAutoFit/>
          </a:bodyPr>
          <a:lstStyle/>
          <a:p>
            <a:pPr algn="l">
              <a:lnSpc>
                <a:spcPct val="100000"/>
              </a:lnSpc>
            </a:pPr>
            <a:r>
              <a:rPr sz="3200" b="1">
                <a:solidFill>
                  <a:srgbClr val="FAEFF5"/>
                </a:solidFill>
                <a:latin typeface="Arial"/>
              </a:rPr>
              <a:t>A better reason to put the phone down.</a:t>
            </a:r>
          </a:p>
        </p:txBody>
      </p:sp>
      <p:sp>
        <p:nvSpPr>
          <p:cNvPr id="19" name="TextBox 18"/>
          <p:cNvSpPr txBox="1"/>
          <p:nvPr/>
        </p:nvSpPr>
        <p:spPr>
          <a:xfrm>
            <a:off x="7360920" y="3657600"/>
            <a:ext cx="3749039" cy="457200"/>
          </a:xfrm>
          <a:prstGeom prst="rect">
            <a:avLst/>
          </a:prstGeom>
          <a:noFill/>
        </p:spPr>
        <p:txBody>
          <a:bodyPr wrap="square" lIns="0" rIns="0" tIns="0" bIns="0" anchor="t">
            <a:spAutoFit/>
          </a:bodyPr>
          <a:lstStyle/>
          <a:p>
            <a:pPr algn="l"/>
            <a:r>
              <a:rPr sz="2200" b="1">
                <a:solidFill>
                  <a:srgbClr val="FAEFF5"/>
                </a:solidFill>
                <a:latin typeface="Arial"/>
              </a:rPr>
              <a:t>unscroll</a:t>
            </a:r>
            <a:r>
              <a:rPr sz="2200" b="1">
                <a:solidFill>
                  <a:srgbClr val="F28DBB"/>
                </a:solidFill>
                <a:latin typeface="Arial"/>
              </a:rPr>
              <a:t>.</a:t>
            </a:r>
          </a:p>
        </p:txBody>
      </p:sp>
      <p:sp>
        <p:nvSpPr>
          <p:cNvPr id="20" name="TextBox 19"/>
          <p:cNvSpPr txBox="1"/>
          <p:nvPr/>
        </p:nvSpPr>
        <p:spPr>
          <a:xfrm>
            <a:off x="7360920" y="4160520"/>
            <a:ext cx="3749039" cy="365760"/>
          </a:xfrm>
          <a:prstGeom prst="rect">
            <a:avLst/>
          </a:prstGeom>
          <a:noFill/>
        </p:spPr>
        <p:txBody>
          <a:bodyPr wrap="square" lIns="0" rIns="0" tIns="0" bIns="0" anchor="t">
            <a:spAutoFit/>
          </a:bodyPr>
          <a:lstStyle/>
          <a:p>
            <a:pPr algn="l"/>
            <a:r>
              <a:rPr sz="1400" b="0">
                <a:solidFill>
                  <a:srgbClr val="B9A7B3"/>
                </a:solidFill>
                <a:latin typeface="Arial"/>
              </a:rPr>
              <a:t>Less scrolling. More becoming.</a:t>
            </a:r>
          </a:p>
        </p:txBody>
      </p:sp>
      <p:sp>
        <p:nvSpPr>
          <p:cNvPr id="21" name="TextBox 20">
            <a:hlinkClick r:id="rId3"/>
          </p:cNvPr>
          <p:cNvSpPr txBox="1"/>
          <p:nvPr/>
        </p:nvSpPr>
        <p:spPr>
          <a:xfrm>
            <a:off x="7360920" y="4754880"/>
            <a:ext cx="3749039" cy="320040"/>
          </a:xfrm>
          <a:prstGeom prst="rect">
            <a:avLst/>
          </a:prstGeom>
          <a:noFill/>
        </p:spPr>
        <p:txBody>
          <a:bodyPr wrap="square" lIns="0" rIns="0" tIns="0" bIns="0" anchor="t">
            <a:spAutoFit/>
          </a:bodyPr>
          <a:lstStyle/>
          <a:p>
            <a:pPr algn="l"/>
            <a:r>
              <a:rPr sz="1300" b="0">
                <a:solidFill>
                  <a:srgbClr val="F28DBB"/>
                </a:solidFill>
                <a:latin typeface="Arial"/>
              </a:rPr>
              <a:t>Film: youtu.be/fKccxDHB6GI</a:t>
            </a:r>
          </a:p>
        </p:txBody>
      </p:sp>
      <p:sp>
        <p:nvSpPr>
          <p:cNvPr id="22" name="TextBox 21">
            <a:hlinkClick r:id="rId4"/>
          </p:cNvPr>
          <p:cNvSpPr txBox="1"/>
          <p:nvPr/>
        </p:nvSpPr>
        <p:spPr>
          <a:xfrm>
            <a:off x="7360920" y="5120640"/>
            <a:ext cx="3749039" cy="320040"/>
          </a:xfrm>
          <a:prstGeom prst="rect">
            <a:avLst/>
          </a:prstGeom>
          <a:noFill/>
        </p:spPr>
        <p:txBody>
          <a:bodyPr wrap="square" lIns="0" rIns="0" tIns="0" bIns="0" anchor="t">
            <a:spAutoFit/>
          </a:bodyPr>
          <a:lstStyle/>
          <a:p>
            <a:pPr algn="l"/>
            <a:r>
              <a:rPr sz="1100" b="0">
                <a:solidFill>
                  <a:srgbClr val="B9A7B3"/>
                </a:solidFill>
                <a:latin typeface="Arial"/>
              </a:rPr>
              <a:t>Code: github.com/Charlesganu2004/Whitman-Hackathon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