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line, then the one-sentence promise. Unscroll is an iPhone app a student team built at the Whitman Hackathon. Pause on the phone screen: this is the real app, running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problem, in the audience's own experience. Interview practice matters and is easy to put off, because its reward is months away. The feed is one tap away and rewards you now. So the scroll wins. We are describing the tension we designed for, not quoting a study.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Unscroll is, in one sentence: it makes practice earn the break. A short practice session feels more rewarding when it unlocks something the student already wants. Say plainly that this is a design hypothesis we want to test with students, not a measured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One: the student picks the apps that distract them. Two: a short daily interview with Jarvis, technical and behavioral, typed or spoken. Three: passing opens a 15, 30 or 60 minute break. A failed answer cannot be skipped: you read the feedback, then get a different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standout feature. Jarvis is a conversation, not a form. He reads the question aloud. Asking him to clarify is free. A hint costs ten evaluation points, at most three per question, and pass or fail still uses the raw grade. Behavioral answers get STAR feedback: situation, task, action, result.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film here. It is forty seconds, drawn, scored and narrated entirely in code. Click the picture or the button: it opens on YouTube. The three lines beside it are what the film says: why (the scroll wins), what (practice earns the break), how (pick apps, pass with Jarvis, earn the break). If the room has no sound, the captions carry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tells a student where they stand in three skills: communication, talking through technical problems, and coding. Standings come only from graded answers, and a skill with no answers shows as not measured yet. The road map is five levels, Beginner to Master, and you drag it sideways.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here runs on free tiers. NVIDIA grades and drives Jarvis in about two seconds. Groq turns speech into text and gives Jarvis his voice. With no key at all the app still works on rubric feedback and the phone voice. Keys live only on the server, never in the app or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the line between proven and not yet proven. Proven today: it runs on an iPhone through Expo Go, 163 automated tests pass with CI green, and live AI grading and voice work on free tiers. Still to prove: real app shielding needs the signed native iPhone build, which is untested on a device; code answers are reviewed, not executed; and the free tiers are rate limited.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demo in this order on the iPhone, about three minutes. Describe the earned break as practice mode in Expo Go; do not present app shielding as working. Close on the line, then leave the links on screen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s://youtu.be/fKccxDHB6GI"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hyperlink" Target="https://youtu.be/fKccxDHB6GI"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youtu.be/fKccxDHB6GI" TargetMode="External"/><Relationship Id="rId4" Type="http://schemas.openxmlformats.org/officeDocument/2006/relationships/hyperlink" Target="https://github.com/Charlesganu2004/Whitman-Hackatho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014"/>
        </a:solidFill>
        <a:effectLst/>
      </p:bgPr>
    </p:bg>
    <p:spTree>
      <p:nvGrpSpPr>
        <p:cNvPr id="1" name=""/>
        <p:cNvGrpSpPr/>
        <p:nvPr/>
      </p:nvGrpSpPr>
      <p:grpSpPr/>
      <p:sp>
        <p:nvSpPr>
          <p:cNvPr id="2" name="Oval 1"/>
          <p:cNvSpPr/>
          <p:nvPr/>
        </p:nvSpPr>
        <p:spPr>
          <a:xfrm>
            <a:off x="6035040" y="-640079"/>
            <a:ext cx="7863840" cy="7863840"/>
          </a:xfrm>
          <a:prstGeom prst="ellipse">
            <a:avLst/>
          </a:prstGeom>
          <a:no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040880" y="365759"/>
            <a:ext cx="5852160" cy="5852160"/>
          </a:xfrm>
          <a:prstGeom prst="ellipse">
            <a:avLst/>
          </a:prstGeom>
          <a:no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4389120"/>
            <a:ext cx="4754880" cy="4754880"/>
          </a:xfrm>
          <a:prstGeom prst="ellipse">
            <a:avLst/>
          </a:prstGeom>
          <a:no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143000"/>
            <a:ext cx="6400800" cy="274320"/>
          </a:xfrm>
          <a:prstGeom prst="rect">
            <a:avLst/>
          </a:prstGeom>
          <a:noFill/>
        </p:spPr>
        <p:txBody>
          <a:bodyPr wrap="square" lIns="0" rIns="0" tIns="0" bIns="0" anchor="t">
            <a:spAutoFit/>
          </a:bodyPr>
          <a:lstStyle/>
          <a:p>
            <a:pPr algn="l"/>
            <a:r>
              <a:rPr sz="1200" b="1">
                <a:solidFill>
                  <a:srgbClr val="B9A7B3"/>
                </a:solidFill>
                <a:latin typeface="Arial"/>
              </a:rPr>
              <a:t>WHITMAN HACKATHON   ·   PRODUCT PITCH</a:t>
            </a:r>
          </a:p>
        </p:txBody>
      </p:sp>
      <p:sp>
        <p:nvSpPr>
          <p:cNvPr id="6" name="TextBox 5"/>
          <p:cNvSpPr txBox="1"/>
          <p:nvPr/>
        </p:nvSpPr>
        <p:spPr>
          <a:xfrm>
            <a:off x="822960" y="1691640"/>
            <a:ext cx="6949440" cy="1371600"/>
          </a:xfrm>
          <a:prstGeom prst="rect">
            <a:avLst/>
          </a:prstGeom>
          <a:noFill/>
        </p:spPr>
        <p:txBody>
          <a:bodyPr wrap="square" lIns="0" rIns="0" tIns="0" bIns="0" anchor="t">
            <a:spAutoFit/>
          </a:bodyPr>
          <a:lstStyle/>
          <a:p>
            <a:pPr algn="l"/>
            <a:r>
              <a:rPr sz="8800" b="1">
                <a:solidFill>
                  <a:srgbClr val="FAEFF5"/>
                </a:solidFill>
                <a:latin typeface="Arial"/>
              </a:rPr>
              <a:t>unscroll</a:t>
            </a:r>
            <a:r>
              <a:rPr sz="8800" b="1">
                <a:solidFill>
                  <a:srgbClr val="F28DBB"/>
                </a:solidFill>
                <a:latin typeface="Arial"/>
              </a:rPr>
              <a:t>.</a:t>
            </a:r>
          </a:p>
        </p:txBody>
      </p:sp>
      <p:sp>
        <p:nvSpPr>
          <p:cNvPr id="7" name="TextBox 6"/>
          <p:cNvSpPr txBox="1"/>
          <p:nvPr/>
        </p:nvSpPr>
        <p:spPr>
          <a:xfrm>
            <a:off x="822960" y="3246120"/>
            <a:ext cx="6949440" cy="640080"/>
          </a:xfrm>
          <a:prstGeom prst="rect">
            <a:avLst/>
          </a:prstGeom>
          <a:noFill/>
        </p:spPr>
        <p:txBody>
          <a:bodyPr wrap="square" lIns="0" rIns="0" tIns="0" bIns="0" anchor="t">
            <a:spAutoFit/>
          </a:bodyPr>
          <a:lstStyle/>
          <a:p>
            <a:pPr algn="l"/>
            <a:r>
              <a:rPr sz="3000" b="1">
                <a:solidFill>
                  <a:srgbClr val="FAEFF5"/>
                </a:solidFill>
                <a:latin typeface="Arial"/>
              </a:rPr>
              <a:t>Less scrolling. More becoming.</a:t>
            </a:r>
          </a:p>
        </p:txBody>
      </p:sp>
      <p:sp>
        <p:nvSpPr>
          <p:cNvPr id="8" name="TextBox 7"/>
          <p:cNvSpPr txBox="1"/>
          <p:nvPr/>
        </p:nvSpPr>
        <p:spPr>
          <a:xfrm>
            <a:off x="822960" y="4069080"/>
            <a:ext cx="6035040" cy="1097280"/>
          </a:xfrm>
          <a:prstGeom prst="rect">
            <a:avLst/>
          </a:prstGeom>
          <a:noFill/>
        </p:spPr>
        <p:txBody>
          <a:bodyPr wrap="square" lIns="0" rIns="0" tIns="0" bIns="0" anchor="t">
            <a:spAutoFit/>
          </a:bodyPr>
          <a:lstStyle/>
          <a:p>
            <a:pPr algn="l">
              <a:lnSpc>
                <a:spcPct val="115000"/>
              </a:lnSpc>
            </a:pPr>
            <a:r>
              <a:rPr sz="2000" b="0">
                <a:solidFill>
                  <a:srgbClr val="B9A7B3"/>
                </a:solidFill>
                <a:latin typeface="Arial"/>
              </a:rPr>
              <a:t>Pass a short interview with Jarvis, your AI interviewer. Earn your break.</a:t>
            </a:r>
          </a:p>
        </p:txBody>
      </p:sp>
      <p:sp>
        <p:nvSpPr>
          <p:cNvPr id="9" name="Rounded Rectangle 8">
            <a:hlinkClick r:id="rId3"/>
          </p:cNvPr>
          <p:cNvSpPr/>
          <p:nvPr/>
        </p:nvSpPr>
        <p:spPr>
          <a:xfrm>
            <a:off x="822960" y="5440680"/>
            <a:ext cx="2834640" cy="548640"/>
          </a:xfrm>
          <a:prstGeom prst="roundRect">
            <a:avLst>
              <a:gd name="adj" fmla="val 50000"/>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r:id="rId3"/>
          </p:cNvPr>
          <p:cNvSpPr txBox="1"/>
          <p:nvPr/>
        </p:nvSpPr>
        <p:spPr>
          <a:xfrm>
            <a:off x="822960" y="5440680"/>
            <a:ext cx="2834640" cy="548640"/>
          </a:xfrm>
          <a:prstGeom prst="rect">
            <a:avLst/>
          </a:prstGeom>
          <a:noFill/>
        </p:spPr>
        <p:txBody>
          <a:bodyPr wrap="square" lIns="0" rIns="0" tIns="0" bIns="0" anchor="ctr">
            <a:spAutoFit/>
          </a:bodyPr>
          <a:lstStyle/>
          <a:p>
            <a:pPr algn="ctr"/>
            <a:r>
              <a:rPr sz="1400" b="1">
                <a:solidFill>
                  <a:srgbClr val="27121E"/>
                </a:solidFill>
                <a:latin typeface="Arial"/>
              </a:rPr>
              <a:t>Watch the 40 second film</a:t>
            </a:r>
          </a:p>
        </p:txBody>
      </p:sp>
      <p:sp>
        <p:nvSpPr>
          <p:cNvPr id="11" name="Rounded Rectangle 10"/>
          <p:cNvSpPr/>
          <p:nvPr/>
        </p:nvSpPr>
        <p:spPr>
          <a:xfrm>
            <a:off x="8531352" y="457200"/>
            <a:ext cx="2862865" cy="5943600"/>
          </a:xfrm>
          <a:prstGeom prst="roundRect">
            <a:avLst>
              <a:gd name="adj" fmla="val 9000"/>
            </a:avLst>
          </a:prstGeom>
          <a:solidFill>
            <a:srgbClr val="2B272C"/>
          </a:solidFill>
          <a:ln w="12700">
            <a:solidFill>
              <a:srgbClr val="4A44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today.jpg"/>
          <p:cNvPicPr>
            <a:picLocks noChangeAspect="1"/>
          </p:cNvPicPr>
          <p:nvPr/>
        </p:nvPicPr>
        <p:blipFill>
          <a:blip r:embed="rId4"/>
          <a:stretch>
            <a:fillRect/>
          </a:stretch>
        </p:blipFill>
        <p:spPr>
          <a:xfrm>
            <a:off x="8641080" y="566928"/>
            <a:ext cx="2643539" cy="5724144"/>
          </a:xfrm>
          <a:prstGeom prst="rect">
            <a:avLst/>
          </a:prstGeom>
          <a:ln w="12700">
            <a:solidFill>
              <a:srgbClr val="111014"/>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014"/>
        </a:solidFill>
        <a:effectLst/>
      </p:bgPr>
    </p:bg>
    <p:spTree>
      <p:nvGrpSpPr>
        <p:cNvPr id="1" name=""/>
        <p:cNvGrpSpPr/>
        <p:nvPr/>
      </p:nvGrpSpPr>
      <p:grpSpPr/>
      <p:sp>
        <p:nvSpPr>
          <p:cNvPr id="2" name="Oval 1"/>
          <p:cNvSpPr/>
          <p:nvPr/>
        </p:nvSpPr>
        <p:spPr>
          <a:xfrm>
            <a:off x="9052559" y="-2103120"/>
            <a:ext cx="4937760" cy="4937760"/>
          </a:xfrm>
          <a:prstGeom prst="ellipse">
            <a:avLst/>
          </a:prstGeom>
          <a:no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10881360" cy="274320"/>
          </a:xfrm>
          <a:prstGeom prst="rect">
            <a:avLst/>
          </a:prstGeom>
          <a:noFill/>
        </p:spPr>
        <p:txBody>
          <a:bodyPr wrap="square" lIns="0" rIns="0" tIns="0" bIns="0" anchor="t">
            <a:spAutoFit/>
          </a:bodyPr>
          <a:lstStyle/>
          <a:p>
            <a:pPr algn="l"/>
            <a:r>
              <a:rPr sz="1200" b="1">
                <a:solidFill>
                  <a:srgbClr val="B9A7B3"/>
                </a:solidFill>
                <a:latin typeface="Arial"/>
              </a:rPr>
              <a:t>WHY  ·  THE PROBLEM</a:t>
            </a:r>
          </a:p>
        </p:txBody>
      </p:sp>
      <p:sp>
        <p:nvSpPr>
          <p:cNvPr id="4" name="TextBox 3"/>
          <p:cNvSpPr txBox="1"/>
          <p:nvPr/>
        </p:nvSpPr>
        <p:spPr>
          <a:xfrm>
            <a:off x="640080" y="868680"/>
            <a:ext cx="10881360" cy="1097280"/>
          </a:xfrm>
          <a:prstGeom prst="rect">
            <a:avLst/>
          </a:prstGeom>
          <a:noFill/>
        </p:spPr>
        <p:txBody>
          <a:bodyPr wrap="square" lIns="0" rIns="0" tIns="0" bIns="0" anchor="t">
            <a:spAutoFit/>
          </a:bodyPr>
          <a:lstStyle/>
          <a:p>
            <a:pPr algn="l">
              <a:lnSpc>
                <a:spcPct val="95000"/>
              </a:lnSpc>
            </a:pPr>
            <a:r>
              <a:rPr sz="3600" b="1">
                <a:solidFill>
                  <a:srgbClr val="FAEFF5"/>
                </a:solidFill>
                <a:latin typeface="Arial"/>
              </a:rPr>
              <a:t>The scroll always wins</a:t>
            </a:r>
          </a:p>
        </p:txBody>
      </p:sp>
      <p:sp>
        <p:nvSpPr>
          <p:cNvPr id="5" name="TextBox 4"/>
          <p:cNvSpPr txBox="1"/>
          <p:nvPr/>
        </p:nvSpPr>
        <p:spPr>
          <a:xfrm>
            <a:off x="10911535" y="6309360"/>
            <a:ext cx="640080" cy="274320"/>
          </a:xfrm>
          <a:prstGeom prst="rect">
            <a:avLst/>
          </a:prstGeom>
          <a:noFill/>
        </p:spPr>
        <p:txBody>
          <a:bodyPr wrap="square" lIns="0" rIns="0" tIns="0" bIns="0" anchor="t">
            <a:spAutoFit/>
          </a:bodyPr>
          <a:lstStyle/>
          <a:p>
            <a:pPr algn="r"/>
            <a:r>
              <a:rPr sz="1100" b="0">
                <a:solidFill>
                  <a:srgbClr val="B9A7B3"/>
                </a:solidFill>
                <a:latin typeface="Arial"/>
              </a:rPr>
              <a:t>02</a:t>
            </a:r>
          </a:p>
        </p:txBody>
      </p:sp>
      <p:sp>
        <p:nvSpPr>
          <p:cNvPr id="6" name="TextBox 5"/>
          <p:cNvSpPr txBox="1"/>
          <p:nvPr/>
        </p:nvSpPr>
        <p:spPr>
          <a:xfrm>
            <a:off x="640080" y="6309360"/>
            <a:ext cx="2743200" cy="274320"/>
          </a:xfrm>
          <a:prstGeom prst="rect">
            <a:avLst/>
          </a:prstGeom>
          <a:noFill/>
        </p:spPr>
        <p:txBody>
          <a:bodyPr wrap="square" lIns="0" rIns="0" tIns="0" bIns="0" anchor="t">
            <a:spAutoFit/>
          </a:bodyPr>
          <a:lstStyle/>
          <a:p>
            <a:pPr algn="l"/>
            <a:r>
              <a:rPr sz="1100" b="1">
                <a:solidFill>
                  <a:srgbClr val="B9A7B3"/>
                </a:solidFill>
                <a:latin typeface="Arial"/>
              </a:rPr>
              <a:t>unscroll</a:t>
            </a:r>
            <a:r>
              <a:rPr sz="1100" b="1">
                <a:solidFill>
                  <a:srgbClr val="F28DBB"/>
                </a:solidFill>
                <a:latin typeface="Arial"/>
              </a:rPr>
              <a:t>.</a:t>
            </a:r>
          </a:p>
        </p:txBody>
      </p:sp>
      <p:sp>
        <p:nvSpPr>
          <p:cNvPr id="7" name="TextBox 6"/>
          <p:cNvSpPr txBox="1"/>
          <p:nvPr/>
        </p:nvSpPr>
        <p:spPr>
          <a:xfrm>
            <a:off x="640080" y="2148840"/>
            <a:ext cx="5669280" cy="2377440"/>
          </a:xfrm>
          <a:prstGeom prst="rect">
            <a:avLst/>
          </a:prstGeom>
          <a:noFill/>
        </p:spPr>
        <p:txBody>
          <a:bodyPr wrap="square" lIns="0" rIns="0" tIns="0" bIns="0" anchor="t">
            <a:spAutoFit/>
          </a:bodyPr>
          <a:lstStyle/>
          <a:p>
            <a:pPr algn="l">
              <a:lnSpc>
                <a:spcPct val="120000"/>
              </a:lnSpc>
            </a:pPr>
            <a:r>
              <a:rPr sz="2400" b="0">
                <a:solidFill>
                  <a:srgbClr val="FAEFF5"/>
                </a:solidFill>
                <a:latin typeface="Arial"/>
              </a:rPr>
              <a:t>Interview practice is important and easy to put off. The feed is one tap away, and it pays out right now.</a:t>
            </a:r>
          </a:p>
        </p:txBody>
      </p:sp>
      <p:sp>
        <p:nvSpPr>
          <p:cNvPr id="8" name="TextBox 7"/>
          <p:cNvSpPr txBox="1"/>
          <p:nvPr/>
        </p:nvSpPr>
        <p:spPr>
          <a:xfrm>
            <a:off x="640080" y="4892040"/>
            <a:ext cx="5669280" cy="822960"/>
          </a:xfrm>
          <a:prstGeom prst="rect">
            <a:avLst/>
          </a:prstGeom>
          <a:noFill/>
        </p:spPr>
        <p:txBody>
          <a:bodyPr wrap="square" lIns="0" rIns="0" tIns="0" bIns="0" anchor="t">
            <a:spAutoFit/>
          </a:bodyPr>
          <a:lstStyle/>
          <a:p>
            <a:pPr algn="l">
              <a:lnSpc>
                <a:spcPct val="115000"/>
              </a:lnSpc>
            </a:pPr>
            <a:r>
              <a:rPr sz="1400" b="0">
                <a:solidFill>
                  <a:srgbClr val="B9A7B3"/>
                </a:solidFill>
                <a:latin typeface="Arial"/>
              </a:rPr>
              <a:t>The tension we designed for. Our observation as students, not a statistic.</a:t>
            </a:r>
          </a:p>
        </p:txBody>
      </p:sp>
      <p:sp>
        <p:nvSpPr>
          <p:cNvPr id="9" name="Rounded Rectangle 8"/>
          <p:cNvSpPr/>
          <p:nvPr/>
        </p:nvSpPr>
        <p:spPr>
          <a:xfrm>
            <a:off x="6949440" y="2148840"/>
            <a:ext cx="4572000" cy="1600200"/>
          </a:xfrm>
          <a:prstGeom prst="roundRect">
            <a:avLst>
              <a:gd name="adj" fmla="val 10000"/>
            </a:avLst>
          </a:prstGeom>
          <a:solidFill>
            <a:srgbClr val="2118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0920" y="2423160"/>
            <a:ext cx="3749039" cy="457200"/>
          </a:xfrm>
          <a:prstGeom prst="rect">
            <a:avLst/>
          </a:prstGeom>
          <a:noFill/>
        </p:spPr>
        <p:txBody>
          <a:bodyPr wrap="square" lIns="0" rIns="0" tIns="0" bIns="0" anchor="t">
            <a:spAutoFit/>
          </a:bodyPr>
          <a:lstStyle/>
          <a:p>
            <a:pPr algn="l"/>
            <a:r>
              <a:rPr sz="2200" b="1">
                <a:solidFill>
                  <a:srgbClr val="FAEFF5"/>
                </a:solidFill>
                <a:latin typeface="Arial"/>
              </a:rPr>
              <a:t>Scrolling</a:t>
            </a:r>
          </a:p>
        </p:txBody>
      </p:sp>
      <p:sp>
        <p:nvSpPr>
          <p:cNvPr id="11" name="Rounded Rectangle 10"/>
          <p:cNvSpPr/>
          <p:nvPr/>
        </p:nvSpPr>
        <p:spPr>
          <a:xfrm>
            <a:off x="7360920" y="3017520"/>
            <a:ext cx="2651760" cy="457200"/>
          </a:xfrm>
          <a:prstGeom prst="roundRect">
            <a:avLst>
              <a:gd name="adj" fmla="val 50000"/>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0920" y="3017520"/>
            <a:ext cx="2651760" cy="457200"/>
          </a:xfrm>
          <a:prstGeom prst="rect">
            <a:avLst/>
          </a:prstGeom>
          <a:noFill/>
        </p:spPr>
        <p:txBody>
          <a:bodyPr wrap="square" lIns="0" rIns="0" tIns="0" bIns="0" anchor="ctr">
            <a:spAutoFit/>
          </a:bodyPr>
          <a:lstStyle/>
          <a:p>
            <a:pPr algn="ctr"/>
            <a:r>
              <a:rPr sz="1400" b="1">
                <a:solidFill>
                  <a:srgbClr val="27121E"/>
                </a:solidFill>
                <a:latin typeface="Arial"/>
              </a:rPr>
              <a:t>Reward: now</a:t>
            </a:r>
          </a:p>
        </p:txBody>
      </p:sp>
      <p:sp>
        <p:nvSpPr>
          <p:cNvPr id="13" name="Rounded Rectangle 12"/>
          <p:cNvSpPr/>
          <p:nvPr/>
        </p:nvSpPr>
        <p:spPr>
          <a:xfrm>
            <a:off x="6949440" y="4023360"/>
            <a:ext cx="4572000" cy="1600200"/>
          </a:xfrm>
          <a:prstGeom prst="roundRect">
            <a:avLst>
              <a:gd name="adj" fmla="val 10000"/>
            </a:avLst>
          </a:prstGeom>
          <a:solidFill>
            <a:srgbClr val="2118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0920" y="4297680"/>
            <a:ext cx="3749039" cy="457200"/>
          </a:xfrm>
          <a:prstGeom prst="rect">
            <a:avLst/>
          </a:prstGeom>
          <a:noFill/>
        </p:spPr>
        <p:txBody>
          <a:bodyPr wrap="square" lIns="0" rIns="0" tIns="0" bIns="0" anchor="t">
            <a:spAutoFit/>
          </a:bodyPr>
          <a:lstStyle/>
          <a:p>
            <a:pPr algn="l"/>
            <a:r>
              <a:rPr sz="2200" b="1">
                <a:solidFill>
                  <a:srgbClr val="FAEFF5"/>
                </a:solidFill>
                <a:latin typeface="Arial"/>
              </a:rPr>
              <a:t>Interview practice</a:t>
            </a:r>
          </a:p>
        </p:txBody>
      </p:sp>
      <p:sp>
        <p:nvSpPr>
          <p:cNvPr id="15" name="Rounded Rectangle 14"/>
          <p:cNvSpPr/>
          <p:nvPr/>
        </p:nvSpPr>
        <p:spPr>
          <a:xfrm>
            <a:off x="7360920" y="4892040"/>
            <a:ext cx="2651760" cy="457200"/>
          </a:xfrm>
          <a:prstGeom prst="roundRect">
            <a:avLst>
              <a:gd name="adj" fmla="val 50000"/>
            </a:avLst>
          </a:prstGeom>
          <a:solidFill>
            <a:srgbClr val="352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4892040"/>
            <a:ext cx="2651760" cy="457200"/>
          </a:xfrm>
          <a:prstGeom prst="rect">
            <a:avLst/>
          </a:prstGeom>
          <a:noFill/>
        </p:spPr>
        <p:txBody>
          <a:bodyPr wrap="square" lIns="0" rIns="0" tIns="0" bIns="0" anchor="ctr">
            <a:spAutoFit/>
          </a:bodyPr>
          <a:lstStyle/>
          <a:p>
            <a:pPr algn="ctr"/>
            <a:r>
              <a:rPr sz="1400" b="1">
                <a:solidFill>
                  <a:srgbClr val="B9A7B3"/>
                </a:solidFill>
                <a:latin typeface="Arial"/>
              </a:rPr>
              <a:t>Reward: months 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014"/>
        </a:solidFill>
        <a:effectLst/>
      </p:bgPr>
    </p:bg>
    <p:spTree>
      <p:nvGrpSpPr>
        <p:cNvPr id="1" name=""/>
        <p:cNvGrpSpPr/>
        <p:nvPr/>
      </p:nvGrpSpPr>
      <p:grpSpPr/>
      <p:sp>
        <p:nvSpPr>
          <p:cNvPr id="2" name="Oval 1"/>
          <p:cNvSpPr/>
          <p:nvPr/>
        </p:nvSpPr>
        <p:spPr>
          <a:xfrm>
            <a:off x="9052559" y="-2103120"/>
            <a:ext cx="4937760" cy="4937760"/>
          </a:xfrm>
          <a:prstGeom prst="ellipse">
            <a:avLst/>
          </a:prstGeom>
          <a:no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10881360" cy="274320"/>
          </a:xfrm>
          <a:prstGeom prst="rect">
            <a:avLst/>
          </a:prstGeom>
          <a:noFill/>
        </p:spPr>
        <p:txBody>
          <a:bodyPr wrap="square" lIns="0" rIns="0" tIns="0" bIns="0" anchor="t">
            <a:spAutoFit/>
          </a:bodyPr>
          <a:lstStyle/>
          <a:p>
            <a:pPr algn="l"/>
            <a:r>
              <a:rPr sz="1200" b="1">
                <a:solidFill>
                  <a:srgbClr val="B9A7B3"/>
                </a:solidFill>
                <a:latin typeface="Arial"/>
              </a:rPr>
              <a:t>WHAT  ·  UNSCROLL</a:t>
            </a:r>
          </a:p>
        </p:txBody>
      </p:sp>
      <p:sp>
        <p:nvSpPr>
          <p:cNvPr id="4" name="TextBox 3"/>
          <p:cNvSpPr txBox="1"/>
          <p:nvPr/>
        </p:nvSpPr>
        <p:spPr>
          <a:xfrm>
            <a:off x="640080" y="868680"/>
            <a:ext cx="10881360" cy="1097280"/>
          </a:xfrm>
          <a:prstGeom prst="rect">
            <a:avLst/>
          </a:prstGeom>
          <a:noFill/>
        </p:spPr>
        <p:txBody>
          <a:bodyPr wrap="square" lIns="0" rIns="0" tIns="0" bIns="0" anchor="t">
            <a:spAutoFit/>
          </a:bodyPr>
          <a:lstStyle/>
          <a:p>
            <a:pPr algn="l">
              <a:lnSpc>
                <a:spcPct val="95000"/>
              </a:lnSpc>
            </a:pPr>
            <a:r>
              <a:rPr sz="3600" b="1">
                <a:solidFill>
                  <a:srgbClr val="FAEFF5"/>
                </a:solidFill>
                <a:latin typeface="Arial"/>
              </a:rPr>
              <a:t>Make practice earn the break</a:t>
            </a:r>
          </a:p>
        </p:txBody>
      </p:sp>
      <p:sp>
        <p:nvSpPr>
          <p:cNvPr id="5" name="TextBox 4"/>
          <p:cNvSpPr txBox="1"/>
          <p:nvPr/>
        </p:nvSpPr>
        <p:spPr>
          <a:xfrm>
            <a:off x="10911535" y="6309360"/>
            <a:ext cx="640080" cy="274320"/>
          </a:xfrm>
          <a:prstGeom prst="rect">
            <a:avLst/>
          </a:prstGeom>
          <a:noFill/>
        </p:spPr>
        <p:txBody>
          <a:bodyPr wrap="square" lIns="0" rIns="0" tIns="0" bIns="0" anchor="t">
            <a:spAutoFit/>
          </a:bodyPr>
          <a:lstStyle/>
          <a:p>
            <a:pPr algn="r"/>
            <a:r>
              <a:rPr sz="1100" b="0">
                <a:solidFill>
                  <a:srgbClr val="B9A7B3"/>
                </a:solidFill>
                <a:latin typeface="Arial"/>
              </a:rPr>
              <a:t>03</a:t>
            </a:r>
          </a:p>
        </p:txBody>
      </p:sp>
      <p:sp>
        <p:nvSpPr>
          <p:cNvPr id="6" name="TextBox 5"/>
          <p:cNvSpPr txBox="1"/>
          <p:nvPr/>
        </p:nvSpPr>
        <p:spPr>
          <a:xfrm>
            <a:off x="640080" y="6309360"/>
            <a:ext cx="2743200" cy="274320"/>
          </a:xfrm>
          <a:prstGeom prst="rect">
            <a:avLst/>
          </a:prstGeom>
          <a:noFill/>
        </p:spPr>
        <p:txBody>
          <a:bodyPr wrap="square" lIns="0" rIns="0" tIns="0" bIns="0" anchor="t">
            <a:spAutoFit/>
          </a:bodyPr>
          <a:lstStyle/>
          <a:p>
            <a:pPr algn="l"/>
            <a:r>
              <a:rPr sz="1100" b="1">
                <a:solidFill>
                  <a:srgbClr val="B9A7B3"/>
                </a:solidFill>
                <a:latin typeface="Arial"/>
              </a:rPr>
              <a:t>unscroll</a:t>
            </a:r>
            <a:r>
              <a:rPr sz="1100" b="1">
                <a:solidFill>
                  <a:srgbClr val="F28DBB"/>
                </a:solidFill>
                <a:latin typeface="Arial"/>
              </a:rPr>
              <a:t>.</a:t>
            </a:r>
          </a:p>
        </p:txBody>
      </p:sp>
      <p:sp>
        <p:nvSpPr>
          <p:cNvPr id="7" name="TextBox 6"/>
          <p:cNvSpPr txBox="1"/>
          <p:nvPr/>
        </p:nvSpPr>
        <p:spPr>
          <a:xfrm>
            <a:off x="640080" y="2148840"/>
            <a:ext cx="5669280" cy="2194560"/>
          </a:xfrm>
          <a:prstGeom prst="rect">
            <a:avLst/>
          </a:prstGeom>
          <a:noFill/>
        </p:spPr>
        <p:txBody>
          <a:bodyPr wrap="square" lIns="0" rIns="0" tIns="0" bIns="0" anchor="t">
            <a:spAutoFit/>
          </a:bodyPr>
          <a:lstStyle/>
          <a:p>
            <a:pPr algn="l">
              <a:lnSpc>
                <a:spcPct val="120000"/>
              </a:lnSpc>
            </a:pPr>
            <a:r>
              <a:rPr sz="2400" b="0">
                <a:solidFill>
                  <a:srgbClr val="FAEFF5"/>
                </a:solidFill>
                <a:latin typeface="Arial"/>
              </a:rPr>
              <a:t>Unscroll swaps the next scroll for a short interview. Pass, and the apps you chose open for a timed break.</a:t>
            </a:r>
          </a:p>
        </p:txBody>
      </p:sp>
      <p:sp>
        <p:nvSpPr>
          <p:cNvPr id="8" name="TextBox 7"/>
          <p:cNvSpPr txBox="1"/>
          <p:nvPr/>
        </p:nvSpPr>
        <p:spPr>
          <a:xfrm>
            <a:off x="640080" y="4892040"/>
            <a:ext cx="5669280" cy="822960"/>
          </a:xfrm>
          <a:prstGeom prst="rect">
            <a:avLst/>
          </a:prstGeom>
          <a:noFill/>
        </p:spPr>
        <p:txBody>
          <a:bodyPr wrap="square" lIns="0" rIns="0" tIns="0" bIns="0" anchor="t">
            <a:spAutoFit/>
          </a:bodyPr>
          <a:lstStyle/>
          <a:p>
            <a:pPr algn="l">
              <a:lnSpc>
                <a:spcPct val="115000"/>
              </a:lnSpc>
            </a:pPr>
            <a:r>
              <a:rPr sz="1400" b="0">
                <a:solidFill>
                  <a:srgbClr val="B9A7B3"/>
                </a:solidFill>
                <a:latin typeface="Arial"/>
              </a:rPr>
              <a:t>A design bet to test with students, not a result we have measured.</a:t>
            </a:r>
          </a:p>
        </p:txBody>
      </p:sp>
      <p:sp>
        <p:nvSpPr>
          <p:cNvPr id="9" name="Rounded Rectangle 8"/>
          <p:cNvSpPr/>
          <p:nvPr/>
        </p:nvSpPr>
        <p:spPr>
          <a:xfrm>
            <a:off x="6949440" y="2057400"/>
            <a:ext cx="4572000" cy="3657600"/>
          </a:xfrm>
          <a:prstGeom prst="roundRect">
            <a:avLst>
              <a:gd name="adj" fmla="val 7000"/>
            </a:avLst>
          </a:prstGeom>
          <a:solidFill>
            <a:srgbClr val="2118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60920" y="2560320"/>
            <a:ext cx="3749039" cy="868680"/>
          </a:xfrm>
          <a:prstGeom prst="roundRect">
            <a:avLst>
              <a:gd name="adj" fmla="val 30000"/>
            </a:avLst>
          </a:prstGeom>
          <a:solidFill>
            <a:srgbClr val="352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0920" y="2560320"/>
            <a:ext cx="3749039" cy="868680"/>
          </a:xfrm>
          <a:prstGeom prst="rect">
            <a:avLst/>
          </a:prstGeom>
          <a:noFill/>
        </p:spPr>
        <p:txBody>
          <a:bodyPr wrap="square" lIns="0" rIns="0" tIns="0" bIns="0" anchor="ctr">
            <a:spAutoFit/>
          </a:bodyPr>
          <a:lstStyle/>
          <a:p>
            <a:pPr algn="ctr"/>
            <a:r>
              <a:rPr sz="2000" b="1">
                <a:solidFill>
                  <a:srgbClr val="B9A7B3"/>
                </a:solidFill>
                <a:latin typeface="Arial"/>
              </a:rPr>
              <a:t>The next scroll</a:t>
            </a:r>
          </a:p>
        </p:txBody>
      </p:sp>
      <p:sp>
        <p:nvSpPr>
          <p:cNvPr id="12" name="TextBox 11"/>
          <p:cNvSpPr txBox="1"/>
          <p:nvPr/>
        </p:nvSpPr>
        <p:spPr>
          <a:xfrm>
            <a:off x="7360920" y="3474720"/>
            <a:ext cx="3749039" cy="502920"/>
          </a:xfrm>
          <a:prstGeom prst="rect">
            <a:avLst/>
          </a:prstGeom>
          <a:noFill/>
        </p:spPr>
        <p:txBody>
          <a:bodyPr wrap="square" lIns="0" rIns="0" tIns="0" bIns="0" anchor="ctr">
            <a:spAutoFit/>
          </a:bodyPr>
          <a:lstStyle/>
          <a:p>
            <a:pPr algn="ctr"/>
            <a:r>
              <a:rPr sz="1400" b="0">
                <a:solidFill>
                  <a:srgbClr val="B9A7B3"/>
                </a:solidFill>
                <a:latin typeface="Arial"/>
              </a:rPr>
              <a:t>becomes</a:t>
            </a:r>
          </a:p>
        </p:txBody>
      </p:sp>
      <p:sp>
        <p:nvSpPr>
          <p:cNvPr id="13" name="Rounded Rectangle 12"/>
          <p:cNvSpPr/>
          <p:nvPr/>
        </p:nvSpPr>
        <p:spPr>
          <a:xfrm>
            <a:off x="7360920" y="4023360"/>
            <a:ext cx="3749039" cy="868680"/>
          </a:xfrm>
          <a:prstGeom prst="roundRect">
            <a:avLst>
              <a:gd name="adj" fmla="val 30000"/>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0920" y="4023360"/>
            <a:ext cx="3749039" cy="868680"/>
          </a:xfrm>
          <a:prstGeom prst="rect">
            <a:avLst/>
          </a:prstGeom>
          <a:noFill/>
        </p:spPr>
        <p:txBody>
          <a:bodyPr wrap="square" lIns="0" rIns="0" tIns="0" bIns="0" anchor="ctr">
            <a:spAutoFit/>
          </a:bodyPr>
          <a:lstStyle/>
          <a:p>
            <a:pPr algn="ctr"/>
            <a:r>
              <a:rPr sz="2000" b="1">
                <a:solidFill>
                  <a:srgbClr val="27121E"/>
                </a:solidFill>
                <a:latin typeface="Arial"/>
              </a:rPr>
              <a:t>One interview rep</a:t>
            </a:r>
          </a:p>
        </p:txBody>
      </p:sp>
      <p:sp>
        <p:nvSpPr>
          <p:cNvPr id="15" name="TextBox 14"/>
          <p:cNvSpPr txBox="1"/>
          <p:nvPr/>
        </p:nvSpPr>
        <p:spPr>
          <a:xfrm>
            <a:off x="7360920" y="4983480"/>
            <a:ext cx="3749039" cy="457200"/>
          </a:xfrm>
          <a:prstGeom prst="rect">
            <a:avLst/>
          </a:prstGeom>
          <a:noFill/>
        </p:spPr>
        <p:txBody>
          <a:bodyPr wrap="square" lIns="0" rIns="0" tIns="0" bIns="0" anchor="ctr">
            <a:spAutoFit/>
          </a:bodyPr>
          <a:lstStyle/>
          <a:p>
            <a:pPr algn="ctr"/>
            <a:r>
              <a:rPr sz="1400" b="0">
                <a:solidFill>
                  <a:srgbClr val="B9A7B3"/>
                </a:solidFill>
                <a:latin typeface="Arial"/>
              </a:rPr>
              <a:t>then a break you earned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014"/>
        </a:solidFill>
        <a:effectLst/>
      </p:bgPr>
    </p:bg>
    <p:spTree>
      <p:nvGrpSpPr>
        <p:cNvPr id="1" name=""/>
        <p:cNvGrpSpPr/>
        <p:nvPr/>
      </p:nvGrpSpPr>
      <p:grpSpPr/>
      <p:sp>
        <p:nvSpPr>
          <p:cNvPr id="2" name="TextBox 1"/>
          <p:cNvSpPr txBox="1"/>
          <p:nvPr/>
        </p:nvSpPr>
        <p:spPr>
          <a:xfrm>
            <a:off x="640080" y="548640"/>
            <a:ext cx="10881360" cy="274320"/>
          </a:xfrm>
          <a:prstGeom prst="rect">
            <a:avLst/>
          </a:prstGeom>
          <a:noFill/>
        </p:spPr>
        <p:txBody>
          <a:bodyPr wrap="square" lIns="0" rIns="0" tIns="0" bIns="0" anchor="t">
            <a:spAutoFit/>
          </a:bodyPr>
          <a:lstStyle/>
          <a:p>
            <a:pPr algn="l"/>
            <a:r>
              <a:rPr sz="1200" b="1">
                <a:solidFill>
                  <a:srgbClr val="B9A7B3"/>
                </a:solidFill>
                <a:latin typeface="Arial"/>
              </a:rPr>
              <a:t>HOW  ·  IT WORKS</a:t>
            </a:r>
          </a:p>
        </p:txBody>
      </p:sp>
      <p:sp>
        <p:nvSpPr>
          <p:cNvPr id="3" name="TextBox 2"/>
          <p:cNvSpPr txBox="1"/>
          <p:nvPr/>
        </p:nvSpPr>
        <p:spPr>
          <a:xfrm>
            <a:off x="640080" y="868680"/>
            <a:ext cx="10881360" cy="1097280"/>
          </a:xfrm>
          <a:prstGeom prst="rect">
            <a:avLst/>
          </a:prstGeom>
          <a:noFill/>
        </p:spPr>
        <p:txBody>
          <a:bodyPr wrap="square" lIns="0" rIns="0" tIns="0" bIns="0" anchor="t">
            <a:spAutoFit/>
          </a:bodyPr>
          <a:lstStyle/>
          <a:p>
            <a:pPr algn="l">
              <a:lnSpc>
                <a:spcPct val="95000"/>
              </a:lnSpc>
            </a:pPr>
            <a:r>
              <a:rPr sz="3600" b="1">
                <a:solidFill>
                  <a:srgbClr val="FAEFF5"/>
                </a:solidFill>
                <a:latin typeface="Arial"/>
              </a:rPr>
              <a:t>Three steps, repeated daily</a:t>
            </a:r>
          </a:p>
        </p:txBody>
      </p:sp>
      <p:sp>
        <p:nvSpPr>
          <p:cNvPr id="4" name="TextBox 3"/>
          <p:cNvSpPr txBox="1"/>
          <p:nvPr/>
        </p:nvSpPr>
        <p:spPr>
          <a:xfrm>
            <a:off x="10911535" y="6309360"/>
            <a:ext cx="640080" cy="274320"/>
          </a:xfrm>
          <a:prstGeom prst="rect">
            <a:avLst/>
          </a:prstGeom>
          <a:noFill/>
        </p:spPr>
        <p:txBody>
          <a:bodyPr wrap="square" lIns="0" rIns="0" tIns="0" bIns="0" anchor="t">
            <a:spAutoFit/>
          </a:bodyPr>
          <a:lstStyle/>
          <a:p>
            <a:pPr algn="r"/>
            <a:r>
              <a:rPr sz="1100" b="0">
                <a:solidFill>
                  <a:srgbClr val="B9A7B3"/>
                </a:solidFill>
                <a:latin typeface="Arial"/>
              </a:rPr>
              <a:t>04</a:t>
            </a:r>
          </a:p>
        </p:txBody>
      </p:sp>
      <p:sp>
        <p:nvSpPr>
          <p:cNvPr id="5" name="TextBox 4"/>
          <p:cNvSpPr txBox="1"/>
          <p:nvPr/>
        </p:nvSpPr>
        <p:spPr>
          <a:xfrm>
            <a:off x="640080" y="6309360"/>
            <a:ext cx="2743200" cy="274320"/>
          </a:xfrm>
          <a:prstGeom prst="rect">
            <a:avLst/>
          </a:prstGeom>
          <a:noFill/>
        </p:spPr>
        <p:txBody>
          <a:bodyPr wrap="square" lIns="0" rIns="0" tIns="0" bIns="0" anchor="t">
            <a:spAutoFit/>
          </a:bodyPr>
          <a:lstStyle/>
          <a:p>
            <a:pPr algn="l"/>
            <a:r>
              <a:rPr sz="1100" b="1">
                <a:solidFill>
                  <a:srgbClr val="B9A7B3"/>
                </a:solidFill>
                <a:latin typeface="Arial"/>
              </a:rPr>
              <a:t>unscroll</a:t>
            </a:r>
            <a:r>
              <a:rPr sz="1100" b="1">
                <a:solidFill>
                  <a:srgbClr val="F28DBB"/>
                </a:solidFill>
                <a:latin typeface="Arial"/>
              </a:rPr>
              <a:t>.</a:t>
            </a:r>
          </a:p>
        </p:txBody>
      </p:sp>
      <p:sp>
        <p:nvSpPr>
          <p:cNvPr id="6" name="Rounded Rectangle 5"/>
          <p:cNvSpPr/>
          <p:nvPr/>
        </p:nvSpPr>
        <p:spPr>
          <a:xfrm>
            <a:off x="640080" y="2240280"/>
            <a:ext cx="3429000" cy="3520440"/>
          </a:xfrm>
          <a:prstGeom prst="roundRect">
            <a:avLst>
              <a:gd name="adj" fmla="val 6000"/>
            </a:avLst>
          </a:prstGeom>
          <a:solidFill>
            <a:srgbClr val="1D1A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2606040"/>
            <a:ext cx="658368" cy="658368"/>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7121E"/>
                </a:solidFill>
                <a:latin typeface="Arial"/>
              </a:rPr>
              <a:t>1</a:t>
            </a:r>
          </a:p>
        </p:txBody>
      </p:sp>
      <p:sp>
        <p:nvSpPr>
          <p:cNvPr id="8" name="TextBox 7"/>
          <p:cNvSpPr txBox="1"/>
          <p:nvPr/>
        </p:nvSpPr>
        <p:spPr>
          <a:xfrm>
            <a:off x="1005840" y="3520440"/>
            <a:ext cx="2697480" cy="868680"/>
          </a:xfrm>
          <a:prstGeom prst="rect">
            <a:avLst/>
          </a:prstGeom>
          <a:noFill/>
        </p:spPr>
        <p:txBody>
          <a:bodyPr wrap="square" lIns="0" rIns="0" tIns="0" bIns="0" anchor="t">
            <a:spAutoFit/>
          </a:bodyPr>
          <a:lstStyle/>
          <a:p>
            <a:pPr algn="l">
              <a:lnSpc>
                <a:spcPct val="100000"/>
              </a:lnSpc>
            </a:pPr>
            <a:r>
              <a:rPr sz="2200" b="1">
                <a:solidFill>
                  <a:srgbClr val="FAEFF5"/>
                </a:solidFill>
                <a:latin typeface="Arial"/>
              </a:rPr>
              <a:t>Pick your distractions</a:t>
            </a:r>
          </a:p>
        </p:txBody>
      </p:sp>
      <p:sp>
        <p:nvSpPr>
          <p:cNvPr id="9" name="TextBox 8"/>
          <p:cNvSpPr txBox="1"/>
          <p:nvPr/>
        </p:nvSpPr>
        <p:spPr>
          <a:xfrm>
            <a:off x="1005840" y="4434840"/>
            <a:ext cx="2697480" cy="1188720"/>
          </a:xfrm>
          <a:prstGeom prst="rect">
            <a:avLst/>
          </a:prstGeom>
          <a:noFill/>
        </p:spPr>
        <p:txBody>
          <a:bodyPr wrap="square" lIns="0" rIns="0" tIns="0" bIns="0" anchor="t">
            <a:spAutoFit/>
          </a:bodyPr>
          <a:lstStyle/>
          <a:p>
            <a:pPr algn="l">
              <a:lnSpc>
                <a:spcPct val="115000"/>
              </a:lnSpc>
            </a:pPr>
            <a:r>
              <a:rPr sz="1500" b="0">
                <a:solidFill>
                  <a:srgbClr val="B9A7B3"/>
                </a:solidFill>
                <a:latin typeface="Arial"/>
              </a:rPr>
              <a:t>Choose the apps that pull you in, plus your major, goals and target companies.</a:t>
            </a:r>
          </a:p>
        </p:txBody>
      </p:sp>
      <p:sp>
        <p:nvSpPr>
          <p:cNvPr id="10" name="Rounded Rectangle 9"/>
          <p:cNvSpPr/>
          <p:nvPr/>
        </p:nvSpPr>
        <p:spPr>
          <a:xfrm>
            <a:off x="4379976" y="2240280"/>
            <a:ext cx="3429000" cy="3520440"/>
          </a:xfrm>
          <a:prstGeom prst="roundRect">
            <a:avLst>
              <a:gd name="adj" fmla="val 6000"/>
            </a:avLst>
          </a:prstGeom>
          <a:solidFill>
            <a:srgbClr val="1D1A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45736" y="2606040"/>
            <a:ext cx="658368" cy="658368"/>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7121E"/>
                </a:solidFill>
                <a:latin typeface="Arial"/>
              </a:rPr>
              <a:t>2</a:t>
            </a:r>
          </a:p>
        </p:txBody>
      </p:sp>
      <p:sp>
        <p:nvSpPr>
          <p:cNvPr id="12" name="TextBox 11"/>
          <p:cNvSpPr txBox="1"/>
          <p:nvPr/>
        </p:nvSpPr>
        <p:spPr>
          <a:xfrm>
            <a:off x="4745736" y="3520440"/>
            <a:ext cx="2697480" cy="868680"/>
          </a:xfrm>
          <a:prstGeom prst="rect">
            <a:avLst/>
          </a:prstGeom>
          <a:noFill/>
        </p:spPr>
        <p:txBody>
          <a:bodyPr wrap="square" lIns="0" rIns="0" tIns="0" bIns="0" anchor="t">
            <a:spAutoFit/>
          </a:bodyPr>
          <a:lstStyle/>
          <a:p>
            <a:pPr algn="l">
              <a:lnSpc>
                <a:spcPct val="100000"/>
              </a:lnSpc>
            </a:pPr>
            <a:r>
              <a:rPr sz="2200" b="1">
                <a:solidFill>
                  <a:srgbClr val="FAEFF5"/>
                </a:solidFill>
                <a:latin typeface="Arial"/>
              </a:rPr>
              <a:t>Pass an interview with Jarvis</a:t>
            </a:r>
          </a:p>
        </p:txBody>
      </p:sp>
      <p:sp>
        <p:nvSpPr>
          <p:cNvPr id="13" name="TextBox 12"/>
          <p:cNvSpPr txBox="1"/>
          <p:nvPr/>
        </p:nvSpPr>
        <p:spPr>
          <a:xfrm>
            <a:off x="4745736" y="4434840"/>
            <a:ext cx="2697480" cy="1188720"/>
          </a:xfrm>
          <a:prstGeom prst="rect">
            <a:avLst/>
          </a:prstGeom>
          <a:noFill/>
        </p:spPr>
        <p:txBody>
          <a:bodyPr wrap="square" lIns="0" rIns="0" tIns="0" bIns="0" anchor="t">
            <a:spAutoFit/>
          </a:bodyPr>
          <a:lstStyle/>
          <a:p>
            <a:pPr algn="l">
              <a:lnSpc>
                <a:spcPct val="115000"/>
              </a:lnSpc>
            </a:pPr>
            <a:r>
              <a:rPr sz="1500" b="0">
                <a:solidFill>
                  <a:srgbClr val="B9A7B3"/>
                </a:solidFill>
                <a:latin typeface="Arial"/>
              </a:rPr>
              <a:t>A short daily set of technical and behavioral questions. Answer by voice or by typing.</a:t>
            </a:r>
          </a:p>
        </p:txBody>
      </p:sp>
      <p:sp>
        <p:nvSpPr>
          <p:cNvPr id="14" name="Rounded Rectangle 13"/>
          <p:cNvSpPr/>
          <p:nvPr/>
        </p:nvSpPr>
        <p:spPr>
          <a:xfrm>
            <a:off x="8119871" y="2240280"/>
            <a:ext cx="3429000" cy="3520440"/>
          </a:xfrm>
          <a:prstGeom prst="roundRect">
            <a:avLst>
              <a:gd name="adj" fmla="val 6000"/>
            </a:avLst>
          </a:prstGeom>
          <a:solidFill>
            <a:srgbClr val="1D1A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85632" y="2606040"/>
            <a:ext cx="658368" cy="658368"/>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7121E"/>
                </a:solidFill>
                <a:latin typeface="Arial"/>
              </a:rPr>
              <a:t>3</a:t>
            </a:r>
          </a:p>
        </p:txBody>
      </p:sp>
      <p:sp>
        <p:nvSpPr>
          <p:cNvPr id="16" name="TextBox 15"/>
          <p:cNvSpPr txBox="1"/>
          <p:nvPr/>
        </p:nvSpPr>
        <p:spPr>
          <a:xfrm>
            <a:off x="8485632" y="3520440"/>
            <a:ext cx="2697480" cy="868680"/>
          </a:xfrm>
          <a:prstGeom prst="rect">
            <a:avLst/>
          </a:prstGeom>
          <a:noFill/>
        </p:spPr>
        <p:txBody>
          <a:bodyPr wrap="square" lIns="0" rIns="0" tIns="0" bIns="0" anchor="t">
            <a:spAutoFit/>
          </a:bodyPr>
          <a:lstStyle/>
          <a:p>
            <a:pPr algn="l">
              <a:lnSpc>
                <a:spcPct val="100000"/>
              </a:lnSpc>
            </a:pPr>
            <a:r>
              <a:rPr sz="2200" b="1">
                <a:solidFill>
                  <a:srgbClr val="FAEFF5"/>
                </a:solidFill>
                <a:latin typeface="Arial"/>
              </a:rPr>
              <a:t>Earn your break</a:t>
            </a:r>
          </a:p>
        </p:txBody>
      </p:sp>
      <p:sp>
        <p:nvSpPr>
          <p:cNvPr id="17" name="TextBox 16"/>
          <p:cNvSpPr txBox="1"/>
          <p:nvPr/>
        </p:nvSpPr>
        <p:spPr>
          <a:xfrm>
            <a:off x="8485632" y="4434840"/>
            <a:ext cx="2697480" cy="1188720"/>
          </a:xfrm>
          <a:prstGeom prst="rect">
            <a:avLst/>
          </a:prstGeom>
          <a:noFill/>
        </p:spPr>
        <p:txBody>
          <a:bodyPr wrap="square" lIns="0" rIns="0" tIns="0" bIns="0" anchor="t">
            <a:spAutoFit/>
          </a:bodyPr>
          <a:lstStyle/>
          <a:p>
            <a:pPr algn="l">
              <a:lnSpc>
                <a:spcPct val="115000"/>
              </a:lnSpc>
            </a:pPr>
            <a:r>
              <a:rPr sz="1500" b="0">
                <a:solidFill>
                  <a:srgbClr val="B9A7B3"/>
                </a:solidFill>
                <a:latin typeface="Arial"/>
              </a:rPr>
              <a:t>Pass to open a 15, 30 or 60 minute break. A missed answer returns as a different question.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014"/>
        </a:solidFill>
        <a:effectLst/>
      </p:bgPr>
    </p:bg>
    <p:spTree>
      <p:nvGrpSpPr>
        <p:cNvPr id="1" name=""/>
        <p:cNvGrpSpPr/>
        <p:nvPr/>
      </p:nvGrpSpPr>
      <p:grpSpPr/>
      <p:sp>
        <p:nvSpPr>
          <p:cNvPr id="2" name="Oval 1"/>
          <p:cNvSpPr/>
          <p:nvPr/>
        </p:nvSpPr>
        <p:spPr>
          <a:xfrm>
            <a:off x="9692640" y="4206240"/>
            <a:ext cx="4206240" cy="4206240"/>
          </a:xfrm>
          <a:prstGeom prst="ellipse">
            <a:avLst/>
          </a:prstGeom>
          <a:no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862865" cy="5943600"/>
          </a:xfrm>
          <a:prstGeom prst="roundRect">
            <a:avLst>
              <a:gd name="adj" fmla="val 9000"/>
            </a:avLst>
          </a:prstGeom>
          <a:solidFill>
            <a:srgbClr val="2B272C"/>
          </a:solidFill>
          <a:ln w="12700">
            <a:solidFill>
              <a:srgbClr val="4A44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creen-jarvis.jpg"/>
          <p:cNvPicPr>
            <a:picLocks noChangeAspect="1"/>
          </p:cNvPicPr>
          <p:nvPr/>
        </p:nvPicPr>
        <p:blipFill>
          <a:blip r:embed="rId3"/>
          <a:stretch>
            <a:fillRect/>
          </a:stretch>
        </p:blipFill>
        <p:spPr>
          <a:xfrm>
            <a:off x="841248" y="566928"/>
            <a:ext cx="2645889" cy="5724144"/>
          </a:xfrm>
          <a:prstGeom prst="rect">
            <a:avLst/>
          </a:prstGeom>
          <a:ln w="12700">
            <a:solidFill>
              <a:srgbClr val="111014"/>
            </a:solidFill>
          </a:ln>
        </p:spPr>
      </p:pic>
      <p:sp>
        <p:nvSpPr>
          <p:cNvPr id="5" name="TextBox 4"/>
          <p:cNvSpPr txBox="1"/>
          <p:nvPr/>
        </p:nvSpPr>
        <p:spPr>
          <a:xfrm>
            <a:off x="4343400" y="548640"/>
            <a:ext cx="7132320" cy="274320"/>
          </a:xfrm>
          <a:prstGeom prst="rect">
            <a:avLst/>
          </a:prstGeom>
          <a:noFill/>
        </p:spPr>
        <p:txBody>
          <a:bodyPr wrap="square" lIns="0" rIns="0" tIns="0" bIns="0" anchor="t">
            <a:spAutoFit/>
          </a:bodyPr>
          <a:lstStyle/>
          <a:p>
            <a:pPr algn="l"/>
            <a:r>
              <a:rPr sz="1200" b="1">
                <a:solidFill>
                  <a:srgbClr val="B9A7B3"/>
                </a:solidFill>
                <a:latin typeface="Arial"/>
              </a:rPr>
              <a:t>HOW  ·  THE INTERVIEWER</a:t>
            </a:r>
          </a:p>
        </p:txBody>
      </p:sp>
      <p:sp>
        <p:nvSpPr>
          <p:cNvPr id="6" name="TextBox 5"/>
          <p:cNvSpPr txBox="1"/>
          <p:nvPr/>
        </p:nvSpPr>
        <p:spPr>
          <a:xfrm>
            <a:off x="4343400" y="868680"/>
            <a:ext cx="7223760" cy="1371600"/>
          </a:xfrm>
          <a:prstGeom prst="rect">
            <a:avLst/>
          </a:prstGeom>
          <a:noFill/>
        </p:spPr>
        <p:txBody>
          <a:bodyPr wrap="square" lIns="0" rIns="0" tIns="0" bIns="0" anchor="t">
            <a:spAutoFit/>
          </a:bodyPr>
          <a:lstStyle/>
          <a:p>
            <a:pPr algn="l">
              <a:lnSpc>
                <a:spcPct val="95000"/>
              </a:lnSpc>
            </a:pPr>
            <a:r>
              <a:rPr sz="3600" b="1">
                <a:solidFill>
                  <a:srgbClr val="FAEFF5"/>
                </a:solidFill>
                <a:latin typeface="Arial"/>
              </a:rPr>
              <a:t>Meet Jarvis,</a:t>
            </a:r>
          </a:p>
          <a:p>
            <a:pPr algn="l">
              <a:lnSpc>
                <a:spcPct val="95000"/>
              </a:lnSpc>
            </a:pPr>
            <a:r>
              <a:rPr sz="3600" b="1">
                <a:solidFill>
                  <a:srgbClr val="FAEFF5"/>
                </a:solidFill>
                <a:latin typeface="Arial"/>
              </a:rPr>
              <a:t>your AI interviewer</a:t>
            </a:r>
          </a:p>
        </p:txBody>
      </p:sp>
      <p:sp>
        <p:nvSpPr>
          <p:cNvPr id="7" name="Oval 6"/>
          <p:cNvSpPr/>
          <p:nvPr/>
        </p:nvSpPr>
        <p:spPr>
          <a:xfrm>
            <a:off x="4343400" y="2587752"/>
            <a:ext cx="310896" cy="310896"/>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2514600"/>
            <a:ext cx="6583680" cy="365760"/>
          </a:xfrm>
          <a:prstGeom prst="rect">
            <a:avLst/>
          </a:prstGeom>
          <a:noFill/>
        </p:spPr>
        <p:txBody>
          <a:bodyPr wrap="square" lIns="0" rIns="0" tIns="0" bIns="0" anchor="t">
            <a:spAutoFit/>
          </a:bodyPr>
          <a:lstStyle/>
          <a:p>
            <a:pPr algn="l"/>
            <a:r>
              <a:rPr sz="1900" b="1">
                <a:solidFill>
                  <a:srgbClr val="FAEFF5"/>
                </a:solidFill>
                <a:latin typeface="Arial"/>
              </a:rPr>
              <a:t>He asks, then listens</a:t>
            </a:r>
          </a:p>
        </p:txBody>
      </p:sp>
      <p:sp>
        <p:nvSpPr>
          <p:cNvPr id="9" name="TextBox 8"/>
          <p:cNvSpPr txBox="1"/>
          <p:nvPr/>
        </p:nvSpPr>
        <p:spPr>
          <a:xfrm>
            <a:off x="4892040" y="2898648"/>
            <a:ext cx="6583680" cy="411480"/>
          </a:xfrm>
          <a:prstGeom prst="rect">
            <a:avLst/>
          </a:prstGeom>
          <a:noFill/>
        </p:spPr>
        <p:txBody>
          <a:bodyPr wrap="square" lIns="0" rIns="0" tIns="0" bIns="0" anchor="t">
            <a:spAutoFit/>
          </a:bodyPr>
          <a:lstStyle/>
          <a:p>
            <a:pPr algn="l"/>
            <a:r>
              <a:rPr sz="1400" b="0">
                <a:solidFill>
                  <a:srgbClr val="B9A7B3"/>
                </a:solidFill>
                <a:latin typeface="Arial"/>
              </a:rPr>
              <a:t>Answer out loud or type it. He reads each question to you.</a:t>
            </a:r>
          </a:p>
        </p:txBody>
      </p:sp>
      <p:sp>
        <p:nvSpPr>
          <p:cNvPr id="10" name="Oval 9"/>
          <p:cNvSpPr/>
          <p:nvPr/>
        </p:nvSpPr>
        <p:spPr>
          <a:xfrm>
            <a:off x="4343400" y="3502152"/>
            <a:ext cx="310896" cy="310896"/>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92040" y="3429000"/>
            <a:ext cx="6583680" cy="365760"/>
          </a:xfrm>
          <a:prstGeom prst="rect">
            <a:avLst/>
          </a:prstGeom>
          <a:noFill/>
        </p:spPr>
        <p:txBody>
          <a:bodyPr wrap="square" lIns="0" rIns="0" tIns="0" bIns="0" anchor="t">
            <a:spAutoFit/>
          </a:bodyPr>
          <a:lstStyle/>
          <a:p>
            <a:pPr algn="l"/>
            <a:r>
              <a:rPr sz="1900" b="1">
                <a:solidFill>
                  <a:srgbClr val="FAEFF5"/>
                </a:solidFill>
                <a:latin typeface="Arial"/>
              </a:rPr>
              <a:t>Clarifying questions are free</a:t>
            </a:r>
          </a:p>
        </p:txBody>
      </p:sp>
      <p:sp>
        <p:nvSpPr>
          <p:cNvPr id="12" name="TextBox 11"/>
          <p:cNvSpPr txBox="1"/>
          <p:nvPr/>
        </p:nvSpPr>
        <p:spPr>
          <a:xfrm>
            <a:off x="4892040" y="3813048"/>
            <a:ext cx="6583680" cy="411480"/>
          </a:xfrm>
          <a:prstGeom prst="rect">
            <a:avLst/>
          </a:prstGeom>
          <a:noFill/>
        </p:spPr>
        <p:txBody>
          <a:bodyPr wrap="square" lIns="0" rIns="0" tIns="0" bIns="0" anchor="t">
            <a:spAutoFit/>
          </a:bodyPr>
          <a:lstStyle/>
          <a:p>
            <a:pPr algn="l"/>
            <a:r>
              <a:rPr sz="1400" b="0">
                <a:solidFill>
                  <a:srgbClr val="B9A7B3"/>
                </a:solidFill>
                <a:latin typeface="Arial"/>
              </a:rPr>
              <a:t>Ask what he means before you answer. It is never graded.</a:t>
            </a:r>
          </a:p>
        </p:txBody>
      </p:sp>
      <p:sp>
        <p:nvSpPr>
          <p:cNvPr id="13" name="Oval 12"/>
          <p:cNvSpPr/>
          <p:nvPr/>
        </p:nvSpPr>
        <p:spPr>
          <a:xfrm>
            <a:off x="4343400" y="4416552"/>
            <a:ext cx="310896" cy="310896"/>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2040" y="4343400"/>
            <a:ext cx="6583680" cy="365760"/>
          </a:xfrm>
          <a:prstGeom prst="rect">
            <a:avLst/>
          </a:prstGeom>
          <a:noFill/>
        </p:spPr>
        <p:txBody>
          <a:bodyPr wrap="square" lIns="0" rIns="0" tIns="0" bIns="0" anchor="t">
            <a:spAutoFit/>
          </a:bodyPr>
          <a:lstStyle/>
          <a:p>
            <a:pPr algn="l"/>
            <a:r>
              <a:rPr sz="1900" b="1">
                <a:solidFill>
                  <a:srgbClr val="FAEFF5"/>
                </a:solidFill>
                <a:latin typeface="Arial"/>
              </a:rPr>
              <a:t>Hints cost evaluation points</a:t>
            </a:r>
          </a:p>
        </p:txBody>
      </p:sp>
      <p:sp>
        <p:nvSpPr>
          <p:cNvPr id="15" name="TextBox 14"/>
          <p:cNvSpPr txBox="1"/>
          <p:nvPr/>
        </p:nvSpPr>
        <p:spPr>
          <a:xfrm>
            <a:off x="4892040" y="4727448"/>
            <a:ext cx="6583680" cy="411480"/>
          </a:xfrm>
          <a:prstGeom prst="rect">
            <a:avLst/>
          </a:prstGeom>
          <a:noFill/>
        </p:spPr>
        <p:txBody>
          <a:bodyPr wrap="square" lIns="0" rIns="0" tIns="0" bIns="0" anchor="t">
            <a:spAutoFit/>
          </a:bodyPr>
          <a:lstStyle/>
          <a:p>
            <a:pPr algn="l"/>
            <a:r>
              <a:rPr sz="1400" b="0">
                <a:solidFill>
                  <a:srgbClr val="B9A7B3"/>
                </a:solidFill>
                <a:latin typeface="Arial"/>
              </a:rPr>
              <a:t>Ten points each, three per question. Pass or fail uses the raw grade.</a:t>
            </a:r>
          </a:p>
        </p:txBody>
      </p:sp>
      <p:sp>
        <p:nvSpPr>
          <p:cNvPr id="16" name="Oval 15"/>
          <p:cNvSpPr/>
          <p:nvPr/>
        </p:nvSpPr>
        <p:spPr>
          <a:xfrm>
            <a:off x="4343400" y="5330952"/>
            <a:ext cx="310896" cy="310896"/>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92040" y="5257800"/>
            <a:ext cx="6583680" cy="365760"/>
          </a:xfrm>
          <a:prstGeom prst="rect">
            <a:avLst/>
          </a:prstGeom>
          <a:noFill/>
        </p:spPr>
        <p:txBody>
          <a:bodyPr wrap="square" lIns="0" rIns="0" tIns="0" bIns="0" anchor="t">
            <a:spAutoFit/>
          </a:bodyPr>
          <a:lstStyle/>
          <a:p>
            <a:pPr algn="l"/>
            <a:r>
              <a:rPr sz="1900" b="1">
                <a:solidFill>
                  <a:srgbClr val="FAEFF5"/>
                </a:solidFill>
                <a:latin typeface="Arial"/>
              </a:rPr>
              <a:t>Feedback on what you said</a:t>
            </a:r>
          </a:p>
        </p:txBody>
      </p:sp>
      <p:sp>
        <p:nvSpPr>
          <p:cNvPr id="18" name="TextBox 17"/>
          <p:cNvSpPr txBox="1"/>
          <p:nvPr/>
        </p:nvSpPr>
        <p:spPr>
          <a:xfrm>
            <a:off x="4892040" y="5641848"/>
            <a:ext cx="6583680" cy="411480"/>
          </a:xfrm>
          <a:prstGeom prst="rect">
            <a:avLst/>
          </a:prstGeom>
          <a:noFill/>
        </p:spPr>
        <p:txBody>
          <a:bodyPr wrap="square" lIns="0" rIns="0" tIns="0" bIns="0" anchor="t">
            <a:spAutoFit/>
          </a:bodyPr>
          <a:lstStyle/>
          <a:p>
            <a:pPr algn="l"/>
            <a:r>
              <a:rPr sz="1400" b="0">
                <a:solidFill>
                  <a:srgbClr val="B9A7B3"/>
                </a:solidFill>
                <a:latin typeface="Arial"/>
              </a:rPr>
              <a:t>Behavioral answers get STAR feedback, line by line.</a:t>
            </a:r>
          </a:p>
        </p:txBody>
      </p:sp>
      <p:sp>
        <p:nvSpPr>
          <p:cNvPr id="19" name="TextBox 18"/>
          <p:cNvSpPr txBox="1"/>
          <p:nvPr/>
        </p:nvSpPr>
        <p:spPr>
          <a:xfrm>
            <a:off x="10911535" y="6309360"/>
            <a:ext cx="640080" cy="274320"/>
          </a:xfrm>
          <a:prstGeom prst="rect">
            <a:avLst/>
          </a:prstGeom>
          <a:noFill/>
        </p:spPr>
        <p:txBody>
          <a:bodyPr wrap="square" lIns="0" rIns="0" tIns="0" bIns="0" anchor="t">
            <a:spAutoFit/>
          </a:bodyPr>
          <a:lstStyle/>
          <a:p>
            <a:pPr algn="r"/>
            <a:r>
              <a:rPr sz="1100" b="0">
                <a:solidFill>
                  <a:srgbClr val="B9A7B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014"/>
        </a:solidFill>
        <a:effectLst/>
      </p:bgPr>
    </p:bg>
    <p:spTree>
      <p:nvGrpSpPr>
        <p:cNvPr id="1" name=""/>
        <p:cNvGrpSpPr/>
        <p:nvPr/>
      </p:nvGrpSpPr>
      <p:grpSpPr/>
      <p:sp>
        <p:nvSpPr>
          <p:cNvPr id="2" name="TextBox 1"/>
          <p:cNvSpPr txBox="1"/>
          <p:nvPr/>
        </p:nvSpPr>
        <p:spPr>
          <a:xfrm>
            <a:off x="640080" y="548640"/>
            <a:ext cx="10881360" cy="274320"/>
          </a:xfrm>
          <a:prstGeom prst="rect">
            <a:avLst/>
          </a:prstGeom>
          <a:noFill/>
        </p:spPr>
        <p:txBody>
          <a:bodyPr wrap="square" lIns="0" rIns="0" tIns="0" bIns="0" anchor="t">
            <a:spAutoFit/>
          </a:bodyPr>
          <a:lstStyle/>
          <a:p>
            <a:pPr algn="l"/>
            <a:r>
              <a:rPr sz="1200" b="1">
                <a:solidFill>
                  <a:srgbClr val="B9A7B3"/>
                </a:solidFill>
                <a:latin typeface="Arial"/>
              </a:rPr>
              <a:t>THE FILM</a:t>
            </a:r>
          </a:p>
        </p:txBody>
      </p:sp>
      <p:sp>
        <p:nvSpPr>
          <p:cNvPr id="3" name="TextBox 2"/>
          <p:cNvSpPr txBox="1"/>
          <p:nvPr/>
        </p:nvSpPr>
        <p:spPr>
          <a:xfrm>
            <a:off x="640080" y="868680"/>
            <a:ext cx="10881360" cy="1097280"/>
          </a:xfrm>
          <a:prstGeom prst="rect">
            <a:avLst/>
          </a:prstGeom>
          <a:noFill/>
        </p:spPr>
        <p:txBody>
          <a:bodyPr wrap="square" lIns="0" rIns="0" tIns="0" bIns="0" anchor="t">
            <a:spAutoFit/>
          </a:bodyPr>
          <a:lstStyle/>
          <a:p>
            <a:pPr algn="l">
              <a:lnSpc>
                <a:spcPct val="95000"/>
              </a:lnSpc>
            </a:pPr>
            <a:r>
              <a:rPr sz="3600" b="1">
                <a:solidFill>
                  <a:srgbClr val="FAEFF5"/>
                </a:solidFill>
                <a:latin typeface="Arial"/>
              </a:rPr>
              <a:t>Why, what and how in forty seconds</a:t>
            </a:r>
          </a:p>
        </p:txBody>
      </p:sp>
      <p:sp>
        <p:nvSpPr>
          <p:cNvPr id="4" name="TextBox 3"/>
          <p:cNvSpPr txBox="1"/>
          <p:nvPr/>
        </p:nvSpPr>
        <p:spPr>
          <a:xfrm>
            <a:off x="10911535" y="6309360"/>
            <a:ext cx="640080" cy="274320"/>
          </a:xfrm>
          <a:prstGeom prst="rect">
            <a:avLst/>
          </a:prstGeom>
          <a:noFill/>
        </p:spPr>
        <p:txBody>
          <a:bodyPr wrap="square" lIns="0" rIns="0" tIns="0" bIns="0" anchor="t">
            <a:spAutoFit/>
          </a:bodyPr>
          <a:lstStyle/>
          <a:p>
            <a:pPr algn="r"/>
            <a:r>
              <a:rPr sz="1100" b="0">
                <a:solidFill>
                  <a:srgbClr val="B9A7B3"/>
                </a:solidFill>
                <a:latin typeface="Arial"/>
              </a:rPr>
              <a:t>06</a:t>
            </a:r>
          </a:p>
        </p:txBody>
      </p:sp>
      <p:sp>
        <p:nvSpPr>
          <p:cNvPr id="5" name="TextBox 4"/>
          <p:cNvSpPr txBox="1"/>
          <p:nvPr/>
        </p:nvSpPr>
        <p:spPr>
          <a:xfrm>
            <a:off x="640080" y="6309360"/>
            <a:ext cx="2743200" cy="274320"/>
          </a:xfrm>
          <a:prstGeom prst="rect">
            <a:avLst/>
          </a:prstGeom>
          <a:noFill/>
        </p:spPr>
        <p:txBody>
          <a:bodyPr wrap="square" lIns="0" rIns="0" tIns="0" bIns="0" anchor="t">
            <a:spAutoFit/>
          </a:bodyPr>
          <a:lstStyle/>
          <a:p>
            <a:pPr algn="l"/>
            <a:r>
              <a:rPr sz="1100" b="1">
                <a:solidFill>
                  <a:srgbClr val="B9A7B3"/>
                </a:solidFill>
                <a:latin typeface="Arial"/>
              </a:rPr>
              <a:t>unscroll</a:t>
            </a:r>
            <a:r>
              <a:rPr sz="1100" b="1">
                <a:solidFill>
                  <a:srgbClr val="F28DBB"/>
                </a:solidFill>
                <a:latin typeface="Arial"/>
              </a:rPr>
              <a:t>.</a:t>
            </a:r>
          </a:p>
        </p:txBody>
      </p:sp>
      <p:pic>
        <p:nvPicPr>
          <p:cNvPr id="6" name="Picture 5" descr="unscroll-ad-poster.jpg">
            <a:hlinkClick r:id="rId4"/>
          </p:cNvPr>
          <p:cNvPicPr>
            <a:picLocks noChangeAspect="1"/>
          </p:cNvPicPr>
          <p:nvPr/>
        </p:nvPicPr>
        <p:blipFill>
          <a:blip r:embed="rId3"/>
          <a:stretch>
            <a:fillRect/>
          </a:stretch>
        </p:blipFill>
        <p:spPr>
          <a:xfrm>
            <a:off x="640080" y="2103120"/>
            <a:ext cx="6217920" cy="3497580"/>
          </a:xfrm>
          <a:prstGeom prst="rect">
            <a:avLst/>
          </a:prstGeom>
          <a:ln w="12700">
            <a:solidFill>
              <a:srgbClr val="3D303A"/>
            </a:solidFill>
          </a:ln>
        </p:spPr>
      </p:pic>
      <p:sp>
        <p:nvSpPr>
          <p:cNvPr id="7" name="Rounded Rectangle 6">
            <a:hlinkClick r:id="rId4"/>
          </p:cNvPr>
          <p:cNvSpPr/>
          <p:nvPr/>
        </p:nvSpPr>
        <p:spPr>
          <a:xfrm>
            <a:off x="4206240" y="5029200"/>
            <a:ext cx="2468880" cy="457200"/>
          </a:xfrm>
          <a:prstGeom prst="roundRect">
            <a:avLst>
              <a:gd name="adj" fmla="val 50000"/>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r:id="rId4"/>
          </p:cNvPr>
          <p:cNvSpPr txBox="1"/>
          <p:nvPr/>
        </p:nvSpPr>
        <p:spPr>
          <a:xfrm>
            <a:off x="4206240" y="5029200"/>
            <a:ext cx="2468880" cy="457200"/>
          </a:xfrm>
          <a:prstGeom prst="rect">
            <a:avLst/>
          </a:prstGeom>
          <a:noFill/>
        </p:spPr>
        <p:txBody>
          <a:bodyPr wrap="square" lIns="0" rIns="0" tIns="0" bIns="0" anchor="ctr">
            <a:spAutoFit/>
          </a:bodyPr>
          <a:lstStyle/>
          <a:p>
            <a:pPr algn="ctr"/>
            <a:r>
              <a:rPr sz="1400" b="1">
                <a:solidFill>
                  <a:srgbClr val="27121E"/>
                </a:solidFill>
                <a:latin typeface="Arial"/>
              </a:rPr>
              <a:t>Play on YouTube</a:t>
            </a:r>
          </a:p>
        </p:txBody>
      </p:sp>
      <p:sp>
        <p:nvSpPr>
          <p:cNvPr id="9" name="TextBox 8">
            <a:hlinkClick r:id="rId4"/>
          </p:cNvPr>
          <p:cNvSpPr txBox="1"/>
          <p:nvPr/>
        </p:nvSpPr>
        <p:spPr>
          <a:xfrm>
            <a:off x="640080" y="5760720"/>
            <a:ext cx="6217920" cy="320040"/>
          </a:xfrm>
          <a:prstGeom prst="rect">
            <a:avLst/>
          </a:prstGeom>
          <a:noFill/>
        </p:spPr>
        <p:txBody>
          <a:bodyPr wrap="square" lIns="0" rIns="0" tIns="0" bIns="0" anchor="t">
            <a:spAutoFit/>
          </a:bodyPr>
          <a:lstStyle/>
          <a:p>
            <a:pPr algn="l"/>
            <a:r>
              <a:rPr sz="1300" b="0">
                <a:solidFill>
                  <a:srgbClr val="B9A7B3"/>
                </a:solidFill>
                <a:latin typeface="Arial"/>
              </a:rPr>
              <a:t>youtu.be/fKccxDHB6GI   ·   drawn, scored and narrated in code</a:t>
            </a:r>
          </a:p>
        </p:txBody>
      </p:sp>
      <p:sp>
        <p:nvSpPr>
          <p:cNvPr id="10" name="Rounded Rectangle 9"/>
          <p:cNvSpPr/>
          <p:nvPr/>
        </p:nvSpPr>
        <p:spPr>
          <a:xfrm>
            <a:off x="7315200" y="2103120"/>
            <a:ext cx="4233672" cy="1097280"/>
          </a:xfrm>
          <a:prstGeom prst="roundRect">
            <a:avLst>
              <a:gd name="adj" fmla="val 6000"/>
            </a:avLst>
          </a:prstGeom>
          <a:solidFill>
            <a:srgbClr val="1D1A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2249424"/>
            <a:ext cx="3657600" cy="274320"/>
          </a:xfrm>
          <a:prstGeom prst="rect">
            <a:avLst/>
          </a:prstGeom>
          <a:noFill/>
        </p:spPr>
        <p:txBody>
          <a:bodyPr wrap="square" lIns="0" rIns="0" tIns="0" bIns="0" anchor="t">
            <a:spAutoFit/>
          </a:bodyPr>
          <a:lstStyle/>
          <a:p>
            <a:pPr algn="l"/>
            <a:r>
              <a:rPr sz="1200" b="1">
                <a:solidFill>
                  <a:srgbClr val="F28DBB"/>
                </a:solidFill>
                <a:latin typeface="Arial"/>
              </a:rPr>
              <a:t>WHY</a:t>
            </a:r>
          </a:p>
        </p:txBody>
      </p:sp>
      <p:sp>
        <p:nvSpPr>
          <p:cNvPr id="12" name="TextBox 11"/>
          <p:cNvSpPr txBox="1"/>
          <p:nvPr/>
        </p:nvSpPr>
        <p:spPr>
          <a:xfrm>
            <a:off x="7589520" y="2542032"/>
            <a:ext cx="3703320" cy="594360"/>
          </a:xfrm>
          <a:prstGeom prst="rect">
            <a:avLst/>
          </a:prstGeom>
          <a:noFill/>
        </p:spPr>
        <p:txBody>
          <a:bodyPr wrap="square" lIns="0" rIns="0" tIns="0" bIns="0" anchor="t">
            <a:spAutoFit/>
          </a:bodyPr>
          <a:lstStyle/>
          <a:p>
            <a:pPr algn="l">
              <a:lnSpc>
                <a:spcPct val="110000"/>
              </a:lnSpc>
            </a:pPr>
            <a:r>
              <a:rPr sz="1500" b="0">
                <a:solidFill>
                  <a:srgbClr val="FAEFF5"/>
                </a:solidFill>
                <a:latin typeface="Arial"/>
              </a:rPr>
              <a:t>It always starts with one more scroll.</a:t>
            </a:r>
          </a:p>
        </p:txBody>
      </p:sp>
      <p:sp>
        <p:nvSpPr>
          <p:cNvPr id="13" name="Rounded Rectangle 12"/>
          <p:cNvSpPr/>
          <p:nvPr/>
        </p:nvSpPr>
        <p:spPr>
          <a:xfrm>
            <a:off x="7315200" y="3300984"/>
            <a:ext cx="4233672" cy="1097280"/>
          </a:xfrm>
          <a:prstGeom prst="roundRect">
            <a:avLst>
              <a:gd name="adj" fmla="val 6000"/>
            </a:avLst>
          </a:prstGeom>
          <a:solidFill>
            <a:srgbClr val="1D1A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447288"/>
            <a:ext cx="3657600" cy="274320"/>
          </a:xfrm>
          <a:prstGeom prst="rect">
            <a:avLst/>
          </a:prstGeom>
          <a:noFill/>
        </p:spPr>
        <p:txBody>
          <a:bodyPr wrap="square" lIns="0" rIns="0" tIns="0" bIns="0" anchor="t">
            <a:spAutoFit/>
          </a:bodyPr>
          <a:lstStyle/>
          <a:p>
            <a:pPr algn="l"/>
            <a:r>
              <a:rPr sz="1200" b="1">
                <a:solidFill>
                  <a:srgbClr val="F28DBB"/>
                </a:solidFill>
                <a:latin typeface="Arial"/>
              </a:rPr>
              <a:t>WHAT</a:t>
            </a:r>
          </a:p>
        </p:txBody>
      </p:sp>
      <p:sp>
        <p:nvSpPr>
          <p:cNvPr id="15" name="TextBox 14"/>
          <p:cNvSpPr txBox="1"/>
          <p:nvPr/>
        </p:nvSpPr>
        <p:spPr>
          <a:xfrm>
            <a:off x="7589520" y="3739896"/>
            <a:ext cx="3703320" cy="594360"/>
          </a:xfrm>
          <a:prstGeom prst="rect">
            <a:avLst/>
          </a:prstGeom>
          <a:noFill/>
        </p:spPr>
        <p:txBody>
          <a:bodyPr wrap="square" lIns="0" rIns="0" tIns="0" bIns="0" anchor="t">
            <a:spAutoFit/>
          </a:bodyPr>
          <a:lstStyle/>
          <a:p>
            <a:pPr algn="l">
              <a:lnSpc>
                <a:spcPct val="110000"/>
              </a:lnSpc>
            </a:pPr>
            <a:r>
              <a:rPr sz="1500" b="0">
                <a:solidFill>
                  <a:srgbClr val="FAEFF5"/>
                </a:solidFill>
                <a:latin typeface="Arial"/>
              </a:rPr>
              <a:t>Your apps stay locked until you pass today's interview.</a:t>
            </a:r>
          </a:p>
        </p:txBody>
      </p:sp>
      <p:sp>
        <p:nvSpPr>
          <p:cNvPr id="16" name="Rounded Rectangle 15"/>
          <p:cNvSpPr/>
          <p:nvPr/>
        </p:nvSpPr>
        <p:spPr>
          <a:xfrm>
            <a:off x="7315200" y="4498848"/>
            <a:ext cx="4233672" cy="1097280"/>
          </a:xfrm>
          <a:prstGeom prst="roundRect">
            <a:avLst>
              <a:gd name="adj" fmla="val 6000"/>
            </a:avLst>
          </a:prstGeom>
          <a:solidFill>
            <a:srgbClr val="1D1A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645152"/>
            <a:ext cx="3657600" cy="274320"/>
          </a:xfrm>
          <a:prstGeom prst="rect">
            <a:avLst/>
          </a:prstGeom>
          <a:noFill/>
        </p:spPr>
        <p:txBody>
          <a:bodyPr wrap="square" lIns="0" rIns="0" tIns="0" bIns="0" anchor="t">
            <a:spAutoFit/>
          </a:bodyPr>
          <a:lstStyle/>
          <a:p>
            <a:pPr algn="l"/>
            <a:r>
              <a:rPr sz="1200" b="1">
                <a:solidFill>
                  <a:srgbClr val="F28DBB"/>
                </a:solidFill>
                <a:latin typeface="Arial"/>
              </a:rPr>
              <a:t>HOW</a:t>
            </a:r>
          </a:p>
        </p:txBody>
      </p:sp>
      <p:sp>
        <p:nvSpPr>
          <p:cNvPr id="18" name="TextBox 17"/>
          <p:cNvSpPr txBox="1"/>
          <p:nvPr/>
        </p:nvSpPr>
        <p:spPr>
          <a:xfrm>
            <a:off x="7589520" y="4937760"/>
            <a:ext cx="3703320" cy="594360"/>
          </a:xfrm>
          <a:prstGeom prst="rect">
            <a:avLst/>
          </a:prstGeom>
          <a:noFill/>
        </p:spPr>
        <p:txBody>
          <a:bodyPr wrap="square" lIns="0" rIns="0" tIns="0" bIns="0" anchor="t">
            <a:spAutoFit/>
          </a:bodyPr>
          <a:lstStyle/>
          <a:p>
            <a:pPr algn="l">
              <a:lnSpc>
                <a:spcPct val="110000"/>
              </a:lnSpc>
            </a:pPr>
            <a:r>
              <a:rPr sz="1500" b="0">
                <a:solidFill>
                  <a:srgbClr val="FAEFF5"/>
                </a:solidFill>
                <a:latin typeface="Arial"/>
              </a:rPr>
              <a:t>Pick your apps, pass with Jarvis, earn your break.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014"/>
        </a:solidFill>
        <a:effectLst/>
      </p:bgPr>
    </p:bg>
    <p:spTree>
      <p:nvGrpSpPr>
        <p:cNvPr id="1" name=""/>
        <p:cNvGrpSpPr/>
        <p:nvPr/>
      </p:nvGrpSpPr>
      <p:grpSpPr/>
      <p:sp>
        <p:nvSpPr>
          <p:cNvPr id="2" name="TextBox 1"/>
          <p:cNvSpPr txBox="1"/>
          <p:nvPr/>
        </p:nvSpPr>
        <p:spPr>
          <a:xfrm>
            <a:off x="640080" y="548640"/>
            <a:ext cx="7498079" cy="274320"/>
          </a:xfrm>
          <a:prstGeom prst="rect">
            <a:avLst/>
          </a:prstGeom>
          <a:noFill/>
        </p:spPr>
        <p:txBody>
          <a:bodyPr wrap="square" lIns="0" rIns="0" tIns="0" bIns="0" anchor="t">
            <a:spAutoFit/>
          </a:bodyPr>
          <a:lstStyle/>
          <a:p>
            <a:pPr algn="l"/>
            <a:r>
              <a:rPr sz="1200" b="1">
                <a:solidFill>
                  <a:srgbClr val="B9A7B3"/>
                </a:solidFill>
                <a:latin typeface="Arial"/>
              </a:rPr>
              <a:t>HOW  ·  THE EVALUATION</a:t>
            </a:r>
          </a:p>
        </p:txBody>
      </p:sp>
      <p:sp>
        <p:nvSpPr>
          <p:cNvPr id="3" name="TextBox 2"/>
          <p:cNvSpPr txBox="1"/>
          <p:nvPr/>
        </p:nvSpPr>
        <p:spPr>
          <a:xfrm>
            <a:off x="640080" y="868680"/>
            <a:ext cx="7498079" cy="1097280"/>
          </a:xfrm>
          <a:prstGeom prst="rect">
            <a:avLst/>
          </a:prstGeom>
          <a:noFill/>
        </p:spPr>
        <p:txBody>
          <a:bodyPr wrap="square" lIns="0" rIns="0" tIns="0" bIns="0" anchor="t">
            <a:spAutoFit/>
          </a:bodyPr>
          <a:lstStyle/>
          <a:p>
            <a:pPr algn="l">
              <a:lnSpc>
                <a:spcPct val="95000"/>
              </a:lnSpc>
            </a:pPr>
            <a:r>
              <a:rPr sz="3600" b="1">
                <a:solidFill>
                  <a:srgbClr val="FAEFF5"/>
                </a:solidFill>
                <a:latin typeface="Arial"/>
              </a:rPr>
              <a:t>Know where you stand</a:t>
            </a:r>
          </a:p>
        </p:txBody>
      </p:sp>
      <p:sp>
        <p:nvSpPr>
          <p:cNvPr id="4" name="TextBox 3"/>
          <p:cNvSpPr txBox="1"/>
          <p:nvPr/>
        </p:nvSpPr>
        <p:spPr>
          <a:xfrm>
            <a:off x="10911535" y="6309360"/>
            <a:ext cx="640080" cy="274320"/>
          </a:xfrm>
          <a:prstGeom prst="rect">
            <a:avLst/>
          </a:prstGeom>
          <a:noFill/>
        </p:spPr>
        <p:txBody>
          <a:bodyPr wrap="square" lIns="0" rIns="0" tIns="0" bIns="0" anchor="t">
            <a:spAutoFit/>
          </a:bodyPr>
          <a:lstStyle/>
          <a:p>
            <a:pPr algn="r"/>
            <a:r>
              <a:rPr sz="1100" b="0">
                <a:solidFill>
                  <a:srgbClr val="B9A7B3"/>
                </a:solidFill>
                <a:latin typeface="Arial"/>
              </a:rPr>
              <a:t>07</a:t>
            </a:r>
          </a:p>
        </p:txBody>
      </p:sp>
      <p:sp>
        <p:nvSpPr>
          <p:cNvPr id="5" name="TextBox 4"/>
          <p:cNvSpPr txBox="1"/>
          <p:nvPr/>
        </p:nvSpPr>
        <p:spPr>
          <a:xfrm>
            <a:off x="640080" y="6309360"/>
            <a:ext cx="2743200" cy="274320"/>
          </a:xfrm>
          <a:prstGeom prst="rect">
            <a:avLst/>
          </a:prstGeom>
          <a:noFill/>
        </p:spPr>
        <p:txBody>
          <a:bodyPr wrap="square" lIns="0" rIns="0" tIns="0" bIns="0" anchor="t">
            <a:spAutoFit/>
          </a:bodyPr>
          <a:lstStyle/>
          <a:p>
            <a:pPr algn="l"/>
            <a:r>
              <a:rPr sz="1100" b="1">
                <a:solidFill>
                  <a:srgbClr val="B9A7B3"/>
                </a:solidFill>
                <a:latin typeface="Arial"/>
              </a:rPr>
              <a:t>unscroll</a:t>
            </a:r>
            <a:r>
              <a:rPr sz="1100" b="1">
                <a:solidFill>
                  <a:srgbClr val="F28DBB"/>
                </a:solidFill>
                <a:latin typeface="Arial"/>
              </a:rPr>
              <a:t>.</a:t>
            </a:r>
          </a:p>
        </p:txBody>
      </p:sp>
      <p:sp>
        <p:nvSpPr>
          <p:cNvPr id="6" name="TextBox 5"/>
          <p:cNvSpPr txBox="1"/>
          <p:nvPr/>
        </p:nvSpPr>
        <p:spPr>
          <a:xfrm>
            <a:off x="640080" y="2057400"/>
            <a:ext cx="7223760" cy="822960"/>
          </a:xfrm>
          <a:prstGeom prst="rect">
            <a:avLst/>
          </a:prstGeom>
          <a:noFill/>
        </p:spPr>
        <p:txBody>
          <a:bodyPr wrap="square" lIns="0" rIns="0" tIns="0" bIns="0" anchor="t">
            <a:spAutoFit/>
          </a:bodyPr>
          <a:lstStyle/>
          <a:p>
            <a:pPr algn="l">
              <a:lnSpc>
                <a:spcPct val="115000"/>
              </a:lnSpc>
            </a:pPr>
            <a:r>
              <a:rPr sz="1800" b="0">
                <a:solidFill>
                  <a:srgbClr val="B9A7B3"/>
                </a:solidFill>
                <a:latin typeface="Arial"/>
              </a:rPr>
              <a:t>Three skill standings from your graded answers, and a road map of five levels you can drag.</a:t>
            </a:r>
          </a:p>
        </p:txBody>
      </p:sp>
      <p:sp>
        <p:nvSpPr>
          <p:cNvPr id="7" name="Rounded Rectangle 6"/>
          <p:cNvSpPr/>
          <p:nvPr/>
        </p:nvSpPr>
        <p:spPr>
          <a:xfrm>
            <a:off x="640080" y="3154680"/>
            <a:ext cx="7223760" cy="2743200"/>
          </a:xfrm>
          <a:prstGeom prst="roundRect">
            <a:avLst>
              <a:gd name="adj" fmla="val 6000"/>
            </a:avLst>
          </a:prstGeom>
          <a:solidFill>
            <a:srgbClr val="1D1A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3310128"/>
            <a:ext cx="1280160" cy="274320"/>
          </a:xfrm>
          <a:prstGeom prst="rect">
            <a:avLst/>
          </a:prstGeom>
          <a:noFill/>
        </p:spPr>
        <p:txBody>
          <a:bodyPr wrap="square" lIns="0" rIns="0" tIns="0" bIns="0" anchor="t">
            <a:spAutoFit/>
          </a:bodyPr>
          <a:lstStyle/>
          <a:p>
            <a:pPr algn="r"/>
            <a:r>
              <a:rPr sz="1000" b="1">
                <a:solidFill>
                  <a:srgbClr val="B9A7B3"/>
                </a:solidFill>
                <a:latin typeface="Arial"/>
              </a:rPr>
              <a:t>ILLUSTRATION</a:t>
            </a:r>
          </a:p>
        </p:txBody>
      </p:sp>
      <p:sp>
        <p:nvSpPr>
          <p:cNvPr id="9" name="TextBox 8"/>
          <p:cNvSpPr txBox="1"/>
          <p:nvPr/>
        </p:nvSpPr>
        <p:spPr>
          <a:xfrm>
            <a:off x="960120" y="3611880"/>
            <a:ext cx="4572000" cy="347472"/>
          </a:xfrm>
          <a:prstGeom prst="rect">
            <a:avLst/>
          </a:prstGeom>
          <a:noFill/>
        </p:spPr>
        <p:txBody>
          <a:bodyPr wrap="square" lIns="0" rIns="0" tIns="0" bIns="0" anchor="t">
            <a:spAutoFit/>
          </a:bodyPr>
          <a:lstStyle/>
          <a:p>
            <a:pPr algn="l"/>
            <a:r>
              <a:rPr sz="1700" b="1">
                <a:solidFill>
                  <a:srgbClr val="FAEFF5"/>
                </a:solidFill>
                <a:latin typeface="Arial"/>
              </a:rPr>
              <a:t>Communication</a:t>
            </a:r>
          </a:p>
        </p:txBody>
      </p:sp>
      <p:sp>
        <p:nvSpPr>
          <p:cNvPr id="10" name="Rounded Rectangle 9"/>
          <p:cNvSpPr/>
          <p:nvPr/>
        </p:nvSpPr>
        <p:spPr>
          <a:xfrm>
            <a:off x="960120" y="3995928"/>
            <a:ext cx="6583680" cy="146304"/>
          </a:xfrm>
          <a:prstGeom prst="roundRect">
            <a:avLst>
              <a:gd name="adj" fmla="val 50000"/>
            </a:avLst>
          </a:prstGeom>
          <a:solidFill>
            <a:srgbClr val="352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3995928"/>
            <a:ext cx="4740249" cy="146304"/>
          </a:xfrm>
          <a:prstGeom prst="roundRect">
            <a:avLst>
              <a:gd name="adj" fmla="val 50000"/>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325112"/>
            <a:ext cx="4572000" cy="347472"/>
          </a:xfrm>
          <a:prstGeom prst="rect">
            <a:avLst/>
          </a:prstGeom>
          <a:noFill/>
        </p:spPr>
        <p:txBody>
          <a:bodyPr wrap="square" lIns="0" rIns="0" tIns="0" bIns="0" anchor="t">
            <a:spAutoFit/>
          </a:bodyPr>
          <a:lstStyle/>
          <a:p>
            <a:pPr algn="l"/>
            <a:r>
              <a:rPr sz="1700" b="1">
                <a:solidFill>
                  <a:srgbClr val="FAEFF5"/>
                </a:solidFill>
                <a:latin typeface="Arial"/>
              </a:rPr>
              <a:t>Technical discussion</a:t>
            </a:r>
          </a:p>
        </p:txBody>
      </p:sp>
      <p:sp>
        <p:nvSpPr>
          <p:cNvPr id="13" name="Rounded Rectangle 12"/>
          <p:cNvSpPr/>
          <p:nvPr/>
        </p:nvSpPr>
        <p:spPr>
          <a:xfrm>
            <a:off x="960120" y="4709160"/>
            <a:ext cx="6583680" cy="146304"/>
          </a:xfrm>
          <a:prstGeom prst="roundRect">
            <a:avLst>
              <a:gd name="adj" fmla="val 50000"/>
            </a:avLst>
          </a:prstGeom>
          <a:solidFill>
            <a:srgbClr val="352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0120" y="4709160"/>
            <a:ext cx="3686860" cy="146304"/>
          </a:xfrm>
          <a:prstGeom prst="roundRect">
            <a:avLst>
              <a:gd name="adj" fmla="val 50000"/>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038344"/>
            <a:ext cx="4572000" cy="347472"/>
          </a:xfrm>
          <a:prstGeom prst="rect">
            <a:avLst/>
          </a:prstGeom>
          <a:noFill/>
        </p:spPr>
        <p:txBody>
          <a:bodyPr wrap="square" lIns="0" rIns="0" tIns="0" bIns="0" anchor="t">
            <a:spAutoFit/>
          </a:bodyPr>
          <a:lstStyle/>
          <a:p>
            <a:pPr algn="l"/>
            <a:r>
              <a:rPr sz="1700" b="1">
                <a:solidFill>
                  <a:srgbClr val="FAEFF5"/>
                </a:solidFill>
                <a:latin typeface="Arial"/>
              </a:rPr>
              <a:t>Coding</a:t>
            </a:r>
          </a:p>
        </p:txBody>
      </p:sp>
      <p:sp>
        <p:nvSpPr>
          <p:cNvPr id="16" name="Rounded Rectangle 15"/>
          <p:cNvSpPr/>
          <p:nvPr/>
        </p:nvSpPr>
        <p:spPr>
          <a:xfrm>
            <a:off x="960120" y="5422392"/>
            <a:ext cx="6583680" cy="146304"/>
          </a:xfrm>
          <a:prstGeom prst="roundRect">
            <a:avLst>
              <a:gd name="adj" fmla="val 50000"/>
            </a:avLst>
          </a:prstGeom>
          <a:solidFill>
            <a:srgbClr val="352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20" y="5422392"/>
            <a:ext cx="2238451" cy="146304"/>
          </a:xfrm>
          <a:prstGeom prst="roundRect">
            <a:avLst>
              <a:gd name="adj" fmla="val 50000"/>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68512" y="457200"/>
            <a:ext cx="2862865" cy="5943600"/>
          </a:xfrm>
          <a:prstGeom prst="roundRect">
            <a:avLst>
              <a:gd name="adj" fmla="val 9000"/>
            </a:avLst>
          </a:prstGeom>
          <a:solidFill>
            <a:srgbClr val="2B272C"/>
          </a:solidFill>
          <a:ln w="12700">
            <a:solidFill>
              <a:srgbClr val="4A44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creen-roadmap.jpg"/>
          <p:cNvPicPr>
            <a:picLocks noChangeAspect="1"/>
          </p:cNvPicPr>
          <p:nvPr/>
        </p:nvPicPr>
        <p:blipFill>
          <a:blip r:embed="rId3"/>
          <a:stretch>
            <a:fillRect/>
          </a:stretch>
        </p:blipFill>
        <p:spPr>
          <a:xfrm>
            <a:off x="8778240" y="566928"/>
            <a:ext cx="2644625" cy="5724144"/>
          </a:xfrm>
          <a:prstGeom prst="rect">
            <a:avLst/>
          </a:prstGeom>
          <a:ln w="12700">
            <a:solidFill>
              <a:srgbClr val="111014"/>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014"/>
        </a:solidFill>
        <a:effectLst/>
      </p:bgPr>
    </p:bg>
    <p:spTree>
      <p:nvGrpSpPr>
        <p:cNvPr id="1" name=""/>
        <p:cNvGrpSpPr/>
        <p:nvPr/>
      </p:nvGrpSpPr>
      <p:grpSpPr/>
      <p:sp>
        <p:nvSpPr>
          <p:cNvPr id="2" name="Oval 1"/>
          <p:cNvSpPr/>
          <p:nvPr/>
        </p:nvSpPr>
        <p:spPr>
          <a:xfrm>
            <a:off x="-2011679" y="4389120"/>
            <a:ext cx="4389120" cy="4389120"/>
          </a:xfrm>
          <a:prstGeom prst="ellipse">
            <a:avLst/>
          </a:prstGeom>
          <a:no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10881360" cy="274320"/>
          </a:xfrm>
          <a:prstGeom prst="rect">
            <a:avLst/>
          </a:prstGeom>
          <a:noFill/>
        </p:spPr>
        <p:txBody>
          <a:bodyPr wrap="square" lIns="0" rIns="0" tIns="0" bIns="0" anchor="t">
            <a:spAutoFit/>
          </a:bodyPr>
          <a:lstStyle/>
          <a:p>
            <a:pPr algn="l"/>
            <a:r>
              <a:rPr sz="1200" b="1">
                <a:solidFill>
                  <a:srgbClr val="B9A7B3"/>
                </a:solidFill>
                <a:latin typeface="Arial"/>
              </a:rPr>
              <a:t>HOW  ·  UNDER THE HOOD</a:t>
            </a:r>
          </a:p>
        </p:txBody>
      </p:sp>
      <p:sp>
        <p:nvSpPr>
          <p:cNvPr id="4" name="TextBox 3"/>
          <p:cNvSpPr txBox="1"/>
          <p:nvPr/>
        </p:nvSpPr>
        <p:spPr>
          <a:xfrm>
            <a:off x="640080" y="868680"/>
            <a:ext cx="10881360" cy="1097280"/>
          </a:xfrm>
          <a:prstGeom prst="rect">
            <a:avLst/>
          </a:prstGeom>
          <a:noFill/>
        </p:spPr>
        <p:txBody>
          <a:bodyPr wrap="square" lIns="0" rIns="0" tIns="0" bIns="0" anchor="t">
            <a:spAutoFit/>
          </a:bodyPr>
          <a:lstStyle/>
          <a:p>
            <a:pPr algn="l">
              <a:lnSpc>
                <a:spcPct val="95000"/>
              </a:lnSpc>
            </a:pPr>
            <a:r>
              <a:rPr sz="3600" b="1">
                <a:solidFill>
                  <a:srgbClr val="FAEFF5"/>
                </a:solidFill>
                <a:latin typeface="Arial"/>
              </a:rPr>
              <a:t>AI and voice, all on free tiers</a:t>
            </a:r>
          </a:p>
        </p:txBody>
      </p:sp>
      <p:sp>
        <p:nvSpPr>
          <p:cNvPr id="5" name="TextBox 4"/>
          <p:cNvSpPr txBox="1"/>
          <p:nvPr/>
        </p:nvSpPr>
        <p:spPr>
          <a:xfrm>
            <a:off x="10911535" y="6309360"/>
            <a:ext cx="640080" cy="274320"/>
          </a:xfrm>
          <a:prstGeom prst="rect">
            <a:avLst/>
          </a:prstGeom>
          <a:noFill/>
        </p:spPr>
        <p:txBody>
          <a:bodyPr wrap="square" lIns="0" rIns="0" tIns="0" bIns="0" anchor="t">
            <a:spAutoFit/>
          </a:bodyPr>
          <a:lstStyle/>
          <a:p>
            <a:pPr algn="r"/>
            <a:r>
              <a:rPr sz="1100" b="0">
                <a:solidFill>
                  <a:srgbClr val="B9A7B3"/>
                </a:solidFill>
                <a:latin typeface="Arial"/>
              </a:rPr>
              <a:t>08</a:t>
            </a:r>
          </a:p>
        </p:txBody>
      </p:sp>
      <p:sp>
        <p:nvSpPr>
          <p:cNvPr id="6" name="TextBox 5"/>
          <p:cNvSpPr txBox="1"/>
          <p:nvPr/>
        </p:nvSpPr>
        <p:spPr>
          <a:xfrm>
            <a:off x="640080" y="6309360"/>
            <a:ext cx="2743200" cy="274320"/>
          </a:xfrm>
          <a:prstGeom prst="rect">
            <a:avLst/>
          </a:prstGeom>
          <a:noFill/>
        </p:spPr>
        <p:txBody>
          <a:bodyPr wrap="square" lIns="0" rIns="0" tIns="0" bIns="0" anchor="t">
            <a:spAutoFit/>
          </a:bodyPr>
          <a:lstStyle/>
          <a:p>
            <a:pPr algn="l"/>
            <a:r>
              <a:rPr sz="1100" b="1">
                <a:solidFill>
                  <a:srgbClr val="B9A7B3"/>
                </a:solidFill>
                <a:latin typeface="Arial"/>
              </a:rPr>
              <a:t>unscroll</a:t>
            </a:r>
            <a:r>
              <a:rPr sz="1100" b="1">
                <a:solidFill>
                  <a:srgbClr val="F28DBB"/>
                </a:solidFill>
                <a:latin typeface="Arial"/>
              </a:rPr>
              <a:t>.</a:t>
            </a:r>
          </a:p>
        </p:txBody>
      </p:sp>
      <p:sp>
        <p:nvSpPr>
          <p:cNvPr id="7" name="Rounded Rectangle 6"/>
          <p:cNvSpPr/>
          <p:nvPr/>
        </p:nvSpPr>
        <p:spPr>
          <a:xfrm>
            <a:off x="640080" y="2103120"/>
            <a:ext cx="10908792" cy="3429000"/>
          </a:xfrm>
          <a:prstGeom prst="roundRect">
            <a:avLst>
              <a:gd name="adj" fmla="val 6000"/>
            </a:avLst>
          </a:prstGeom>
          <a:solidFill>
            <a:srgbClr val="1D1A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331720"/>
            <a:ext cx="3200400" cy="274320"/>
          </a:xfrm>
          <a:prstGeom prst="rect">
            <a:avLst/>
          </a:prstGeom>
          <a:noFill/>
        </p:spPr>
        <p:txBody>
          <a:bodyPr wrap="square" lIns="0" rIns="0" tIns="0" bIns="0" anchor="t">
            <a:spAutoFit/>
          </a:bodyPr>
          <a:lstStyle/>
          <a:p>
            <a:pPr algn="l"/>
            <a:r>
              <a:rPr sz="1100" b="1">
                <a:solidFill>
                  <a:srgbClr val="B9A7B3"/>
                </a:solidFill>
                <a:latin typeface="Arial"/>
              </a:rPr>
              <a:t>JOB</a:t>
            </a:r>
          </a:p>
        </p:txBody>
      </p:sp>
      <p:sp>
        <p:nvSpPr>
          <p:cNvPr id="9" name="TextBox 8"/>
          <p:cNvSpPr txBox="1"/>
          <p:nvPr/>
        </p:nvSpPr>
        <p:spPr>
          <a:xfrm>
            <a:off x="4297680" y="2331720"/>
            <a:ext cx="1600200" cy="274320"/>
          </a:xfrm>
          <a:prstGeom prst="rect">
            <a:avLst/>
          </a:prstGeom>
          <a:noFill/>
        </p:spPr>
        <p:txBody>
          <a:bodyPr wrap="square" lIns="0" rIns="0" tIns="0" bIns="0" anchor="t">
            <a:spAutoFit/>
          </a:bodyPr>
          <a:lstStyle/>
          <a:p>
            <a:pPr algn="l"/>
            <a:r>
              <a:rPr sz="1100" b="1">
                <a:solidFill>
                  <a:srgbClr val="B9A7B3"/>
                </a:solidFill>
                <a:latin typeface="Arial"/>
              </a:rPr>
              <a:t>PROVIDER</a:t>
            </a:r>
          </a:p>
        </p:txBody>
      </p:sp>
      <p:sp>
        <p:nvSpPr>
          <p:cNvPr id="10" name="TextBox 9"/>
          <p:cNvSpPr txBox="1"/>
          <p:nvPr/>
        </p:nvSpPr>
        <p:spPr>
          <a:xfrm>
            <a:off x="5989320" y="2331720"/>
            <a:ext cx="3429000" cy="274320"/>
          </a:xfrm>
          <a:prstGeom prst="rect">
            <a:avLst/>
          </a:prstGeom>
          <a:noFill/>
        </p:spPr>
        <p:txBody>
          <a:bodyPr wrap="square" lIns="0" rIns="0" tIns="0" bIns="0" anchor="t">
            <a:spAutoFit/>
          </a:bodyPr>
          <a:lstStyle/>
          <a:p>
            <a:pPr algn="l"/>
            <a:r>
              <a:rPr sz="1100" b="1">
                <a:solidFill>
                  <a:srgbClr val="B9A7B3"/>
                </a:solidFill>
                <a:latin typeface="Arial"/>
              </a:rPr>
              <a:t>MODEL</a:t>
            </a:r>
          </a:p>
        </p:txBody>
      </p:sp>
      <p:sp>
        <p:nvSpPr>
          <p:cNvPr id="11" name="TextBox 10"/>
          <p:cNvSpPr txBox="1"/>
          <p:nvPr/>
        </p:nvSpPr>
        <p:spPr>
          <a:xfrm>
            <a:off x="9555480" y="2331720"/>
            <a:ext cx="1828800" cy="274320"/>
          </a:xfrm>
          <a:prstGeom prst="rect">
            <a:avLst/>
          </a:prstGeom>
          <a:noFill/>
        </p:spPr>
        <p:txBody>
          <a:bodyPr wrap="square" lIns="0" rIns="0" tIns="0" bIns="0" anchor="t">
            <a:spAutoFit/>
          </a:bodyPr>
          <a:lstStyle/>
          <a:p>
            <a:pPr algn="l"/>
            <a:r>
              <a:rPr sz="1100" b="1">
                <a:solidFill>
                  <a:srgbClr val="B9A7B3"/>
                </a:solidFill>
                <a:latin typeface="Arial"/>
              </a:rPr>
              <a:t>MEASURED</a:t>
            </a:r>
          </a:p>
        </p:txBody>
      </p:sp>
      <p:sp>
        <p:nvSpPr>
          <p:cNvPr id="12" name="TextBox 11"/>
          <p:cNvSpPr txBox="1"/>
          <p:nvPr/>
        </p:nvSpPr>
        <p:spPr>
          <a:xfrm>
            <a:off x="960120" y="2743200"/>
            <a:ext cx="3200400" cy="457200"/>
          </a:xfrm>
          <a:prstGeom prst="rect">
            <a:avLst/>
          </a:prstGeom>
          <a:noFill/>
        </p:spPr>
        <p:txBody>
          <a:bodyPr wrap="square" lIns="0" rIns="0" tIns="0" bIns="0" anchor="ctr">
            <a:spAutoFit/>
          </a:bodyPr>
          <a:lstStyle/>
          <a:p>
            <a:pPr algn="l"/>
            <a:r>
              <a:rPr sz="1600" b="1">
                <a:solidFill>
                  <a:srgbClr val="FAEFF5"/>
                </a:solidFill>
                <a:latin typeface="Arial"/>
              </a:rPr>
              <a:t>Interviewer and grading</a:t>
            </a:r>
          </a:p>
        </p:txBody>
      </p:sp>
      <p:sp>
        <p:nvSpPr>
          <p:cNvPr id="13" name="TextBox 12"/>
          <p:cNvSpPr txBox="1"/>
          <p:nvPr/>
        </p:nvSpPr>
        <p:spPr>
          <a:xfrm>
            <a:off x="4297680" y="2743200"/>
            <a:ext cx="1600200" cy="457200"/>
          </a:xfrm>
          <a:prstGeom prst="rect">
            <a:avLst/>
          </a:prstGeom>
          <a:noFill/>
        </p:spPr>
        <p:txBody>
          <a:bodyPr wrap="square" lIns="0" rIns="0" tIns="0" bIns="0" anchor="ctr">
            <a:spAutoFit/>
          </a:bodyPr>
          <a:lstStyle/>
          <a:p>
            <a:pPr algn="l"/>
            <a:r>
              <a:rPr sz="1600" b="0">
                <a:solidFill>
                  <a:srgbClr val="B9A7B3"/>
                </a:solidFill>
                <a:latin typeface="Arial"/>
              </a:rPr>
              <a:t>NVIDIA</a:t>
            </a:r>
          </a:p>
        </p:txBody>
      </p:sp>
      <p:sp>
        <p:nvSpPr>
          <p:cNvPr id="14" name="TextBox 13"/>
          <p:cNvSpPr txBox="1"/>
          <p:nvPr/>
        </p:nvSpPr>
        <p:spPr>
          <a:xfrm>
            <a:off x="5989320" y="2743200"/>
            <a:ext cx="3429000" cy="457200"/>
          </a:xfrm>
          <a:prstGeom prst="rect">
            <a:avLst/>
          </a:prstGeom>
          <a:noFill/>
        </p:spPr>
        <p:txBody>
          <a:bodyPr wrap="square" lIns="0" rIns="0" tIns="0" bIns="0" anchor="ctr">
            <a:spAutoFit/>
          </a:bodyPr>
          <a:lstStyle/>
          <a:p>
            <a:pPr algn="l"/>
            <a:r>
              <a:rPr sz="1600" b="0">
                <a:solidFill>
                  <a:srgbClr val="B9A7B3"/>
                </a:solidFill>
                <a:latin typeface="Arial"/>
              </a:rPr>
              <a:t>nemotron-3-super-120b</a:t>
            </a:r>
          </a:p>
        </p:txBody>
      </p:sp>
      <p:sp>
        <p:nvSpPr>
          <p:cNvPr id="15" name="TextBox 14"/>
          <p:cNvSpPr txBox="1"/>
          <p:nvPr/>
        </p:nvSpPr>
        <p:spPr>
          <a:xfrm>
            <a:off x="9555480" y="2743200"/>
            <a:ext cx="1828800" cy="457200"/>
          </a:xfrm>
          <a:prstGeom prst="rect">
            <a:avLst/>
          </a:prstGeom>
          <a:noFill/>
        </p:spPr>
        <p:txBody>
          <a:bodyPr wrap="square" lIns="0" rIns="0" tIns="0" bIns="0" anchor="ctr">
            <a:spAutoFit/>
          </a:bodyPr>
          <a:lstStyle/>
          <a:p>
            <a:pPr algn="l"/>
            <a:r>
              <a:rPr sz="1600" b="0">
                <a:solidFill>
                  <a:srgbClr val="FAEFF5"/>
                </a:solidFill>
                <a:latin typeface="Arial"/>
              </a:rPr>
              <a:t>1.6 to 2.6 s</a:t>
            </a:r>
          </a:p>
        </p:txBody>
      </p:sp>
      <p:sp>
        <p:nvSpPr>
          <p:cNvPr id="16" name="TextBox 15"/>
          <p:cNvSpPr txBox="1"/>
          <p:nvPr/>
        </p:nvSpPr>
        <p:spPr>
          <a:xfrm>
            <a:off x="960120" y="3419856"/>
            <a:ext cx="3200400" cy="457200"/>
          </a:xfrm>
          <a:prstGeom prst="rect">
            <a:avLst/>
          </a:prstGeom>
          <a:noFill/>
        </p:spPr>
        <p:txBody>
          <a:bodyPr wrap="square" lIns="0" rIns="0" tIns="0" bIns="0" anchor="ctr">
            <a:spAutoFit/>
          </a:bodyPr>
          <a:lstStyle/>
          <a:p>
            <a:pPr algn="l"/>
            <a:r>
              <a:rPr sz="1600" b="1">
                <a:solidFill>
                  <a:srgbClr val="FAEFF5"/>
                </a:solidFill>
                <a:latin typeface="Arial"/>
              </a:rPr>
              <a:t>Your voice to text</a:t>
            </a:r>
          </a:p>
        </p:txBody>
      </p:sp>
      <p:sp>
        <p:nvSpPr>
          <p:cNvPr id="17" name="TextBox 16"/>
          <p:cNvSpPr txBox="1"/>
          <p:nvPr/>
        </p:nvSpPr>
        <p:spPr>
          <a:xfrm>
            <a:off x="4297680" y="3419856"/>
            <a:ext cx="1600200" cy="457200"/>
          </a:xfrm>
          <a:prstGeom prst="rect">
            <a:avLst/>
          </a:prstGeom>
          <a:noFill/>
        </p:spPr>
        <p:txBody>
          <a:bodyPr wrap="square" lIns="0" rIns="0" tIns="0" bIns="0" anchor="ctr">
            <a:spAutoFit/>
          </a:bodyPr>
          <a:lstStyle/>
          <a:p>
            <a:pPr algn="l"/>
            <a:r>
              <a:rPr sz="1600" b="0">
                <a:solidFill>
                  <a:srgbClr val="B9A7B3"/>
                </a:solidFill>
                <a:latin typeface="Arial"/>
              </a:rPr>
              <a:t>Groq</a:t>
            </a:r>
          </a:p>
        </p:txBody>
      </p:sp>
      <p:sp>
        <p:nvSpPr>
          <p:cNvPr id="18" name="TextBox 17"/>
          <p:cNvSpPr txBox="1"/>
          <p:nvPr/>
        </p:nvSpPr>
        <p:spPr>
          <a:xfrm>
            <a:off x="5989320" y="3419856"/>
            <a:ext cx="3429000" cy="457200"/>
          </a:xfrm>
          <a:prstGeom prst="rect">
            <a:avLst/>
          </a:prstGeom>
          <a:noFill/>
        </p:spPr>
        <p:txBody>
          <a:bodyPr wrap="square" lIns="0" rIns="0" tIns="0" bIns="0" anchor="ctr">
            <a:spAutoFit/>
          </a:bodyPr>
          <a:lstStyle/>
          <a:p>
            <a:pPr algn="l"/>
            <a:r>
              <a:rPr sz="1600" b="0">
                <a:solidFill>
                  <a:srgbClr val="B9A7B3"/>
                </a:solidFill>
                <a:latin typeface="Arial"/>
              </a:rPr>
              <a:t>whisper-large-v3-turbo</a:t>
            </a:r>
          </a:p>
        </p:txBody>
      </p:sp>
      <p:sp>
        <p:nvSpPr>
          <p:cNvPr id="19" name="TextBox 18"/>
          <p:cNvSpPr txBox="1"/>
          <p:nvPr/>
        </p:nvSpPr>
        <p:spPr>
          <a:xfrm>
            <a:off x="9555480" y="3419856"/>
            <a:ext cx="1828800" cy="457200"/>
          </a:xfrm>
          <a:prstGeom prst="rect">
            <a:avLst/>
          </a:prstGeom>
          <a:noFill/>
        </p:spPr>
        <p:txBody>
          <a:bodyPr wrap="square" lIns="0" rIns="0" tIns="0" bIns="0" anchor="ctr">
            <a:spAutoFit/>
          </a:bodyPr>
          <a:lstStyle/>
          <a:p>
            <a:pPr algn="l"/>
            <a:r>
              <a:rPr sz="1600" b="0">
                <a:solidFill>
                  <a:srgbClr val="FAEFF5"/>
                </a:solidFill>
                <a:latin typeface="Arial"/>
              </a:rPr>
              <a:t>about 0.5 s</a:t>
            </a:r>
          </a:p>
        </p:txBody>
      </p:sp>
      <p:sp>
        <p:nvSpPr>
          <p:cNvPr id="20" name="TextBox 19"/>
          <p:cNvSpPr txBox="1"/>
          <p:nvPr/>
        </p:nvSpPr>
        <p:spPr>
          <a:xfrm>
            <a:off x="960120" y="4096512"/>
            <a:ext cx="3200400" cy="457200"/>
          </a:xfrm>
          <a:prstGeom prst="rect">
            <a:avLst/>
          </a:prstGeom>
          <a:noFill/>
        </p:spPr>
        <p:txBody>
          <a:bodyPr wrap="square" lIns="0" rIns="0" tIns="0" bIns="0" anchor="ctr">
            <a:spAutoFit/>
          </a:bodyPr>
          <a:lstStyle/>
          <a:p>
            <a:pPr algn="l"/>
            <a:r>
              <a:rPr sz="1600" b="1">
                <a:solidFill>
                  <a:srgbClr val="FAEFF5"/>
                </a:solidFill>
                <a:latin typeface="Arial"/>
              </a:rPr>
              <a:t>Jarvis voice</a:t>
            </a:r>
          </a:p>
        </p:txBody>
      </p:sp>
      <p:sp>
        <p:nvSpPr>
          <p:cNvPr id="21" name="TextBox 20"/>
          <p:cNvSpPr txBox="1"/>
          <p:nvPr/>
        </p:nvSpPr>
        <p:spPr>
          <a:xfrm>
            <a:off x="4297680" y="4096512"/>
            <a:ext cx="1600200" cy="457200"/>
          </a:xfrm>
          <a:prstGeom prst="rect">
            <a:avLst/>
          </a:prstGeom>
          <a:noFill/>
        </p:spPr>
        <p:txBody>
          <a:bodyPr wrap="square" lIns="0" rIns="0" tIns="0" bIns="0" anchor="ctr">
            <a:spAutoFit/>
          </a:bodyPr>
          <a:lstStyle/>
          <a:p>
            <a:pPr algn="l"/>
            <a:r>
              <a:rPr sz="1600" b="0">
                <a:solidFill>
                  <a:srgbClr val="B9A7B3"/>
                </a:solidFill>
                <a:latin typeface="Arial"/>
              </a:rPr>
              <a:t>Groq</a:t>
            </a:r>
          </a:p>
        </p:txBody>
      </p:sp>
      <p:sp>
        <p:nvSpPr>
          <p:cNvPr id="22" name="TextBox 21"/>
          <p:cNvSpPr txBox="1"/>
          <p:nvPr/>
        </p:nvSpPr>
        <p:spPr>
          <a:xfrm>
            <a:off x="5989320" y="4096512"/>
            <a:ext cx="3429000" cy="457200"/>
          </a:xfrm>
          <a:prstGeom prst="rect">
            <a:avLst/>
          </a:prstGeom>
          <a:noFill/>
        </p:spPr>
        <p:txBody>
          <a:bodyPr wrap="square" lIns="0" rIns="0" tIns="0" bIns="0" anchor="ctr">
            <a:spAutoFit/>
          </a:bodyPr>
          <a:lstStyle/>
          <a:p>
            <a:pPr algn="l"/>
            <a:r>
              <a:rPr sz="1600" b="0">
                <a:solidFill>
                  <a:srgbClr val="B9A7B3"/>
                </a:solidFill>
                <a:latin typeface="Arial"/>
              </a:rPr>
              <a:t>orpheus-v1-english</a:t>
            </a:r>
          </a:p>
        </p:txBody>
      </p:sp>
      <p:sp>
        <p:nvSpPr>
          <p:cNvPr id="23" name="TextBox 22"/>
          <p:cNvSpPr txBox="1"/>
          <p:nvPr/>
        </p:nvSpPr>
        <p:spPr>
          <a:xfrm>
            <a:off x="9555480" y="4096512"/>
            <a:ext cx="1828800" cy="457200"/>
          </a:xfrm>
          <a:prstGeom prst="rect">
            <a:avLst/>
          </a:prstGeom>
          <a:noFill/>
        </p:spPr>
        <p:txBody>
          <a:bodyPr wrap="square" lIns="0" rIns="0" tIns="0" bIns="0" anchor="ctr">
            <a:spAutoFit/>
          </a:bodyPr>
          <a:lstStyle/>
          <a:p>
            <a:pPr algn="l"/>
            <a:r>
              <a:rPr sz="1600" b="0">
                <a:solidFill>
                  <a:srgbClr val="FAEFF5"/>
                </a:solidFill>
                <a:latin typeface="Arial"/>
              </a:rPr>
              <a:t>0.5 to 1.0 s</a:t>
            </a:r>
          </a:p>
        </p:txBody>
      </p:sp>
      <p:sp>
        <p:nvSpPr>
          <p:cNvPr id="24" name="TextBox 23"/>
          <p:cNvSpPr txBox="1"/>
          <p:nvPr/>
        </p:nvSpPr>
        <p:spPr>
          <a:xfrm>
            <a:off x="960120" y="4773168"/>
            <a:ext cx="3200400" cy="457200"/>
          </a:xfrm>
          <a:prstGeom prst="rect">
            <a:avLst/>
          </a:prstGeom>
          <a:noFill/>
        </p:spPr>
        <p:txBody>
          <a:bodyPr wrap="square" lIns="0" rIns="0" tIns="0" bIns="0" anchor="ctr">
            <a:spAutoFit/>
          </a:bodyPr>
          <a:lstStyle/>
          <a:p>
            <a:pPr algn="l"/>
            <a:r>
              <a:rPr sz="1600" b="1">
                <a:solidFill>
                  <a:srgbClr val="FAEFF5"/>
                </a:solidFill>
                <a:latin typeface="Arial"/>
              </a:rPr>
              <a:t>No key at all</a:t>
            </a:r>
          </a:p>
        </p:txBody>
      </p:sp>
      <p:sp>
        <p:nvSpPr>
          <p:cNvPr id="25" name="TextBox 24"/>
          <p:cNvSpPr txBox="1"/>
          <p:nvPr/>
        </p:nvSpPr>
        <p:spPr>
          <a:xfrm>
            <a:off x="4297680" y="4773168"/>
            <a:ext cx="1600200" cy="457200"/>
          </a:xfrm>
          <a:prstGeom prst="rect">
            <a:avLst/>
          </a:prstGeom>
          <a:noFill/>
        </p:spPr>
        <p:txBody>
          <a:bodyPr wrap="square" lIns="0" rIns="0" tIns="0" bIns="0" anchor="ctr">
            <a:spAutoFit/>
          </a:bodyPr>
          <a:lstStyle/>
          <a:p>
            <a:pPr algn="l"/>
            <a:r>
              <a:rPr sz="1600" b="0">
                <a:solidFill>
                  <a:srgbClr val="B9A7B3"/>
                </a:solidFill>
                <a:latin typeface="Arial"/>
              </a:rPr>
              <a:t>On device</a:t>
            </a:r>
          </a:p>
        </p:txBody>
      </p:sp>
      <p:sp>
        <p:nvSpPr>
          <p:cNvPr id="26" name="TextBox 25"/>
          <p:cNvSpPr txBox="1"/>
          <p:nvPr/>
        </p:nvSpPr>
        <p:spPr>
          <a:xfrm>
            <a:off x="5989320" y="4773168"/>
            <a:ext cx="3429000" cy="457200"/>
          </a:xfrm>
          <a:prstGeom prst="rect">
            <a:avLst/>
          </a:prstGeom>
          <a:noFill/>
        </p:spPr>
        <p:txBody>
          <a:bodyPr wrap="square" lIns="0" rIns="0" tIns="0" bIns="0" anchor="ctr">
            <a:spAutoFit/>
          </a:bodyPr>
          <a:lstStyle/>
          <a:p>
            <a:pPr algn="l"/>
            <a:r>
              <a:rPr sz="1600" b="0">
                <a:solidFill>
                  <a:srgbClr val="B9A7B3"/>
                </a:solidFill>
                <a:latin typeface="Arial"/>
              </a:rPr>
              <a:t>Rubric feedback, phone voice</a:t>
            </a:r>
          </a:p>
        </p:txBody>
      </p:sp>
      <p:sp>
        <p:nvSpPr>
          <p:cNvPr id="27" name="TextBox 26"/>
          <p:cNvSpPr txBox="1"/>
          <p:nvPr/>
        </p:nvSpPr>
        <p:spPr>
          <a:xfrm>
            <a:off x="9555480" y="4773168"/>
            <a:ext cx="1828800" cy="457200"/>
          </a:xfrm>
          <a:prstGeom prst="rect">
            <a:avLst/>
          </a:prstGeom>
          <a:noFill/>
        </p:spPr>
        <p:txBody>
          <a:bodyPr wrap="square" lIns="0" rIns="0" tIns="0" bIns="0" anchor="ctr">
            <a:spAutoFit/>
          </a:bodyPr>
          <a:lstStyle/>
          <a:p>
            <a:pPr algn="l"/>
            <a:r>
              <a:rPr sz="1600" b="0">
                <a:solidFill>
                  <a:srgbClr val="FAEFF5"/>
                </a:solidFill>
                <a:latin typeface="Arial"/>
              </a:rPr>
              <a:t>Still works</a:t>
            </a:r>
          </a:p>
        </p:txBody>
      </p:sp>
      <p:sp>
        <p:nvSpPr>
          <p:cNvPr id="28" name="TextBox 27"/>
          <p:cNvSpPr txBox="1"/>
          <p:nvPr/>
        </p:nvSpPr>
        <p:spPr>
          <a:xfrm>
            <a:off x="640080" y="5715000"/>
            <a:ext cx="10881360" cy="365760"/>
          </a:xfrm>
          <a:prstGeom prst="rect">
            <a:avLst/>
          </a:prstGeom>
          <a:noFill/>
        </p:spPr>
        <p:txBody>
          <a:bodyPr wrap="square" lIns="0" rIns="0" tIns="0" bIns="0" anchor="t">
            <a:spAutoFit/>
          </a:bodyPr>
          <a:lstStyle/>
          <a:p>
            <a:pPr algn="l"/>
            <a:r>
              <a:rPr sz="1300" b="0">
                <a:solidFill>
                  <a:srgbClr val="B9A7B3"/>
                </a:solidFill>
                <a:latin typeface="Arial"/>
              </a:rPr>
              <a:t>Expo  ·  React Native  ·  TypeScript  ·  Node 24  ·  SQLite.   Keys stay on the server, never in the app or the repository.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014"/>
        </a:solidFill>
        <a:effectLst/>
      </p:bgPr>
    </p:bg>
    <p:spTree>
      <p:nvGrpSpPr>
        <p:cNvPr id="1" name=""/>
        <p:cNvGrpSpPr/>
        <p:nvPr/>
      </p:nvGrpSpPr>
      <p:grpSpPr/>
      <p:sp>
        <p:nvSpPr>
          <p:cNvPr id="2" name="TextBox 1"/>
          <p:cNvSpPr txBox="1"/>
          <p:nvPr/>
        </p:nvSpPr>
        <p:spPr>
          <a:xfrm>
            <a:off x="640080" y="548640"/>
            <a:ext cx="10881360" cy="274320"/>
          </a:xfrm>
          <a:prstGeom prst="rect">
            <a:avLst/>
          </a:prstGeom>
          <a:noFill/>
        </p:spPr>
        <p:txBody>
          <a:bodyPr wrap="square" lIns="0" rIns="0" tIns="0" bIns="0" anchor="t">
            <a:spAutoFit/>
          </a:bodyPr>
          <a:lstStyle/>
          <a:p>
            <a:pPr algn="l"/>
            <a:r>
              <a:rPr sz="1200" b="1">
                <a:solidFill>
                  <a:srgbClr val="B9A7B3"/>
                </a:solidFill>
                <a:latin typeface="Arial"/>
              </a:rPr>
              <a:t>HONEST STATUS</a:t>
            </a:r>
          </a:p>
        </p:txBody>
      </p:sp>
      <p:sp>
        <p:nvSpPr>
          <p:cNvPr id="3" name="TextBox 2"/>
          <p:cNvSpPr txBox="1"/>
          <p:nvPr/>
        </p:nvSpPr>
        <p:spPr>
          <a:xfrm>
            <a:off x="640080" y="868680"/>
            <a:ext cx="10881360" cy="1097280"/>
          </a:xfrm>
          <a:prstGeom prst="rect">
            <a:avLst/>
          </a:prstGeom>
          <a:noFill/>
        </p:spPr>
        <p:txBody>
          <a:bodyPr wrap="square" lIns="0" rIns="0" tIns="0" bIns="0" anchor="t">
            <a:spAutoFit/>
          </a:bodyPr>
          <a:lstStyle/>
          <a:p>
            <a:pPr algn="l">
              <a:lnSpc>
                <a:spcPct val="95000"/>
              </a:lnSpc>
            </a:pPr>
            <a:r>
              <a:rPr sz="3600" b="1">
                <a:solidFill>
                  <a:srgbClr val="FAEFF5"/>
                </a:solidFill>
                <a:latin typeface="Arial"/>
              </a:rPr>
              <a:t>What is proven, and what is next</a:t>
            </a:r>
          </a:p>
        </p:txBody>
      </p:sp>
      <p:sp>
        <p:nvSpPr>
          <p:cNvPr id="4" name="TextBox 3"/>
          <p:cNvSpPr txBox="1"/>
          <p:nvPr/>
        </p:nvSpPr>
        <p:spPr>
          <a:xfrm>
            <a:off x="10911535" y="6309360"/>
            <a:ext cx="640080" cy="274320"/>
          </a:xfrm>
          <a:prstGeom prst="rect">
            <a:avLst/>
          </a:prstGeom>
          <a:noFill/>
        </p:spPr>
        <p:txBody>
          <a:bodyPr wrap="square" lIns="0" rIns="0" tIns="0" bIns="0" anchor="t">
            <a:spAutoFit/>
          </a:bodyPr>
          <a:lstStyle/>
          <a:p>
            <a:pPr algn="r"/>
            <a:r>
              <a:rPr sz="1100" b="0">
                <a:solidFill>
                  <a:srgbClr val="B9A7B3"/>
                </a:solidFill>
                <a:latin typeface="Arial"/>
              </a:rPr>
              <a:t>09</a:t>
            </a:r>
          </a:p>
        </p:txBody>
      </p:sp>
      <p:sp>
        <p:nvSpPr>
          <p:cNvPr id="5" name="TextBox 4"/>
          <p:cNvSpPr txBox="1"/>
          <p:nvPr/>
        </p:nvSpPr>
        <p:spPr>
          <a:xfrm>
            <a:off x="640080" y="6309360"/>
            <a:ext cx="2743200" cy="274320"/>
          </a:xfrm>
          <a:prstGeom prst="rect">
            <a:avLst/>
          </a:prstGeom>
          <a:noFill/>
        </p:spPr>
        <p:txBody>
          <a:bodyPr wrap="square" lIns="0" rIns="0" tIns="0" bIns="0" anchor="t">
            <a:spAutoFit/>
          </a:bodyPr>
          <a:lstStyle/>
          <a:p>
            <a:pPr algn="l"/>
            <a:r>
              <a:rPr sz="1100" b="1">
                <a:solidFill>
                  <a:srgbClr val="B9A7B3"/>
                </a:solidFill>
                <a:latin typeface="Arial"/>
              </a:rPr>
              <a:t>unscroll</a:t>
            </a:r>
            <a:r>
              <a:rPr sz="1100" b="1">
                <a:solidFill>
                  <a:srgbClr val="F28DBB"/>
                </a:solidFill>
                <a:latin typeface="Arial"/>
              </a:rPr>
              <a:t>.</a:t>
            </a:r>
          </a:p>
        </p:txBody>
      </p:sp>
      <p:sp>
        <p:nvSpPr>
          <p:cNvPr id="6" name="Rounded Rectangle 5"/>
          <p:cNvSpPr/>
          <p:nvPr/>
        </p:nvSpPr>
        <p:spPr>
          <a:xfrm>
            <a:off x="640080" y="2103120"/>
            <a:ext cx="5303520" cy="3657600"/>
          </a:xfrm>
          <a:prstGeom prst="roundRect">
            <a:avLst>
              <a:gd name="adj" fmla="val 6000"/>
            </a:avLst>
          </a:prstGeom>
          <a:solidFill>
            <a:srgbClr val="1D1A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377440"/>
            <a:ext cx="4480560" cy="457200"/>
          </a:xfrm>
          <a:prstGeom prst="rect">
            <a:avLst/>
          </a:prstGeom>
          <a:noFill/>
        </p:spPr>
        <p:txBody>
          <a:bodyPr wrap="square" lIns="0" rIns="0" tIns="0" bIns="0" anchor="t">
            <a:spAutoFit/>
          </a:bodyPr>
          <a:lstStyle/>
          <a:p>
            <a:pPr algn="l"/>
            <a:r>
              <a:rPr sz="2200" b="1">
                <a:solidFill>
                  <a:srgbClr val="FAEFF5"/>
                </a:solidFill>
                <a:latin typeface="Arial"/>
              </a:rPr>
              <a:t>Proven today</a:t>
            </a:r>
          </a:p>
        </p:txBody>
      </p:sp>
      <p:sp>
        <p:nvSpPr>
          <p:cNvPr id="8" name="Oval 7"/>
          <p:cNvSpPr/>
          <p:nvPr/>
        </p:nvSpPr>
        <p:spPr>
          <a:xfrm>
            <a:off x="1051560" y="3200400"/>
            <a:ext cx="219456" cy="219456"/>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3108960"/>
            <a:ext cx="4114800" cy="685800"/>
          </a:xfrm>
          <a:prstGeom prst="rect">
            <a:avLst/>
          </a:prstGeom>
          <a:noFill/>
        </p:spPr>
        <p:txBody>
          <a:bodyPr wrap="square" lIns="0" rIns="0" tIns="0" bIns="0" anchor="t">
            <a:spAutoFit/>
          </a:bodyPr>
          <a:lstStyle/>
          <a:p>
            <a:pPr algn="l">
              <a:lnSpc>
                <a:spcPct val="110000"/>
              </a:lnSpc>
            </a:pPr>
            <a:r>
              <a:rPr sz="1700" b="0">
                <a:solidFill>
                  <a:srgbClr val="FAEFF5"/>
                </a:solidFill>
                <a:latin typeface="Arial"/>
              </a:rPr>
              <a:t>Runs on an iPhone through Expo Go</a:t>
            </a:r>
          </a:p>
        </p:txBody>
      </p:sp>
      <p:sp>
        <p:nvSpPr>
          <p:cNvPr id="10" name="Oval 9"/>
          <p:cNvSpPr/>
          <p:nvPr/>
        </p:nvSpPr>
        <p:spPr>
          <a:xfrm>
            <a:off x="1051560" y="4023359"/>
            <a:ext cx="219456" cy="219456"/>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08760" y="3931920"/>
            <a:ext cx="4114800" cy="685800"/>
          </a:xfrm>
          <a:prstGeom prst="rect">
            <a:avLst/>
          </a:prstGeom>
          <a:noFill/>
        </p:spPr>
        <p:txBody>
          <a:bodyPr wrap="square" lIns="0" rIns="0" tIns="0" bIns="0" anchor="t">
            <a:spAutoFit/>
          </a:bodyPr>
          <a:lstStyle/>
          <a:p>
            <a:pPr algn="l">
              <a:lnSpc>
                <a:spcPct val="110000"/>
              </a:lnSpc>
            </a:pPr>
            <a:r>
              <a:rPr sz="1700" b="0">
                <a:solidFill>
                  <a:srgbClr val="FAEFF5"/>
                </a:solidFill>
                <a:latin typeface="Arial"/>
              </a:rPr>
              <a:t>163 automated tests pass, CI green</a:t>
            </a:r>
          </a:p>
        </p:txBody>
      </p:sp>
      <p:sp>
        <p:nvSpPr>
          <p:cNvPr id="12" name="Oval 11"/>
          <p:cNvSpPr/>
          <p:nvPr/>
        </p:nvSpPr>
        <p:spPr>
          <a:xfrm>
            <a:off x="1051560" y="4846320"/>
            <a:ext cx="219456" cy="219456"/>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8760" y="4754880"/>
            <a:ext cx="4114800" cy="685800"/>
          </a:xfrm>
          <a:prstGeom prst="rect">
            <a:avLst/>
          </a:prstGeom>
          <a:noFill/>
        </p:spPr>
        <p:txBody>
          <a:bodyPr wrap="square" lIns="0" rIns="0" tIns="0" bIns="0" anchor="t">
            <a:spAutoFit/>
          </a:bodyPr>
          <a:lstStyle/>
          <a:p>
            <a:pPr algn="l">
              <a:lnSpc>
                <a:spcPct val="110000"/>
              </a:lnSpc>
            </a:pPr>
            <a:r>
              <a:rPr sz="1700" b="0">
                <a:solidFill>
                  <a:srgbClr val="FAEFF5"/>
                </a:solidFill>
                <a:latin typeface="Arial"/>
              </a:rPr>
              <a:t>Live AI grading and voice on free tiers</a:t>
            </a:r>
          </a:p>
        </p:txBody>
      </p:sp>
      <p:sp>
        <p:nvSpPr>
          <p:cNvPr id="14" name="Rounded Rectangle 13"/>
          <p:cNvSpPr/>
          <p:nvPr/>
        </p:nvSpPr>
        <p:spPr>
          <a:xfrm>
            <a:off x="6245352" y="2103120"/>
            <a:ext cx="5303520" cy="3657600"/>
          </a:xfrm>
          <a:prstGeom prst="roundRect">
            <a:avLst>
              <a:gd name="adj" fmla="val 6000"/>
            </a:avLst>
          </a:prstGeom>
          <a:solidFill>
            <a:srgbClr val="1D1A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56832" y="2377440"/>
            <a:ext cx="4480560" cy="457200"/>
          </a:xfrm>
          <a:prstGeom prst="rect">
            <a:avLst/>
          </a:prstGeom>
          <a:noFill/>
        </p:spPr>
        <p:txBody>
          <a:bodyPr wrap="square" lIns="0" rIns="0" tIns="0" bIns="0" anchor="t">
            <a:spAutoFit/>
          </a:bodyPr>
          <a:lstStyle/>
          <a:p>
            <a:pPr algn="l"/>
            <a:r>
              <a:rPr sz="2200" b="1">
                <a:solidFill>
                  <a:srgbClr val="FAEFF5"/>
                </a:solidFill>
                <a:latin typeface="Arial"/>
              </a:rPr>
              <a:t>Still to prove</a:t>
            </a:r>
          </a:p>
        </p:txBody>
      </p:sp>
      <p:sp>
        <p:nvSpPr>
          <p:cNvPr id="16" name="Oval 15"/>
          <p:cNvSpPr/>
          <p:nvPr/>
        </p:nvSpPr>
        <p:spPr>
          <a:xfrm>
            <a:off x="6656832" y="3200400"/>
            <a:ext cx="219456" cy="219456"/>
          </a:xfrm>
          <a:prstGeom prst="ellipse">
            <a:avLst/>
          </a:prstGeom>
          <a:solidFill>
            <a:srgbClr val="B9A7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14032" y="3108960"/>
            <a:ext cx="4114800" cy="685800"/>
          </a:xfrm>
          <a:prstGeom prst="rect">
            <a:avLst/>
          </a:prstGeom>
          <a:noFill/>
        </p:spPr>
        <p:txBody>
          <a:bodyPr wrap="square" lIns="0" rIns="0" tIns="0" bIns="0" anchor="t">
            <a:spAutoFit/>
          </a:bodyPr>
          <a:lstStyle/>
          <a:p>
            <a:pPr algn="l">
              <a:lnSpc>
                <a:spcPct val="110000"/>
              </a:lnSpc>
            </a:pPr>
            <a:r>
              <a:rPr sz="1700" b="0">
                <a:solidFill>
                  <a:srgbClr val="FAEFF5"/>
                </a:solidFill>
                <a:latin typeface="Arial"/>
              </a:rPr>
              <a:t>App shielding needs the signed native build</a:t>
            </a:r>
          </a:p>
        </p:txBody>
      </p:sp>
      <p:sp>
        <p:nvSpPr>
          <p:cNvPr id="18" name="Oval 17"/>
          <p:cNvSpPr/>
          <p:nvPr/>
        </p:nvSpPr>
        <p:spPr>
          <a:xfrm>
            <a:off x="6656832" y="4023359"/>
            <a:ext cx="219456" cy="219456"/>
          </a:xfrm>
          <a:prstGeom prst="ellipse">
            <a:avLst/>
          </a:prstGeom>
          <a:solidFill>
            <a:srgbClr val="B9A7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4032" y="3931920"/>
            <a:ext cx="4114800" cy="685800"/>
          </a:xfrm>
          <a:prstGeom prst="rect">
            <a:avLst/>
          </a:prstGeom>
          <a:noFill/>
        </p:spPr>
        <p:txBody>
          <a:bodyPr wrap="square" lIns="0" rIns="0" tIns="0" bIns="0" anchor="t">
            <a:spAutoFit/>
          </a:bodyPr>
          <a:lstStyle/>
          <a:p>
            <a:pPr algn="l">
              <a:lnSpc>
                <a:spcPct val="110000"/>
              </a:lnSpc>
            </a:pPr>
            <a:r>
              <a:rPr sz="1700" b="0">
                <a:solidFill>
                  <a:srgbClr val="FAEFF5"/>
                </a:solidFill>
                <a:latin typeface="Arial"/>
              </a:rPr>
              <a:t>Code answers are reviewed, not executed</a:t>
            </a:r>
          </a:p>
        </p:txBody>
      </p:sp>
      <p:sp>
        <p:nvSpPr>
          <p:cNvPr id="20" name="Oval 19"/>
          <p:cNvSpPr/>
          <p:nvPr/>
        </p:nvSpPr>
        <p:spPr>
          <a:xfrm>
            <a:off x="6656832" y="4846320"/>
            <a:ext cx="219456" cy="219456"/>
          </a:xfrm>
          <a:prstGeom prst="ellipse">
            <a:avLst/>
          </a:prstGeom>
          <a:solidFill>
            <a:srgbClr val="B9A7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2" y="4754880"/>
            <a:ext cx="4114800" cy="685800"/>
          </a:xfrm>
          <a:prstGeom prst="rect">
            <a:avLst/>
          </a:prstGeom>
          <a:noFill/>
        </p:spPr>
        <p:txBody>
          <a:bodyPr wrap="square" lIns="0" rIns="0" tIns="0" bIns="0" anchor="t">
            <a:spAutoFit/>
          </a:bodyPr>
          <a:lstStyle/>
          <a:p>
            <a:pPr algn="l">
              <a:lnSpc>
                <a:spcPct val="110000"/>
              </a:lnSpc>
            </a:pPr>
            <a:r>
              <a:rPr sz="1700" b="0">
                <a:solidFill>
                  <a:srgbClr val="FAEFF5"/>
                </a:solidFill>
                <a:latin typeface="Arial"/>
              </a:rPr>
              <a:t>Free tiers are rate limited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014"/>
        </a:solidFill>
        <a:effectLst/>
      </p:bgPr>
    </p:bg>
    <p:spTree>
      <p:nvGrpSpPr>
        <p:cNvPr id="1" name=""/>
        <p:cNvGrpSpPr/>
        <p:nvPr/>
      </p:nvGrpSpPr>
      <p:grpSpPr/>
      <p:sp>
        <p:nvSpPr>
          <p:cNvPr id="2" name="Oval 1"/>
          <p:cNvSpPr/>
          <p:nvPr/>
        </p:nvSpPr>
        <p:spPr>
          <a:xfrm>
            <a:off x="6035040" y="182879"/>
            <a:ext cx="6766560" cy="6766560"/>
          </a:xfrm>
          <a:prstGeom prst="ellipse">
            <a:avLst/>
          </a:prstGeom>
          <a:no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5760720" cy="274320"/>
          </a:xfrm>
          <a:prstGeom prst="rect">
            <a:avLst/>
          </a:prstGeom>
          <a:noFill/>
        </p:spPr>
        <p:txBody>
          <a:bodyPr wrap="square" lIns="0" rIns="0" tIns="0" bIns="0" anchor="t">
            <a:spAutoFit/>
          </a:bodyPr>
          <a:lstStyle/>
          <a:p>
            <a:pPr algn="l"/>
            <a:r>
              <a:rPr sz="1200" b="1">
                <a:solidFill>
                  <a:srgbClr val="B9A7B3"/>
                </a:solidFill>
                <a:latin typeface="Arial"/>
              </a:rPr>
              <a:t>LIVE DEMO</a:t>
            </a:r>
          </a:p>
        </p:txBody>
      </p:sp>
      <p:sp>
        <p:nvSpPr>
          <p:cNvPr id="4" name="TextBox 3"/>
          <p:cNvSpPr txBox="1"/>
          <p:nvPr/>
        </p:nvSpPr>
        <p:spPr>
          <a:xfrm>
            <a:off x="640080" y="868680"/>
            <a:ext cx="5760720" cy="1097280"/>
          </a:xfrm>
          <a:prstGeom prst="rect">
            <a:avLst/>
          </a:prstGeom>
          <a:noFill/>
        </p:spPr>
        <p:txBody>
          <a:bodyPr wrap="square" lIns="0" rIns="0" tIns="0" bIns="0" anchor="t">
            <a:spAutoFit/>
          </a:bodyPr>
          <a:lstStyle/>
          <a:p>
            <a:pPr algn="l">
              <a:lnSpc>
                <a:spcPct val="95000"/>
              </a:lnSpc>
            </a:pPr>
            <a:r>
              <a:rPr sz="3600" b="1">
                <a:solidFill>
                  <a:srgbClr val="FAEFF5"/>
                </a:solidFill>
                <a:latin typeface="Arial"/>
              </a:rPr>
              <a:t>One complete rep</a:t>
            </a:r>
          </a:p>
        </p:txBody>
      </p:sp>
      <p:sp>
        <p:nvSpPr>
          <p:cNvPr id="5" name="TextBox 4"/>
          <p:cNvSpPr txBox="1"/>
          <p:nvPr/>
        </p:nvSpPr>
        <p:spPr>
          <a:xfrm>
            <a:off x="10911535" y="6309360"/>
            <a:ext cx="640080" cy="274320"/>
          </a:xfrm>
          <a:prstGeom prst="rect">
            <a:avLst/>
          </a:prstGeom>
          <a:noFill/>
        </p:spPr>
        <p:txBody>
          <a:bodyPr wrap="square" lIns="0" rIns="0" tIns="0" bIns="0" anchor="t">
            <a:spAutoFit/>
          </a:bodyPr>
          <a:lstStyle/>
          <a:p>
            <a:pPr algn="r"/>
            <a:r>
              <a:rPr sz="1100" b="0">
                <a:solidFill>
                  <a:srgbClr val="B9A7B3"/>
                </a:solidFill>
                <a:latin typeface="Arial"/>
              </a:rPr>
              <a:t>10</a:t>
            </a:r>
          </a:p>
        </p:txBody>
      </p:sp>
      <p:sp>
        <p:nvSpPr>
          <p:cNvPr id="6" name="TextBox 5"/>
          <p:cNvSpPr txBox="1"/>
          <p:nvPr/>
        </p:nvSpPr>
        <p:spPr>
          <a:xfrm>
            <a:off x="640080" y="6309360"/>
            <a:ext cx="2743200" cy="274320"/>
          </a:xfrm>
          <a:prstGeom prst="rect">
            <a:avLst/>
          </a:prstGeom>
          <a:noFill/>
        </p:spPr>
        <p:txBody>
          <a:bodyPr wrap="square" lIns="0" rIns="0" tIns="0" bIns="0" anchor="t">
            <a:spAutoFit/>
          </a:bodyPr>
          <a:lstStyle/>
          <a:p>
            <a:pPr algn="l"/>
            <a:r>
              <a:rPr sz="1100" b="1">
                <a:solidFill>
                  <a:srgbClr val="B9A7B3"/>
                </a:solidFill>
                <a:latin typeface="Arial"/>
              </a:rPr>
              <a:t>unscroll</a:t>
            </a:r>
            <a:r>
              <a:rPr sz="1100" b="1">
                <a:solidFill>
                  <a:srgbClr val="F28DBB"/>
                </a:solidFill>
                <a:latin typeface="Arial"/>
              </a:rPr>
              <a:t>.</a:t>
            </a:r>
          </a:p>
        </p:txBody>
      </p:sp>
      <p:sp>
        <p:nvSpPr>
          <p:cNvPr id="7" name="Oval 6"/>
          <p:cNvSpPr/>
          <p:nvPr/>
        </p:nvSpPr>
        <p:spPr>
          <a:xfrm>
            <a:off x="640080" y="2148840"/>
            <a:ext cx="457200" cy="457200"/>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7121E"/>
                </a:solidFill>
                <a:latin typeface="Arial"/>
              </a:rPr>
              <a:t>1</a:t>
            </a:r>
          </a:p>
        </p:txBody>
      </p:sp>
      <p:sp>
        <p:nvSpPr>
          <p:cNvPr id="8" name="TextBox 7"/>
          <p:cNvSpPr txBox="1"/>
          <p:nvPr/>
        </p:nvSpPr>
        <p:spPr>
          <a:xfrm>
            <a:off x="1325880" y="2148840"/>
            <a:ext cx="5120640" cy="457200"/>
          </a:xfrm>
          <a:prstGeom prst="rect">
            <a:avLst/>
          </a:prstGeom>
          <a:noFill/>
        </p:spPr>
        <p:txBody>
          <a:bodyPr wrap="square" lIns="0" rIns="0" tIns="0" bIns="0" anchor="ctr">
            <a:spAutoFit/>
          </a:bodyPr>
          <a:lstStyle/>
          <a:p>
            <a:pPr algn="l"/>
            <a:r>
              <a:rPr sz="1700" b="0">
                <a:solidFill>
                  <a:srgbClr val="FAEFF5"/>
                </a:solidFill>
                <a:latin typeface="Arial"/>
              </a:rPr>
              <a:t>Create an account on the iPhone</a:t>
            </a:r>
          </a:p>
        </p:txBody>
      </p:sp>
      <p:sp>
        <p:nvSpPr>
          <p:cNvPr id="9" name="Oval 8"/>
          <p:cNvSpPr/>
          <p:nvPr/>
        </p:nvSpPr>
        <p:spPr>
          <a:xfrm>
            <a:off x="640080" y="2862072"/>
            <a:ext cx="457200" cy="457200"/>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7121E"/>
                </a:solidFill>
                <a:latin typeface="Arial"/>
              </a:rPr>
              <a:t>2</a:t>
            </a:r>
          </a:p>
        </p:txBody>
      </p:sp>
      <p:sp>
        <p:nvSpPr>
          <p:cNvPr id="10" name="TextBox 9"/>
          <p:cNvSpPr txBox="1"/>
          <p:nvPr/>
        </p:nvSpPr>
        <p:spPr>
          <a:xfrm>
            <a:off x="1325880" y="2862072"/>
            <a:ext cx="5120640" cy="457200"/>
          </a:xfrm>
          <a:prstGeom prst="rect">
            <a:avLst/>
          </a:prstGeom>
          <a:noFill/>
        </p:spPr>
        <p:txBody>
          <a:bodyPr wrap="square" lIns="0" rIns="0" tIns="0" bIns="0" anchor="ctr">
            <a:spAutoFit/>
          </a:bodyPr>
          <a:lstStyle/>
          <a:p>
            <a:pPr algn="l"/>
            <a:r>
              <a:rPr sz="1700" b="0">
                <a:solidFill>
                  <a:srgbClr val="FAEFF5"/>
                </a:solidFill>
                <a:latin typeface="Arial"/>
              </a:rPr>
              <a:t>Jarvis asks. Ask him one free clarifying question</a:t>
            </a:r>
          </a:p>
        </p:txBody>
      </p:sp>
      <p:sp>
        <p:nvSpPr>
          <p:cNvPr id="11" name="Oval 10"/>
          <p:cNvSpPr/>
          <p:nvPr/>
        </p:nvSpPr>
        <p:spPr>
          <a:xfrm>
            <a:off x="640080" y="3575304"/>
            <a:ext cx="457200" cy="457200"/>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7121E"/>
                </a:solidFill>
                <a:latin typeface="Arial"/>
              </a:rPr>
              <a:t>3</a:t>
            </a:r>
          </a:p>
        </p:txBody>
      </p:sp>
      <p:sp>
        <p:nvSpPr>
          <p:cNvPr id="12" name="TextBox 11"/>
          <p:cNvSpPr txBox="1"/>
          <p:nvPr/>
        </p:nvSpPr>
        <p:spPr>
          <a:xfrm>
            <a:off x="1325880" y="3575304"/>
            <a:ext cx="5120640" cy="457200"/>
          </a:xfrm>
          <a:prstGeom prst="rect">
            <a:avLst/>
          </a:prstGeom>
          <a:noFill/>
        </p:spPr>
        <p:txBody>
          <a:bodyPr wrap="square" lIns="0" rIns="0" tIns="0" bIns="0" anchor="ctr">
            <a:spAutoFit/>
          </a:bodyPr>
          <a:lstStyle/>
          <a:p>
            <a:pPr algn="l"/>
            <a:r>
              <a:rPr sz="1700" b="0">
                <a:solidFill>
                  <a:srgbClr val="FAEFF5"/>
                </a:solidFill>
                <a:latin typeface="Arial"/>
              </a:rPr>
              <a:t>Take one hint, then answer by voice or typing</a:t>
            </a:r>
          </a:p>
        </p:txBody>
      </p:sp>
      <p:sp>
        <p:nvSpPr>
          <p:cNvPr id="13" name="Oval 12"/>
          <p:cNvSpPr/>
          <p:nvPr/>
        </p:nvSpPr>
        <p:spPr>
          <a:xfrm>
            <a:off x="640080" y="4288536"/>
            <a:ext cx="457200" cy="457200"/>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7121E"/>
                </a:solidFill>
                <a:latin typeface="Arial"/>
              </a:rPr>
              <a:t>4</a:t>
            </a:r>
          </a:p>
        </p:txBody>
      </p:sp>
      <p:sp>
        <p:nvSpPr>
          <p:cNvPr id="14" name="TextBox 13"/>
          <p:cNvSpPr txBox="1"/>
          <p:nvPr/>
        </p:nvSpPr>
        <p:spPr>
          <a:xfrm>
            <a:off x="1325880" y="4288536"/>
            <a:ext cx="5120640" cy="457200"/>
          </a:xfrm>
          <a:prstGeom prst="rect">
            <a:avLst/>
          </a:prstGeom>
          <a:noFill/>
        </p:spPr>
        <p:txBody>
          <a:bodyPr wrap="square" lIns="0" rIns="0" tIns="0" bIns="0" anchor="ctr">
            <a:spAutoFit/>
          </a:bodyPr>
          <a:lstStyle/>
          <a:p>
            <a:pPr algn="l"/>
            <a:r>
              <a:rPr sz="1700" b="0">
                <a:solidFill>
                  <a:srgbClr val="FAEFF5"/>
                </a:solidFill>
                <a:latin typeface="Arial"/>
              </a:rPr>
              <a:t>Read the feedback and the STAR lines</a:t>
            </a:r>
          </a:p>
        </p:txBody>
      </p:sp>
      <p:sp>
        <p:nvSpPr>
          <p:cNvPr id="15" name="Oval 14"/>
          <p:cNvSpPr/>
          <p:nvPr/>
        </p:nvSpPr>
        <p:spPr>
          <a:xfrm>
            <a:off x="640080" y="5001768"/>
            <a:ext cx="457200" cy="457200"/>
          </a:xfrm>
          <a:prstGeom prst="ellipse">
            <a:avLst/>
          </a:prstGeom>
          <a:solidFill>
            <a:srgbClr val="F28DB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7121E"/>
                </a:solidFill>
                <a:latin typeface="Arial"/>
              </a:rPr>
              <a:t>5</a:t>
            </a:r>
          </a:p>
        </p:txBody>
      </p:sp>
      <p:sp>
        <p:nvSpPr>
          <p:cNvPr id="16" name="TextBox 15"/>
          <p:cNvSpPr txBox="1"/>
          <p:nvPr/>
        </p:nvSpPr>
        <p:spPr>
          <a:xfrm>
            <a:off x="1325880" y="5001768"/>
            <a:ext cx="5120640" cy="457200"/>
          </a:xfrm>
          <a:prstGeom prst="rect">
            <a:avLst/>
          </a:prstGeom>
          <a:noFill/>
        </p:spPr>
        <p:txBody>
          <a:bodyPr wrap="square" lIns="0" rIns="0" tIns="0" bIns="0" anchor="ctr">
            <a:spAutoFit/>
          </a:bodyPr>
          <a:lstStyle/>
          <a:p>
            <a:pPr algn="l"/>
            <a:r>
              <a:rPr sz="1700" b="0">
                <a:solidFill>
                  <a:srgbClr val="FAEFF5"/>
                </a:solidFill>
                <a:latin typeface="Arial"/>
              </a:rPr>
              <a:t>See the recap, the standings and the earned break</a:t>
            </a:r>
          </a:p>
        </p:txBody>
      </p:sp>
      <p:sp>
        <p:nvSpPr>
          <p:cNvPr id="17" name="Rounded Rectangle 16"/>
          <p:cNvSpPr/>
          <p:nvPr/>
        </p:nvSpPr>
        <p:spPr>
          <a:xfrm>
            <a:off x="6949440" y="914400"/>
            <a:ext cx="4572000" cy="4846320"/>
          </a:xfrm>
          <a:prstGeom prst="roundRect">
            <a:avLst>
              <a:gd name="adj" fmla="val 7000"/>
            </a:avLst>
          </a:prstGeom>
          <a:solidFill>
            <a:srgbClr val="211820"/>
          </a:solidFill>
          <a:ln w="12700">
            <a:solidFill>
              <a:srgbClr val="3D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0920" y="1371600"/>
            <a:ext cx="3749039" cy="2103120"/>
          </a:xfrm>
          <a:prstGeom prst="rect">
            <a:avLst/>
          </a:prstGeom>
          <a:noFill/>
        </p:spPr>
        <p:txBody>
          <a:bodyPr wrap="square" lIns="0" rIns="0" tIns="0" bIns="0" anchor="t">
            <a:spAutoFit/>
          </a:bodyPr>
          <a:lstStyle/>
          <a:p>
            <a:pPr algn="l">
              <a:lnSpc>
                <a:spcPct val="100000"/>
              </a:lnSpc>
            </a:pPr>
            <a:r>
              <a:rPr sz="3200" b="1">
                <a:solidFill>
                  <a:srgbClr val="FAEFF5"/>
                </a:solidFill>
                <a:latin typeface="Arial"/>
              </a:rPr>
              <a:t>A better reason to put the phone down.</a:t>
            </a:r>
          </a:p>
        </p:txBody>
      </p:sp>
      <p:sp>
        <p:nvSpPr>
          <p:cNvPr id="19" name="TextBox 18"/>
          <p:cNvSpPr txBox="1"/>
          <p:nvPr/>
        </p:nvSpPr>
        <p:spPr>
          <a:xfrm>
            <a:off x="7360920" y="3657600"/>
            <a:ext cx="3749039" cy="457200"/>
          </a:xfrm>
          <a:prstGeom prst="rect">
            <a:avLst/>
          </a:prstGeom>
          <a:noFill/>
        </p:spPr>
        <p:txBody>
          <a:bodyPr wrap="square" lIns="0" rIns="0" tIns="0" bIns="0" anchor="t">
            <a:spAutoFit/>
          </a:bodyPr>
          <a:lstStyle/>
          <a:p>
            <a:pPr algn="l"/>
            <a:r>
              <a:rPr sz="2200" b="1">
                <a:solidFill>
                  <a:srgbClr val="FAEFF5"/>
                </a:solidFill>
                <a:latin typeface="Arial"/>
              </a:rPr>
              <a:t>unscroll</a:t>
            </a:r>
            <a:r>
              <a:rPr sz="2200" b="1">
                <a:solidFill>
                  <a:srgbClr val="F28DBB"/>
                </a:solidFill>
                <a:latin typeface="Arial"/>
              </a:rPr>
              <a:t>.</a:t>
            </a:r>
          </a:p>
        </p:txBody>
      </p:sp>
      <p:sp>
        <p:nvSpPr>
          <p:cNvPr id="20" name="TextBox 19"/>
          <p:cNvSpPr txBox="1"/>
          <p:nvPr/>
        </p:nvSpPr>
        <p:spPr>
          <a:xfrm>
            <a:off x="7360920" y="4160520"/>
            <a:ext cx="3749039" cy="365760"/>
          </a:xfrm>
          <a:prstGeom prst="rect">
            <a:avLst/>
          </a:prstGeom>
          <a:noFill/>
        </p:spPr>
        <p:txBody>
          <a:bodyPr wrap="square" lIns="0" rIns="0" tIns="0" bIns="0" anchor="t">
            <a:spAutoFit/>
          </a:bodyPr>
          <a:lstStyle/>
          <a:p>
            <a:pPr algn="l"/>
            <a:r>
              <a:rPr sz="1400" b="0">
                <a:solidFill>
                  <a:srgbClr val="B9A7B3"/>
                </a:solidFill>
                <a:latin typeface="Arial"/>
              </a:rPr>
              <a:t>Less scrolling. More becoming.</a:t>
            </a:r>
          </a:p>
        </p:txBody>
      </p:sp>
      <p:sp>
        <p:nvSpPr>
          <p:cNvPr id="21" name="TextBox 20">
            <a:hlinkClick r:id="rId3"/>
          </p:cNvPr>
          <p:cNvSpPr txBox="1"/>
          <p:nvPr/>
        </p:nvSpPr>
        <p:spPr>
          <a:xfrm>
            <a:off x="7360920" y="4754880"/>
            <a:ext cx="3749039" cy="320040"/>
          </a:xfrm>
          <a:prstGeom prst="rect">
            <a:avLst/>
          </a:prstGeom>
          <a:noFill/>
        </p:spPr>
        <p:txBody>
          <a:bodyPr wrap="square" lIns="0" rIns="0" tIns="0" bIns="0" anchor="t">
            <a:spAutoFit/>
          </a:bodyPr>
          <a:lstStyle/>
          <a:p>
            <a:pPr algn="l"/>
            <a:r>
              <a:rPr sz="1300" b="0">
                <a:solidFill>
                  <a:srgbClr val="F28DBB"/>
                </a:solidFill>
                <a:latin typeface="Arial"/>
              </a:rPr>
              <a:t>Film: youtu.be/fKccxDHB6GI</a:t>
            </a:r>
          </a:p>
        </p:txBody>
      </p:sp>
      <p:sp>
        <p:nvSpPr>
          <p:cNvPr id="22" name="TextBox 21">
            <a:hlinkClick r:id="rId4"/>
          </p:cNvPr>
          <p:cNvSpPr txBox="1"/>
          <p:nvPr/>
        </p:nvSpPr>
        <p:spPr>
          <a:xfrm>
            <a:off x="7360920" y="5120640"/>
            <a:ext cx="3749039" cy="320040"/>
          </a:xfrm>
          <a:prstGeom prst="rect">
            <a:avLst/>
          </a:prstGeom>
          <a:noFill/>
        </p:spPr>
        <p:txBody>
          <a:bodyPr wrap="square" lIns="0" rIns="0" tIns="0" bIns="0" anchor="t">
            <a:spAutoFit/>
          </a:bodyPr>
          <a:lstStyle/>
          <a:p>
            <a:pPr algn="l"/>
            <a:r>
              <a:rPr sz="1100" b="0">
                <a:solidFill>
                  <a:srgbClr val="B9A7B3"/>
                </a:solidFill>
                <a:latin typeface="Arial"/>
              </a:rPr>
              <a:t>Code: github.com/Charlesganu2004/Whitman-Hackathon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